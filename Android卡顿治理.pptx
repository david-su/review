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webp" ContentType="image/webp"/>
  <Override PartName="/ppt/media/image5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322" r:id="rId6"/>
    <p:sldId id="275" r:id="rId7"/>
    <p:sldId id="392" r:id="rId8"/>
    <p:sldId id="284" r:id="rId9"/>
    <p:sldId id="306" r:id="rId10"/>
    <p:sldId id="307" r:id="rId11"/>
    <p:sldId id="312" r:id="rId12"/>
    <p:sldId id="308" r:id="rId13"/>
    <p:sldId id="380" r:id="rId14"/>
    <p:sldId id="313" r:id="rId15"/>
    <p:sldId id="317" r:id="rId16"/>
    <p:sldId id="396" r:id="rId17"/>
    <p:sldId id="384" r:id="rId18"/>
    <p:sldId id="385" r:id="rId19"/>
    <p:sldId id="395" r:id="rId20"/>
    <p:sldId id="320" r:id="rId21"/>
    <p:sldId id="319" r:id="rId22"/>
    <p:sldId id="381" r:id="rId23"/>
    <p:sldId id="383" r:id="rId24"/>
    <p:sldId id="388" r:id="rId25"/>
    <p:sldId id="357" r:id="rId26"/>
    <p:sldId id="323" r:id="rId27"/>
    <p:sldId id="376" r:id="rId28"/>
    <p:sldId id="361" r:id="rId29"/>
    <p:sldId id="362" r:id="rId30"/>
    <p:sldId id="365" r:id="rId31"/>
    <p:sldId id="367" r:id="rId32"/>
    <p:sldId id="386" r:id="rId33"/>
    <p:sldId id="370" r:id="rId34"/>
    <p:sldId id="359" r:id="rId35"/>
    <p:sldId id="389" r:id="rId36"/>
    <p:sldId id="346" r:id="rId37"/>
    <p:sldId id="378" r:id="rId38"/>
    <p:sldId id="324" r:id="rId39"/>
    <p:sldId id="348" r:id="rId40"/>
    <p:sldId id="371" r:id="rId41"/>
    <p:sldId id="372" r:id="rId42"/>
    <p:sldId id="373" r:id="rId43"/>
    <p:sldId id="374" r:id="rId44"/>
    <p:sldId id="350" r:id="rId45"/>
    <p:sldId id="316" r:id="rId46"/>
    <p:sldId id="325" r:id="rId47"/>
    <p:sldId id="397" r:id="rId48"/>
    <p:sldId id="379" r:id="rId49"/>
    <p:sldId id="400" r:id="rId50"/>
    <p:sldId id="339" r:id="rId51"/>
    <p:sldId id="401" r:id="rId52"/>
    <p:sldId id="398" r:id="rId53"/>
    <p:sldId id="343" r:id="rId54"/>
  </p:sldIdLst>
  <p:sldSz cx="12192000" cy="6858000"/>
  <p:notesSz cx="6858000" cy="9144000"/>
  <p:custShowLst>
    <p:custShow name="没有VSync" id="0">
      <p:sldLst/>
    </p:custShow>
  </p:custShow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D82111"/>
    <a:srgbClr val="FF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7" Type="http://schemas.openxmlformats.org/officeDocument/2006/relationships/tableStyles" Target="tableStyles.xml"/><Relationship Id="rId56" Type="http://schemas.openxmlformats.org/officeDocument/2006/relationships/viewProps" Target="viewProps.xml"/><Relationship Id="rId55" Type="http://schemas.openxmlformats.org/officeDocument/2006/relationships/presProps" Target="presProps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EAN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.png"/><Relationship Id="rId3" Type="http://schemas.openxmlformats.org/officeDocument/2006/relationships/tags" Target="../tags/tag1.xml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web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web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perfetto.dev/docs/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hyperlink" Target="https://ui.perfetto.dev/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hyperlink" Target="https://github.com/Gracker/TraceFix/blob/master/README_zh.md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2.xml"/><Relationship Id="rId4" Type="http://schemas.openxmlformats.org/officeDocument/2006/relationships/slideLayout" Target="../slideLayouts/slideLayout1.xml"/><Relationship Id="rId3" Type="http://schemas.openxmlformats.org/officeDocument/2006/relationships/hyperlink" Target="https://www.docker.com/" TargetMode="External"/><Relationship Id="rId2" Type="http://schemas.openxmlformats.org/officeDocument/2006/relationships/hyperlink" Target="https://github.com/Gracker/SmartPerfetto/blob/main/README.zh-CN.md%20" TargetMode="External"/><Relationship Id="rId1" Type="http://schemas.openxmlformats.org/officeDocument/2006/relationships/hyperlink" Target="https://github.com/Gracker/SmartPerfetto/blob/main/README.zh-CN.md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1.xml"/><Relationship Id="rId2" Type="http://schemas.openxmlformats.org/officeDocument/2006/relationships/hyperlink" Target="https://developer.android.com/tools/agents?hl=zh-cn" TargetMode="External"/><Relationship Id="rId1" Type="http://schemas.openxmlformats.org/officeDocument/2006/relationships/tags" Target="../tags/tag15.xml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4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image" Target="../media/image30.pn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hyperlink" Target="https://doc.weixin.qq.com/doc/w3_APcAoAaxANICN041SWHGASXW1PlPM?scode=AAkAZQc9AAkAIUl5QWAPcAoAaxANI" TargetMode="External"/><Relationship Id="rId4" Type="http://schemas.openxmlformats.org/officeDocument/2006/relationships/hyperlink" Target="https://github.com/shixinzhang/AndroidBitmapMonitor" TargetMode="External"/><Relationship Id="rId3" Type="http://schemas.openxmlformats.org/officeDocument/2006/relationships/hyperlink" Target="https://github.com/FlyJingFish/AndroidAOP/tree/master" TargetMode="External"/><Relationship Id="rId2" Type="http://schemas.openxmlformats.org/officeDocument/2006/relationships/hyperlink" Target="https://androidperformance.com/2024/03/27/Android-Perfetto-101/#/Perfetto-%E7%B3%BB%E5%88%97%E7%9B%AE%E5%BD%95" TargetMode="External"/><Relationship Id="rId1" Type="http://schemas.openxmlformats.org/officeDocument/2006/relationships/hyperlink" Target="https://androidperformance.com/2018/05/07/Android-performance-optimization-skills-and-tool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cover-kicker"/>
          <p:cNvSpPr>
            <a:spLocks noGrp="1"/>
          </p:cNvSpPr>
          <p:nvPr/>
        </p:nvSpPr>
        <p:spPr>
          <a:xfrm>
            <a:off x="658368" y="301752"/>
            <a:ext cx="548640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sz="13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技术</a:t>
            </a:r>
            <a:r>
              <a:rPr lang="zh-CN" sz="13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分享</a:t>
            </a:r>
            <a:endParaRPr lang="zh-CN" sz="135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cover-top-rule"/>
          <p:cNvSpPr>
            <a:spLocks noGrp="1"/>
          </p:cNvSpPr>
          <p:nvPr/>
        </p:nvSpPr>
        <p:spPr>
          <a:xfrm>
            <a:off x="658368" y="630936"/>
            <a:ext cx="10881360" cy="14630"/>
          </a:xfrm>
          <a:prstGeom prst="rect">
            <a:avLst/>
          </a:prstGeom>
          <a:solidFill>
            <a:srgbClr val="D8D8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cover-title"/>
          <p:cNvSpPr>
            <a:spLocks noGrp="1"/>
          </p:cNvSpPr>
          <p:nvPr/>
        </p:nvSpPr>
        <p:spPr>
          <a:xfrm>
            <a:off x="850000" y="2380000"/>
            <a:ext cx="9200000" cy="90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4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altLang="en-US" sz="54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Android 卡顿治理</a:t>
            </a:r>
            <a:endParaRPr lang="zh-CN" altLang="en-US" sz="54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cover-subtitle"/>
          <p:cNvSpPr>
            <a:spLocks noGrp="1"/>
          </p:cNvSpPr>
          <p:nvPr/>
        </p:nvSpPr>
        <p:spPr>
          <a:xfrm>
            <a:off x="862000" y="3270000"/>
            <a:ext cx="7200000" cy="3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0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70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性能</a:t>
            </a:r>
            <a:r>
              <a:rPr lang="zh-CN" altLang="en-US" sz="170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分析 · 定位 · 优化实践</a:t>
            </a:r>
            <a:endParaRPr lang="zh-CN" altLang="en-US" sz="170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over-bottom-rule"/>
          <p:cNvSpPr>
            <a:spLocks noGrp="1"/>
          </p:cNvSpPr>
          <p:nvPr/>
        </p:nvSpPr>
        <p:spPr>
          <a:xfrm>
            <a:off x="862000" y="3960000"/>
            <a:ext cx="1810000" cy="1714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cover-label-box"/>
          <p:cNvSpPr>
            <a:spLocks noGrp="1"/>
          </p:cNvSpPr>
          <p:nvPr/>
        </p:nvSpPr>
        <p:spPr>
          <a:xfrm>
            <a:off x="9265000" y="4650000"/>
            <a:ext cx="1490000" cy="660000"/>
          </a:xfrm>
          <a:prstGeom prst="rect">
            <a:avLst/>
          </a:prstGeom>
          <a:solidFill>
            <a:srgbClr val="F7F7F7"/>
          </a:solidFill>
          <a:ln w="13335">
            <a:solidFill>
              <a:srgbClr val="111111"/>
            </a:solidFill>
            <a:prstDash val="solid"/>
          </a:ln>
        </p:spPr>
        <p:txBody>
          <a:bodyPr lIns="120000" tIns="90000" rIns="120000" bIns="90000" anchor="ctr"/>
          <a:lstStyle/>
          <a:p>
            <a:pPr algn="ctr">
              <a:defRPr sz="18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2026</a:t>
            </a:r>
            <a:endParaRPr sz="18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kicker-label"/>
          <p:cNvSpPr>
            <a:spLocks noGrp="1"/>
          </p:cNvSpPr>
          <p:nvPr/>
        </p:nvSpPr>
        <p:spPr>
          <a:xfrm>
            <a:off x="658368" y="301752"/>
            <a:ext cx="5486400" cy="21945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目录</a:t>
            </a:r>
            <a:endParaRPr sz="135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58368" y="630936"/>
            <a:ext cx="10881360" cy="14630"/>
          </a:xfrm>
          <a:prstGeom prst="rect">
            <a:avLst/>
          </a:prstGeom>
          <a:solidFill>
            <a:srgbClr val="D8D8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agenda-title"/>
          <p:cNvSpPr>
            <a:spLocks noGrp="1"/>
          </p:cNvSpPr>
          <p:nvPr/>
        </p:nvSpPr>
        <p:spPr>
          <a:xfrm>
            <a:off x="658368" y="896112"/>
            <a:ext cx="3291840" cy="71323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8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altLang="en-US" sz="48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目录</a:t>
            </a:r>
            <a:endParaRPr lang="zh-CN" altLang="en-US" sz="48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agenda-dot-1"/>
          <p:cNvSpPr>
            <a:spLocks noGrp="1"/>
          </p:cNvSpPr>
          <p:nvPr/>
        </p:nvSpPr>
        <p:spPr>
          <a:xfrm>
            <a:off x="914400" y="2130552"/>
            <a:ext cx="146304" cy="146304"/>
          </a:xfrm>
          <a:prstGeom prst="ellips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agenda-index-1"/>
          <p:cNvSpPr>
            <a:spLocks noGrp="1"/>
          </p:cNvSpPr>
          <p:nvPr/>
        </p:nvSpPr>
        <p:spPr>
          <a:xfrm>
            <a:off x="1335024" y="1883664"/>
            <a:ext cx="1024128" cy="640080"/>
          </a:xfrm>
          <a:prstGeom prst="rect">
            <a:avLst/>
          </a:prstGeom>
          <a:solidFill>
            <a:srgbClr val="F7F7F7"/>
          </a:solidFill>
          <a:ln w="13335">
            <a:solidFill>
              <a:srgbClr val="111111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23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  <a:endParaRPr sz="230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agenda-heading-1"/>
          <p:cNvSpPr>
            <a:spLocks noGrp="1"/>
          </p:cNvSpPr>
          <p:nvPr/>
        </p:nvSpPr>
        <p:spPr>
          <a:xfrm>
            <a:off x="2697480" y="1901952"/>
            <a:ext cx="8458200" cy="3657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lang="en-US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Android</a:t>
            </a:r>
            <a:r>
              <a:rPr lang="zh-CN" altLang="en-US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渲染机制</a:t>
            </a:r>
            <a:r>
              <a:rPr lang="zh-CN" altLang="en-US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解读</a:t>
            </a:r>
            <a:endParaRPr lang="zh-CN" altLang="en-US" sz="250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agenda-detail-1"/>
          <p:cNvSpPr>
            <a:spLocks noGrp="1"/>
          </p:cNvSpPr>
          <p:nvPr/>
        </p:nvSpPr>
        <p:spPr>
          <a:xfrm>
            <a:off x="2697480" y="2286000"/>
            <a:ext cx="845820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2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520" b="0">
                <a:sym typeface="+mn-ea"/>
              </a:rPr>
              <a:t>你的</a:t>
            </a:r>
            <a:r>
              <a:rPr lang="en-US" altLang="zh-CN" sz="1520" b="0">
                <a:sym typeface="+mn-ea"/>
              </a:rPr>
              <a:t>App</a:t>
            </a:r>
            <a:r>
              <a:rPr lang="zh-CN" altLang="en-US" sz="1520" b="0">
                <a:sym typeface="+mn-ea"/>
              </a:rPr>
              <a:t>帧是如何渲染到屏幕的？</a:t>
            </a:r>
            <a:endParaRPr lang="zh-CN" altLang="en-US" sz="1520" b="0">
              <a:sym typeface="+mn-ea"/>
            </a:endParaRPr>
          </a:p>
          <a:p>
            <a:pPr algn="l">
              <a:defRPr sz="152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endParaRPr lang="zh-CN" altLang="en-US" sz="1520" b="0">
              <a:sym typeface="+mn-ea"/>
            </a:endParaRPr>
          </a:p>
        </p:txBody>
      </p:sp>
      <p:sp>
        <p:nvSpPr>
          <p:cNvPr id="12" name="agenda-line-1"/>
          <p:cNvSpPr>
            <a:spLocks noGrp="1"/>
          </p:cNvSpPr>
          <p:nvPr/>
        </p:nvSpPr>
        <p:spPr>
          <a:xfrm>
            <a:off x="981608" y="2340864"/>
            <a:ext cx="11887" cy="749808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agenda-dot-2"/>
          <p:cNvSpPr>
            <a:spLocks noGrp="1"/>
          </p:cNvSpPr>
          <p:nvPr/>
        </p:nvSpPr>
        <p:spPr>
          <a:xfrm>
            <a:off x="914400" y="3154680"/>
            <a:ext cx="146304" cy="146304"/>
          </a:xfrm>
          <a:prstGeom prst="ellips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agenda-index-2"/>
          <p:cNvSpPr>
            <a:spLocks noGrp="1"/>
          </p:cNvSpPr>
          <p:nvPr/>
        </p:nvSpPr>
        <p:spPr>
          <a:xfrm>
            <a:off x="1335024" y="2907792"/>
            <a:ext cx="1024128" cy="640080"/>
          </a:xfrm>
          <a:prstGeom prst="rect">
            <a:avLst/>
          </a:prstGeom>
          <a:solidFill>
            <a:srgbClr val="F7F7F7"/>
          </a:solidFill>
          <a:ln w="13335">
            <a:solidFill>
              <a:srgbClr val="111111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23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  <a:endParaRPr sz="230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agenda-heading-2"/>
          <p:cNvSpPr>
            <a:spLocks noGrp="1"/>
          </p:cNvSpPr>
          <p:nvPr/>
        </p:nvSpPr>
        <p:spPr>
          <a:xfrm>
            <a:off x="2697480" y="2926080"/>
            <a:ext cx="8458200" cy="3657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分析卡顿</a:t>
            </a:r>
            <a:r>
              <a:rPr lang="zh-CN" altLang="en-US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问题</a:t>
            </a:r>
            <a:endParaRPr lang="zh-CN" altLang="en-US" sz="250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agenda-detail-2"/>
          <p:cNvSpPr>
            <a:spLocks noGrp="1"/>
          </p:cNvSpPr>
          <p:nvPr/>
        </p:nvSpPr>
        <p:spPr>
          <a:xfrm>
            <a:off x="2697480" y="3310128"/>
            <a:ext cx="845820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2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如何分析与定位卡顿</a:t>
            </a:r>
            <a:r>
              <a:rPr lang="zh-CN"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问题</a:t>
            </a:r>
            <a:endParaRPr lang="zh-CN" sz="152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agenda-line-2"/>
          <p:cNvSpPr>
            <a:spLocks noGrp="1"/>
          </p:cNvSpPr>
          <p:nvPr/>
        </p:nvSpPr>
        <p:spPr>
          <a:xfrm>
            <a:off x="981608" y="3364992"/>
            <a:ext cx="11887" cy="749808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agenda-dot-3"/>
          <p:cNvSpPr>
            <a:spLocks noGrp="1"/>
          </p:cNvSpPr>
          <p:nvPr/>
        </p:nvSpPr>
        <p:spPr>
          <a:xfrm>
            <a:off x="914400" y="4178808"/>
            <a:ext cx="146304" cy="146304"/>
          </a:xfrm>
          <a:prstGeom prst="ellips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agenda-index-3"/>
          <p:cNvSpPr>
            <a:spLocks noGrp="1"/>
          </p:cNvSpPr>
          <p:nvPr/>
        </p:nvSpPr>
        <p:spPr>
          <a:xfrm>
            <a:off x="1335024" y="3931920"/>
            <a:ext cx="1024128" cy="640080"/>
          </a:xfrm>
          <a:prstGeom prst="rect">
            <a:avLst/>
          </a:prstGeom>
          <a:solidFill>
            <a:srgbClr val="F7F7F7"/>
          </a:solidFill>
          <a:ln w="13335">
            <a:solidFill>
              <a:srgbClr val="111111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23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  <a:endParaRPr sz="230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agenda-heading-3"/>
          <p:cNvSpPr>
            <a:spLocks noGrp="1"/>
          </p:cNvSpPr>
          <p:nvPr/>
        </p:nvSpPr>
        <p:spPr>
          <a:xfrm>
            <a:off x="2697480" y="3950208"/>
            <a:ext cx="8458200" cy="3657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lang="zh-CN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利用</a:t>
            </a:r>
            <a:r>
              <a:rPr lang="en-US" altLang="zh-CN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</a:t>
            </a:r>
            <a:r>
              <a:rPr lang="zh-CN" altLang="en-US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进行</a:t>
            </a:r>
            <a:r>
              <a:rPr lang="zh-CN" altLang="en-US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诊断</a:t>
            </a:r>
            <a:endParaRPr lang="zh-CN" altLang="en-US" sz="250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agenda-detail-3"/>
          <p:cNvSpPr>
            <a:spLocks noGrp="1"/>
          </p:cNvSpPr>
          <p:nvPr/>
        </p:nvSpPr>
        <p:spPr>
          <a:xfrm>
            <a:off x="2697480" y="4334256"/>
            <a:ext cx="845820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2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使用</a:t>
            </a:r>
            <a:r>
              <a:rPr lang="en-US" altLang="zh-CN"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SmartPerfetto</a:t>
            </a:r>
            <a:r>
              <a:rPr lang="zh-CN" altLang="en-US" sz="1520" b="0">
                <a:solidFill>
                  <a:srgbClr val="575757"/>
                </a:solidFill>
                <a:latin typeface="Aptos"/>
                <a:ea typeface="宋体" charset="0"/>
                <a:cs typeface="Aptos"/>
              </a:rPr>
              <a:t>、</a:t>
            </a:r>
            <a:r>
              <a:rPr lang="en-US" altLang="zh-CN">
                <a:sym typeface="+mn-ea"/>
              </a:rPr>
              <a:t>android cli</a:t>
            </a:r>
            <a:r>
              <a:rPr lang="zh-CN" altLang="en-US"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辅助</a:t>
            </a:r>
            <a:r>
              <a:rPr lang="zh-CN" altLang="en-US"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分析</a:t>
            </a:r>
            <a:endParaRPr lang="zh-CN" altLang="en-US" sz="152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agenda-line-3"/>
          <p:cNvSpPr>
            <a:spLocks noGrp="1"/>
          </p:cNvSpPr>
          <p:nvPr/>
        </p:nvSpPr>
        <p:spPr>
          <a:xfrm>
            <a:off x="981608" y="4389120"/>
            <a:ext cx="11887" cy="749808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agenda-dot-4"/>
          <p:cNvSpPr>
            <a:spLocks noGrp="1"/>
          </p:cNvSpPr>
          <p:nvPr/>
        </p:nvSpPr>
        <p:spPr>
          <a:xfrm>
            <a:off x="914400" y="5202936"/>
            <a:ext cx="146304" cy="146304"/>
          </a:xfrm>
          <a:prstGeom prst="ellips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agenda-index-4"/>
          <p:cNvSpPr>
            <a:spLocks noGrp="1"/>
          </p:cNvSpPr>
          <p:nvPr/>
        </p:nvSpPr>
        <p:spPr>
          <a:xfrm>
            <a:off x="1335024" y="4956048"/>
            <a:ext cx="1024128" cy="640080"/>
          </a:xfrm>
          <a:prstGeom prst="rect">
            <a:avLst/>
          </a:prstGeom>
          <a:solidFill>
            <a:srgbClr val="F7F7F7"/>
          </a:solidFill>
          <a:ln w="13335">
            <a:solidFill>
              <a:srgbClr val="111111"/>
            </a:solidFill>
            <a:prstDash val="solid"/>
          </a:ln>
        </p:spPr>
        <p:txBody>
          <a:bodyPr lIns="133350" tIns="95250" rIns="133350" bIns="95250" anchor="ctr"/>
          <a:lstStyle/>
          <a:p>
            <a:pPr algn="ctr">
              <a:defRPr sz="23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3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  <a:endParaRPr sz="230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agenda-heading-4"/>
          <p:cNvSpPr>
            <a:spLocks noGrp="1"/>
          </p:cNvSpPr>
          <p:nvPr/>
        </p:nvSpPr>
        <p:spPr>
          <a:xfrm>
            <a:off x="2697480" y="4974336"/>
            <a:ext cx="8458200" cy="3657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常见卡顿</a:t>
            </a:r>
            <a:r>
              <a:rPr lang="zh-CN" sz="2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案例</a:t>
            </a:r>
            <a:endParaRPr lang="zh-CN" sz="250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agenda-detail-4"/>
          <p:cNvSpPr>
            <a:spLocks noGrp="1"/>
          </p:cNvSpPr>
          <p:nvPr/>
        </p:nvSpPr>
        <p:spPr>
          <a:xfrm>
            <a:off x="2697480" y="5358384"/>
            <a:ext cx="8458200" cy="31089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2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主线程 IO、inflate</a:t>
            </a:r>
            <a:r>
              <a:rPr lang="zh-CN"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耗时</a:t>
            </a:r>
            <a:r>
              <a:rPr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、</a:t>
            </a:r>
            <a:r>
              <a:rPr lang="zh-CN" sz="152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内存问题</a:t>
            </a:r>
            <a:endParaRPr lang="en-US" altLang="zh-CN" sz="152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ection-number"/>
          <p:cNvSpPr>
            <a:spLocks noGrp="1"/>
          </p:cNvSpPr>
          <p:nvPr/>
        </p:nvSpPr>
        <p:spPr>
          <a:xfrm>
            <a:off x="1500000" y="2710000"/>
            <a:ext cx="1880000" cy="7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en-US" sz="6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01</a:t>
            </a:r>
            <a:endParaRPr lang="zh-CN" altLang="en-US" sz="62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number-rule"/>
          <p:cNvSpPr>
            <a:spLocks noGrp="1"/>
          </p:cNvSpPr>
          <p:nvPr/>
        </p:nvSpPr>
        <p:spPr>
          <a:xfrm>
            <a:off x="1500000" y="3620000"/>
            <a:ext cx="1770000" cy="160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section-title"/>
          <p:cNvSpPr>
            <a:spLocks noGrp="1"/>
          </p:cNvSpPr>
          <p:nvPr/>
        </p:nvSpPr>
        <p:spPr>
          <a:xfrm>
            <a:off x="3900000" y="2670000"/>
            <a:ext cx="7200000" cy="82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47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altLang="en-US" sz="47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Android渲染机制解读</a:t>
            </a:r>
            <a:endParaRPr lang="zh-CN" altLang="en-US" sz="47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section-subtitle"/>
          <p:cNvSpPr>
            <a:spLocks noGrp="1"/>
          </p:cNvSpPr>
          <p:nvPr/>
        </p:nvSpPr>
        <p:spPr>
          <a:xfrm>
            <a:off x="3900000" y="3500000"/>
            <a:ext cx="7200000" cy="34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你的</a:t>
            </a:r>
            <a:r>
              <a:rPr lang="en-US" altLang="zh-CN" sz="16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App</a:t>
            </a:r>
            <a:r>
              <a:rPr lang="zh-CN" altLang="en-US" sz="16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帧是如何渲染到屏幕的？</a:t>
            </a:r>
            <a:endParaRPr lang="zh-CN" altLang="en-US" sz="165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  <a:p>
            <a:pPr algn="l">
              <a:defRPr sz="165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endParaRPr lang="zh-CN" altLang="en-US" sz="165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300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软件绘制与硬件加速</a:t>
            </a:r>
            <a:endParaRPr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609725"/>
            <a:ext cx="7429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onDraw() 里的 Canvas 调用，并不一定</a:t>
            </a:r>
            <a:r>
              <a:rPr lang="zh-CN" sz="14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是真正的绘图过程</a:t>
            </a:r>
            <a:r>
              <a:rPr sz="14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4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90550" y="2114550"/>
            <a:ext cx="6629400" cy="3028950"/>
          </a:xfrm>
          <a:prstGeom prst="roundRect">
            <a:avLst>
              <a:gd name="adj" fmla="val 2516"/>
            </a:avLst>
          </a:prstGeom>
          <a:solidFill>
            <a:srgbClr val="15191B"/>
          </a:solidFill>
          <a:ln w="9525">
            <a:solidFill>
              <a:srgbClr val="1E2428"/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135" y="2137410"/>
            <a:ext cx="5632450" cy="2882265"/>
          </a:xfrm>
          <a:prstGeom prst="rect">
            <a:avLst/>
          </a:prstGeom>
        </p:spPr>
      </p:pic>
      <p:grpSp>
        <p:nvGrpSpPr>
          <p:cNvPr id="45" name="组合 44"/>
          <p:cNvGrpSpPr/>
          <p:nvPr/>
        </p:nvGrpSpPr>
        <p:grpSpPr>
          <a:xfrm>
            <a:off x="7696200" y="2099310"/>
            <a:ext cx="3771900" cy="2882900"/>
            <a:chOff x="11880" y="3330"/>
            <a:chExt cx="5940" cy="4540"/>
          </a:xfrm>
        </p:grpSpPr>
        <p:sp>
          <p:nvSpPr>
            <p:cNvPr id="11" name="圆角矩形 10"/>
            <p:cNvSpPr>
              <a:spLocks noGrp="1"/>
            </p:cNvSpPr>
            <p:nvPr/>
          </p:nvSpPr>
          <p:spPr>
            <a:xfrm>
              <a:off x="11880" y="3330"/>
              <a:ext cx="5940" cy="4540"/>
            </a:xfrm>
            <a:prstGeom prst="roundRect">
              <a:avLst>
                <a:gd name="adj" fmla="val 3390"/>
              </a:avLst>
            </a:prstGeom>
            <a:solidFill>
              <a:srgbClr val="FFFFFF"/>
            </a:solidFill>
            <a:ln w="9525">
              <a:solidFill>
                <a:srgbClr val="E4E7EC"/>
              </a:solidFill>
              <a:prstDash val="solid"/>
            </a:ln>
          </p:spPr>
        </p:sp>
        <p:sp>
          <p:nvSpPr>
            <p:cNvPr id="12" name="矩形 11"/>
            <p:cNvSpPr>
              <a:spLocks noGrp="1"/>
            </p:cNvSpPr>
            <p:nvPr/>
          </p:nvSpPr>
          <p:spPr>
            <a:xfrm>
              <a:off x="12300" y="3720"/>
              <a:ext cx="2700" cy="4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80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80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基本概念</a:t>
              </a:r>
              <a:endParaRPr sz="18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3" name="矩形 12"/>
            <p:cNvSpPr>
              <a:spLocks noGrp="1"/>
            </p:cNvSpPr>
            <p:nvPr/>
          </p:nvSpPr>
          <p:spPr>
            <a:xfrm>
              <a:off x="12300" y="4230"/>
              <a:ext cx="4800" cy="72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090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00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软件绘制和硬件加速的关键差异，在于 CPU 是直接绘制，还是先录制绘制指令。</a:t>
              </a:r>
              <a:endPara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12075" y="5216"/>
              <a:ext cx="5400" cy="870"/>
              <a:chOff x="12075" y="5216"/>
              <a:chExt cx="5400" cy="870"/>
            </a:xfrm>
          </p:grpSpPr>
          <p:sp>
            <p:nvSpPr>
              <p:cNvPr id="14" name="圆角矩形 13"/>
              <p:cNvSpPr>
                <a:spLocks noGrp="1"/>
              </p:cNvSpPr>
              <p:nvPr/>
            </p:nvSpPr>
            <p:spPr>
              <a:xfrm>
                <a:off x="12075" y="5216"/>
                <a:ext cx="5400" cy="87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E4E7EC"/>
                </a:solidFill>
                <a:prstDash val="solid"/>
              </a:ln>
            </p:spPr>
          </p:sp>
          <p:sp>
            <p:nvSpPr>
              <p:cNvPr id="15" name="圆角矩形 14"/>
              <p:cNvSpPr>
                <a:spLocks noGrp="1"/>
              </p:cNvSpPr>
              <p:nvPr/>
            </p:nvSpPr>
            <p:spPr>
              <a:xfrm>
                <a:off x="12345" y="5486"/>
                <a:ext cx="120" cy="330"/>
              </a:xfrm>
              <a:prstGeom prst="roundRect">
                <a:avLst>
                  <a:gd name="adj" fmla="val 50000"/>
                </a:avLst>
              </a:prstGeom>
              <a:solidFill>
                <a:srgbClr val="F79009"/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</p:sp>
          <p:sp>
            <p:nvSpPr>
              <p:cNvPr id="16" name="矩形 15"/>
              <p:cNvSpPr>
                <a:spLocks noGrp="1"/>
              </p:cNvSpPr>
              <p:nvPr/>
            </p:nvSpPr>
            <p:spPr>
              <a:xfrm>
                <a:off x="12622" y="5216"/>
                <a:ext cx="1380" cy="87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350" b="1">
                    <a:solidFill>
                      <a:srgbClr val="101828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defRPr>
                </a:pPr>
                <a:r>
                  <a:rPr sz="1350" b="1">
                    <a:solidFill>
                      <a:srgbClr val="101828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软件绘制</a:t>
                </a:r>
                <a:endParaRPr sz="135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p:txBody>
          </p:sp>
          <p:sp>
            <p:nvSpPr>
              <p:cNvPr id="17" name="矩形 16"/>
              <p:cNvSpPr>
                <a:spLocks noGrp="1"/>
              </p:cNvSpPr>
              <p:nvPr/>
            </p:nvSpPr>
            <p:spPr>
              <a:xfrm>
                <a:off x="14160" y="5216"/>
                <a:ext cx="2850" cy="87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125" b="0">
                    <a:solidFill>
                      <a:srgbClr val="667085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defRPr>
                </a:pPr>
                <a:r>
                  <a:rPr sz="1125" b="0">
                    <a:solidFill>
                      <a:srgbClr val="667085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CPU 执行 Canvas 绘制</a:t>
                </a:r>
                <a:endParaRPr sz="1125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>
              <a:off x="12075" y="6483"/>
              <a:ext cx="5400" cy="870"/>
              <a:chOff x="12075" y="6060"/>
              <a:chExt cx="5400" cy="870"/>
            </a:xfrm>
          </p:grpSpPr>
          <p:sp>
            <p:nvSpPr>
              <p:cNvPr id="18" name="圆角矩形 17"/>
              <p:cNvSpPr>
                <a:spLocks noGrp="1"/>
              </p:cNvSpPr>
              <p:nvPr/>
            </p:nvSpPr>
            <p:spPr>
              <a:xfrm>
                <a:off x="12075" y="6060"/>
                <a:ext cx="5400" cy="870"/>
              </a:xfrm>
              <a:prstGeom prst="roundRect">
                <a:avLst>
                  <a:gd name="adj" fmla="val 13793"/>
                </a:avLst>
              </a:prstGeom>
              <a:solidFill>
                <a:srgbClr val="FFFFFF"/>
              </a:solidFill>
              <a:ln w="9525">
                <a:solidFill>
                  <a:srgbClr val="E4E7EC"/>
                </a:solidFill>
                <a:prstDash val="solid"/>
              </a:ln>
            </p:spPr>
          </p:sp>
          <p:sp>
            <p:nvSpPr>
              <p:cNvPr id="19" name="圆角矩形 18"/>
              <p:cNvSpPr>
                <a:spLocks noGrp="1"/>
              </p:cNvSpPr>
              <p:nvPr/>
            </p:nvSpPr>
            <p:spPr>
              <a:xfrm>
                <a:off x="12345" y="6330"/>
                <a:ext cx="120" cy="330"/>
              </a:xfrm>
              <a:prstGeom prst="roundRect">
                <a:avLst>
                  <a:gd name="adj" fmla="val 50000"/>
                </a:avLst>
              </a:prstGeom>
              <a:solidFill>
                <a:srgbClr val="1570EF"/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</p:sp>
          <p:sp>
            <p:nvSpPr>
              <p:cNvPr id="20" name="矩形 19"/>
              <p:cNvSpPr>
                <a:spLocks noGrp="1"/>
              </p:cNvSpPr>
              <p:nvPr/>
            </p:nvSpPr>
            <p:spPr>
              <a:xfrm>
                <a:off x="12690" y="6060"/>
                <a:ext cx="1380" cy="87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350" b="1">
                    <a:solidFill>
                      <a:srgbClr val="101828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defRPr>
                </a:pPr>
                <a:r>
                  <a:rPr sz="1350" b="1">
                    <a:solidFill>
                      <a:srgbClr val="101828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硬件加速</a:t>
                </a:r>
                <a:endParaRPr sz="135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p:txBody>
          </p:sp>
          <p:sp>
            <p:nvSpPr>
              <p:cNvPr id="21" name="矩形 20"/>
              <p:cNvSpPr>
                <a:spLocks noGrp="1"/>
              </p:cNvSpPr>
              <p:nvPr/>
            </p:nvSpPr>
            <p:spPr>
              <a:xfrm>
                <a:off x="14135" y="6060"/>
                <a:ext cx="2850" cy="87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 algn="l">
                  <a:defRPr sz="1125" b="0">
                    <a:solidFill>
                      <a:srgbClr val="667085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defRPr>
                </a:pPr>
                <a:r>
                  <a:rPr sz="1125" b="0">
                    <a:solidFill>
                      <a:srgbClr val="667085"/>
                    </a:solidFill>
                    <a:latin typeface="PingFang SC" panose="020B0400000000000000" charset="-122"/>
                    <a:ea typeface="PingFang SC" panose="020B0400000000000000" charset="-122"/>
                    <a:cs typeface="PingFang SC" panose="020B0400000000000000" charset="-122"/>
                  </a:rPr>
                  <a:t>CPU 录制 + GPU 渲染</a:t>
                </a:r>
                <a:endParaRPr sz="1125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endParaRPr>
              </a:p>
            </p:txBody>
          </p:sp>
        </p:grpSp>
      </p:grpSp>
      <p:grpSp>
        <p:nvGrpSpPr>
          <p:cNvPr id="42" name="组合 41"/>
          <p:cNvGrpSpPr/>
          <p:nvPr/>
        </p:nvGrpSpPr>
        <p:grpSpPr>
          <a:xfrm>
            <a:off x="8832850" y="5245735"/>
            <a:ext cx="2857500" cy="1301750"/>
            <a:chOff x="14340" y="8107"/>
            <a:chExt cx="4500" cy="2050"/>
          </a:xfrm>
        </p:grpSpPr>
        <p:sp>
          <p:nvSpPr>
            <p:cNvPr id="22" name="圆角矩形 21"/>
            <p:cNvSpPr>
              <a:spLocks noGrp="1"/>
            </p:cNvSpPr>
            <p:nvPr/>
          </p:nvSpPr>
          <p:spPr>
            <a:xfrm>
              <a:off x="14340" y="8107"/>
              <a:ext cx="4500" cy="2051"/>
            </a:xfrm>
            <a:prstGeom prst="roundRect">
              <a:avLst>
                <a:gd name="adj" fmla="val 7407"/>
              </a:avLst>
            </a:prstGeom>
            <a:solidFill>
              <a:srgbClr val="EEF6FF"/>
            </a:solidFill>
            <a:ln w="9525">
              <a:solidFill>
                <a:srgbClr val="B2DDFF"/>
              </a:solidFill>
              <a:prstDash val="solid"/>
            </a:ln>
          </p:spPr>
        </p:sp>
        <p:sp>
          <p:nvSpPr>
            <p:cNvPr id="24" name="矩形 23"/>
            <p:cNvSpPr>
              <a:spLocks noGrp="1"/>
            </p:cNvSpPr>
            <p:nvPr/>
          </p:nvSpPr>
          <p:spPr>
            <a:xfrm>
              <a:off x="14613" y="8257"/>
              <a:ext cx="3954" cy="1641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990" b="0">
                  <a:solidFill>
                    <a:srgbClr val="184A9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400" b="0">
                  <a:solidFill>
                    <a:srgbClr val="184A9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硬件加速把 2D 绘图操作转换为 DisplayList 记录；</a:t>
              </a:r>
              <a:r>
                <a:rPr lang="zh-CN" sz="1400" b="0">
                  <a:solidFill>
                    <a:srgbClr val="184A9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这个过程叫做录制</a:t>
              </a:r>
              <a:r>
                <a:rPr lang="en-US" altLang="zh-CN" sz="1400" b="0">
                  <a:solidFill>
                    <a:srgbClr val="184A9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；</a:t>
              </a:r>
              <a:r>
                <a:rPr sz="1400" b="0">
                  <a:solidFill>
                    <a:srgbClr val="184A90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真正显示时，再由 OpenGL ES 调用 GPU 完成渲染。</a:t>
              </a:r>
              <a:endParaRPr sz="1400" b="0">
                <a:solidFill>
                  <a:srgbClr val="184A9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09600" y="5581650"/>
            <a:ext cx="2324100" cy="666750"/>
            <a:chOff x="960" y="8790"/>
            <a:chExt cx="3660" cy="1050"/>
          </a:xfrm>
        </p:grpSpPr>
        <p:sp>
          <p:nvSpPr>
            <p:cNvPr id="25" name="圆角矩形 24"/>
            <p:cNvSpPr>
              <a:spLocks noGrp="1"/>
            </p:cNvSpPr>
            <p:nvPr/>
          </p:nvSpPr>
          <p:spPr>
            <a:xfrm>
              <a:off x="960" y="8790"/>
              <a:ext cx="3660" cy="10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D9E2EF"/>
              </a:solidFill>
              <a:prstDash val="solid"/>
            </a:ln>
          </p:spPr>
        </p:sp>
        <p:sp>
          <p:nvSpPr>
            <p:cNvPr id="26" name="圆角矩形 25"/>
            <p:cNvSpPr>
              <a:spLocks noGrp="1"/>
            </p:cNvSpPr>
            <p:nvPr/>
          </p:nvSpPr>
          <p:spPr>
            <a:xfrm>
              <a:off x="1200" y="9075"/>
              <a:ext cx="120" cy="480"/>
            </a:xfrm>
            <a:prstGeom prst="roundRect">
              <a:avLst>
                <a:gd name="adj" fmla="val 50000"/>
              </a:avLst>
            </a:prstGeom>
            <a:solidFill>
              <a:srgbClr val="F79009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27" name="矩形 26"/>
            <p:cNvSpPr>
              <a:spLocks noGrp="1"/>
            </p:cNvSpPr>
            <p:nvPr/>
          </p:nvSpPr>
          <p:spPr>
            <a:xfrm>
              <a:off x="1500" y="8970"/>
              <a:ext cx="2700" cy="33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0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0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Canvas API</a:t>
              </a:r>
              <a:endParaRPr sz="12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28" name="矩形 27"/>
            <p:cNvSpPr>
              <a:spLocks noGrp="1"/>
            </p:cNvSpPr>
            <p:nvPr/>
          </p:nvSpPr>
          <p:spPr>
            <a:xfrm>
              <a:off x="1500" y="9360"/>
              <a:ext cx="2820" cy="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865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865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开发者提交绘制操作</a:t>
              </a:r>
              <a:endPara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352800" y="5581650"/>
            <a:ext cx="2324100" cy="666750"/>
            <a:chOff x="5280" y="8790"/>
            <a:chExt cx="3660" cy="1050"/>
          </a:xfrm>
        </p:grpSpPr>
        <p:sp>
          <p:nvSpPr>
            <p:cNvPr id="29" name="圆角矩形 28"/>
            <p:cNvSpPr>
              <a:spLocks noGrp="1"/>
            </p:cNvSpPr>
            <p:nvPr/>
          </p:nvSpPr>
          <p:spPr>
            <a:xfrm>
              <a:off x="5280" y="8790"/>
              <a:ext cx="3660" cy="10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D9E2EF"/>
              </a:solidFill>
              <a:prstDash val="solid"/>
            </a:ln>
          </p:spPr>
        </p:sp>
        <p:sp>
          <p:nvSpPr>
            <p:cNvPr id="30" name="圆角矩形 29"/>
            <p:cNvSpPr>
              <a:spLocks noGrp="1"/>
            </p:cNvSpPr>
            <p:nvPr/>
          </p:nvSpPr>
          <p:spPr>
            <a:xfrm>
              <a:off x="5520" y="9075"/>
              <a:ext cx="120" cy="480"/>
            </a:xfrm>
            <a:prstGeom prst="roundRect">
              <a:avLst>
                <a:gd name="adj" fmla="val 50000"/>
              </a:avLst>
            </a:prstGeom>
            <a:solidFill>
              <a:srgbClr val="1570EF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31" name="矩形 30"/>
            <p:cNvSpPr>
              <a:spLocks noGrp="1"/>
            </p:cNvSpPr>
            <p:nvPr/>
          </p:nvSpPr>
          <p:spPr>
            <a:xfrm>
              <a:off x="5820" y="8970"/>
              <a:ext cx="2700" cy="33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0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0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RecordingCanvas</a:t>
              </a:r>
              <a:endParaRPr sz="12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2" name="矩形 31"/>
            <p:cNvSpPr>
              <a:spLocks noGrp="1"/>
            </p:cNvSpPr>
            <p:nvPr/>
          </p:nvSpPr>
          <p:spPr>
            <a:xfrm>
              <a:off x="5820" y="9360"/>
              <a:ext cx="2820" cy="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865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865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CPU 录制绘制指令</a:t>
              </a:r>
              <a:endPara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096000" y="5581650"/>
            <a:ext cx="2324100" cy="666750"/>
            <a:chOff x="9600" y="8790"/>
            <a:chExt cx="3660" cy="1050"/>
          </a:xfrm>
        </p:grpSpPr>
        <p:sp>
          <p:nvSpPr>
            <p:cNvPr id="33" name="圆角矩形 32"/>
            <p:cNvSpPr>
              <a:spLocks noGrp="1"/>
            </p:cNvSpPr>
            <p:nvPr/>
          </p:nvSpPr>
          <p:spPr>
            <a:xfrm>
              <a:off x="9600" y="8790"/>
              <a:ext cx="3660" cy="10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D9E2EF"/>
              </a:solidFill>
              <a:prstDash val="solid"/>
            </a:ln>
          </p:spPr>
        </p:sp>
        <p:sp>
          <p:nvSpPr>
            <p:cNvPr id="34" name="圆角矩形 33"/>
            <p:cNvSpPr>
              <a:spLocks noGrp="1"/>
            </p:cNvSpPr>
            <p:nvPr/>
          </p:nvSpPr>
          <p:spPr>
            <a:xfrm>
              <a:off x="9840" y="9075"/>
              <a:ext cx="120" cy="480"/>
            </a:xfrm>
            <a:prstGeom prst="roundRect">
              <a:avLst>
                <a:gd name="adj" fmla="val 50000"/>
              </a:avLst>
            </a:prstGeom>
            <a:solidFill>
              <a:srgbClr val="12B76A"/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</p:sp>
        <p:sp>
          <p:nvSpPr>
            <p:cNvPr id="35" name="矩形 34"/>
            <p:cNvSpPr>
              <a:spLocks noGrp="1"/>
            </p:cNvSpPr>
            <p:nvPr/>
          </p:nvSpPr>
          <p:spPr>
            <a:xfrm>
              <a:off x="10140" y="8970"/>
              <a:ext cx="2700" cy="33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0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00" b="1">
                  <a:solidFill>
                    <a:srgbClr val="101828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OpenGL ES / GPU</a:t>
              </a:r>
              <a:endParaRPr sz="12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6" name="矩形 35"/>
            <p:cNvSpPr>
              <a:spLocks noGrp="1"/>
            </p:cNvSpPr>
            <p:nvPr/>
          </p:nvSpPr>
          <p:spPr>
            <a:xfrm>
              <a:off x="10140" y="9360"/>
              <a:ext cx="2820" cy="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865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865" b="0">
                  <a:solidFill>
                    <a:srgbClr val="667085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按记录渲染到屏幕</a:t>
              </a:r>
              <a:endPara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37" name="直接连接符 36"/>
          <p:cNvSpPr>
            <a:spLocks noGrp="1"/>
          </p:cNvSpPr>
          <p:nvPr/>
        </p:nvSpPr>
        <p:spPr>
          <a:xfrm>
            <a:off x="2971800" y="5915025"/>
            <a:ext cx="381000" cy="0"/>
          </a:xfrm>
          <a:prstGeom prst="line">
            <a:avLst/>
          </a:prstGeom>
          <a:noFill/>
          <a:ln w="22860">
            <a:solidFill>
              <a:srgbClr val="1570EF"/>
            </a:solidFill>
            <a:prstDash val="solid"/>
            <a:tailEnd type="triangle"/>
          </a:ln>
        </p:spPr>
      </p:sp>
      <p:sp>
        <p:nvSpPr>
          <p:cNvPr id="38" name="直接连接符 37"/>
          <p:cNvSpPr>
            <a:spLocks noGrp="1"/>
          </p:cNvSpPr>
          <p:nvPr/>
        </p:nvSpPr>
        <p:spPr>
          <a:xfrm>
            <a:off x="5715000" y="5915025"/>
            <a:ext cx="381000" cy="0"/>
          </a:xfrm>
          <a:prstGeom prst="line">
            <a:avLst/>
          </a:prstGeom>
          <a:noFill/>
          <a:ln w="22860">
            <a:solidFill>
              <a:srgbClr val="1570EF"/>
            </a:solidFill>
            <a:prstDash val="solid"/>
            <a:tailEnd type="triangle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" name="矩形 37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/>
          <p:cNvSpPr>
            <a:spLocks noGrp="1"/>
          </p:cNvSpPr>
          <p:nvPr/>
        </p:nvSpPr>
        <p:spPr>
          <a:xfrm>
            <a:off x="647700" y="323850"/>
            <a:ext cx="5905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en-US" sz="120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Android</a:t>
            </a:r>
            <a:r>
              <a:rPr lang="zh-CN" altLang="en-US" sz="120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渲染机制</a:t>
            </a:r>
            <a:r>
              <a:rPr lang="zh-CN" altLang="en-US" sz="120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解读</a:t>
            </a:r>
            <a:endParaRPr lang="zh-CN" altLang="en-US" sz="120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47700" y="628650"/>
            <a:ext cx="10896600" cy="14288"/>
          </a:xfrm>
          <a:prstGeom prst="rect">
            <a:avLst/>
          </a:prstGeom>
          <a:solidFill>
            <a:srgbClr val="D8D8D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pSp>
        <p:nvGrpSpPr>
          <p:cNvPr id="32" name="组合 31"/>
          <p:cNvGrpSpPr/>
          <p:nvPr/>
        </p:nvGrpSpPr>
        <p:grpSpPr>
          <a:xfrm>
            <a:off x="647884" y="1521274"/>
            <a:ext cx="10782332" cy="5159572"/>
            <a:chOff x="855" y="1620"/>
            <a:chExt cx="17454" cy="8606"/>
          </a:xfrm>
        </p:grpSpPr>
        <p:sp>
          <p:nvSpPr>
            <p:cNvPr id="10" name="Shape 3"/>
            <p:cNvSpPr/>
            <p:nvPr/>
          </p:nvSpPr>
          <p:spPr>
            <a:xfrm>
              <a:off x="855" y="1620"/>
              <a:ext cx="17454" cy="8606"/>
            </a:xfrm>
            <a:prstGeom prst="roundRect">
              <a:avLst>
                <a:gd name="adj" fmla="val 1294"/>
              </a:avLst>
            </a:prstGeom>
            <a:solidFill>
              <a:srgbClr val="F8FAFC"/>
            </a:solidFill>
            <a:ln w="15240">
              <a:solidFill>
                <a:srgbClr val="CBD5E1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8000"/>
                </a:srgbClr>
              </a:outerShdw>
            </a:effectLst>
          </p:spPr>
        </p:sp>
        <p:sp>
          <p:nvSpPr>
            <p:cNvPr id="11" name="Shape 4"/>
            <p:cNvSpPr/>
            <p:nvPr/>
          </p:nvSpPr>
          <p:spPr>
            <a:xfrm>
              <a:off x="6077" y="1814"/>
              <a:ext cx="7056" cy="1123"/>
            </a:xfrm>
            <a:prstGeom prst="roundRect">
              <a:avLst>
                <a:gd name="adj" fmla="val 8974"/>
              </a:avLst>
            </a:prstGeom>
            <a:solidFill>
              <a:srgbClr val="EFF6FF"/>
            </a:solidFill>
            <a:ln w="17780">
              <a:solidFill>
                <a:srgbClr val="60A5FA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  <p:txBody>
            <a:bodyPr/>
            <a:p>
              <a:endParaRPr lang="zh-CN" altLang="en-US"/>
            </a:p>
          </p:txBody>
        </p:sp>
        <p:sp>
          <p:nvSpPr>
            <p:cNvPr id="12" name="Text 5"/>
            <p:cNvSpPr/>
            <p:nvPr/>
          </p:nvSpPr>
          <p:spPr>
            <a:xfrm>
              <a:off x="6192" y="2030"/>
              <a:ext cx="6826" cy="427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 fontScale="80000"/>
            </a:bodyPr>
            <a:p>
              <a:pPr marL="0" indent="0" algn="ctr">
                <a:buNone/>
              </a:pPr>
              <a:r>
                <a:rPr lang="en-US" sz="175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ViewRootImpl</a:t>
              </a:r>
              <a:endParaRPr lang="en-US" sz="1750" dirty="0"/>
            </a:p>
          </p:txBody>
        </p:sp>
        <p:sp>
          <p:nvSpPr>
            <p:cNvPr id="13" name="Text 6"/>
            <p:cNvSpPr/>
            <p:nvPr/>
          </p:nvSpPr>
          <p:spPr>
            <a:xfrm>
              <a:off x="6192" y="2410"/>
              <a:ext cx="6826" cy="337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 fontScale="80000"/>
            </a:bodyPr>
            <a:p>
              <a:pPr marL="0" indent="0" algn="ctr">
                <a:buNone/>
              </a:pPr>
              <a:r>
                <a:rPr lang="en-US" sz="1430" dirty="0">
                  <a:solidFill>
                    <a:srgbClr val="1F293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performTraversals → performDraw → draw</a:t>
              </a:r>
              <a:endParaRPr lang="en-US" sz="1430" dirty="0"/>
            </a:p>
          </p:txBody>
        </p:sp>
        <p:sp>
          <p:nvSpPr>
            <p:cNvPr id="14" name="Shape 7"/>
            <p:cNvSpPr/>
            <p:nvPr/>
          </p:nvSpPr>
          <p:spPr>
            <a:xfrm>
              <a:off x="9605" y="2938"/>
              <a:ext cx="0" cy="634"/>
            </a:xfrm>
            <a:prstGeom prst="line">
              <a:avLst/>
            </a:prstGeom>
            <a:noFill/>
            <a:ln w="21590">
              <a:solidFill>
                <a:srgbClr val="475569"/>
              </a:solidFill>
              <a:prstDash val="solid"/>
              <a:tailEnd type="triangle"/>
            </a:ln>
          </p:spPr>
        </p:sp>
        <p:sp>
          <p:nvSpPr>
            <p:cNvPr id="15" name="Shape 8"/>
            <p:cNvSpPr/>
            <p:nvPr/>
          </p:nvSpPr>
          <p:spPr>
            <a:xfrm>
              <a:off x="7315" y="3571"/>
              <a:ext cx="4579" cy="2419"/>
            </a:xfrm>
            <a:prstGeom prst="diamond">
              <a:avLst/>
            </a:prstGeom>
            <a:solidFill>
              <a:srgbClr val="FFF7ED"/>
            </a:solidFill>
            <a:ln w="17780">
              <a:solidFill>
                <a:srgbClr val="FB923C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</p:sp>
        <p:sp>
          <p:nvSpPr>
            <p:cNvPr id="16" name="Text 9"/>
            <p:cNvSpPr/>
            <p:nvPr/>
          </p:nvSpPr>
          <p:spPr>
            <a:xfrm>
              <a:off x="7834" y="4369"/>
              <a:ext cx="3542" cy="403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 fontScale="80000"/>
            </a:bodyPr>
            <a:p>
              <a:pPr marL="0" indent="0" algn="ctr">
                <a:buNone/>
              </a:pPr>
              <a:r>
                <a:rPr lang="en-US" sz="167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isHardwareEnabled ?</a:t>
              </a:r>
              <a:endParaRPr lang="en-US" sz="1670" dirty="0"/>
            </a:p>
          </p:txBody>
        </p:sp>
        <p:sp>
          <p:nvSpPr>
            <p:cNvPr id="17" name="Text 10"/>
            <p:cNvSpPr/>
            <p:nvPr/>
          </p:nvSpPr>
          <p:spPr>
            <a:xfrm>
              <a:off x="8010" y="4848"/>
              <a:ext cx="3139" cy="346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220" b="1" dirty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软硬件绘制的分水岭</a:t>
              </a:r>
              <a:endParaRPr lang="en-US" sz="1220" dirty="0"/>
            </a:p>
          </p:txBody>
        </p:sp>
        <p:sp>
          <p:nvSpPr>
            <p:cNvPr id="18" name="Shape 11"/>
            <p:cNvSpPr/>
            <p:nvPr/>
          </p:nvSpPr>
          <p:spPr>
            <a:xfrm rot="10800000">
              <a:off x="5671" y="4780"/>
              <a:ext cx="1644" cy="2"/>
            </a:xfrm>
            <a:prstGeom prst="line">
              <a:avLst/>
            </a:prstGeom>
            <a:noFill/>
            <a:ln w="21590">
              <a:solidFill>
                <a:srgbClr val="059669"/>
              </a:solidFill>
              <a:prstDash val="solid"/>
              <a:tailEnd type="triangle"/>
            </a:ln>
          </p:spPr>
        </p:sp>
        <p:sp>
          <p:nvSpPr>
            <p:cNvPr id="19" name="Text 12"/>
            <p:cNvSpPr/>
            <p:nvPr/>
          </p:nvSpPr>
          <p:spPr>
            <a:xfrm>
              <a:off x="5703" y="4388"/>
              <a:ext cx="1526" cy="25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 fontScale="80000"/>
            </a:bodyPr>
            <a:p>
              <a:pPr marL="0" indent="0" algn="ctr">
                <a:buNone/>
              </a:pPr>
              <a:r>
                <a:rPr lang="en-US" sz="1120" b="1" dirty="0">
                  <a:solidFill>
                    <a:srgbClr val="059669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否 / 软件绘制</a:t>
              </a:r>
              <a:endParaRPr lang="en-US" sz="1120" dirty="0"/>
            </a:p>
          </p:txBody>
        </p:sp>
        <p:sp>
          <p:nvSpPr>
            <p:cNvPr id="20" name="Shape 13"/>
            <p:cNvSpPr/>
            <p:nvPr/>
          </p:nvSpPr>
          <p:spPr>
            <a:xfrm>
              <a:off x="2477" y="4205"/>
              <a:ext cx="3139" cy="1181"/>
            </a:xfrm>
            <a:prstGeom prst="roundRect">
              <a:avLst>
                <a:gd name="adj" fmla="val 8537"/>
              </a:avLst>
            </a:prstGeom>
            <a:solidFill>
              <a:srgbClr val="ECFDF5"/>
            </a:solidFill>
            <a:ln w="17780">
              <a:solidFill>
                <a:srgbClr val="10B981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</p:sp>
        <p:sp>
          <p:nvSpPr>
            <p:cNvPr id="21" name="Text 14"/>
            <p:cNvSpPr/>
            <p:nvPr/>
          </p:nvSpPr>
          <p:spPr>
            <a:xfrm>
              <a:off x="2592" y="4421"/>
              <a:ext cx="2909" cy="44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40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drawSoftware</a:t>
              </a:r>
              <a:endParaRPr lang="en-US" sz="1570" dirty="0"/>
            </a:p>
          </p:txBody>
        </p:sp>
        <p:sp>
          <p:nvSpPr>
            <p:cNvPr id="22" name="Text 15"/>
            <p:cNvSpPr/>
            <p:nvPr/>
          </p:nvSpPr>
          <p:spPr>
            <a:xfrm>
              <a:off x="2592" y="4831"/>
              <a:ext cx="2909" cy="354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260" dirty="0">
                  <a:solidFill>
                    <a:srgbClr val="1F293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软件路径</a:t>
              </a:r>
              <a:endParaRPr lang="en-US" sz="1260" dirty="0"/>
            </a:p>
          </p:txBody>
        </p:sp>
        <p:sp>
          <p:nvSpPr>
            <p:cNvPr id="23" name="Shape 16"/>
            <p:cNvSpPr/>
            <p:nvPr/>
          </p:nvSpPr>
          <p:spPr>
            <a:xfrm>
              <a:off x="11894" y="4781"/>
              <a:ext cx="1598" cy="0"/>
            </a:xfrm>
            <a:prstGeom prst="line">
              <a:avLst/>
            </a:prstGeom>
            <a:noFill/>
            <a:ln w="21590">
              <a:solidFill>
                <a:srgbClr val="7C3AED"/>
              </a:solidFill>
              <a:prstDash val="solid"/>
              <a:tailEnd type="triangle"/>
            </a:ln>
          </p:spPr>
        </p:sp>
        <p:sp>
          <p:nvSpPr>
            <p:cNvPr id="24" name="Text 17"/>
            <p:cNvSpPr/>
            <p:nvPr/>
          </p:nvSpPr>
          <p:spPr>
            <a:xfrm>
              <a:off x="11714" y="4363"/>
              <a:ext cx="1555" cy="25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 fontScale="80000"/>
            </a:bodyPr>
            <a:p>
              <a:pPr marL="0" indent="0" algn="ctr">
                <a:buNone/>
              </a:pPr>
              <a:r>
                <a:rPr lang="en-US" sz="1120" b="1" dirty="0">
                  <a:solidFill>
                    <a:srgbClr val="7C3AED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是 / 硬件绘制</a:t>
              </a:r>
              <a:endParaRPr lang="en-US" sz="1120" dirty="0"/>
            </a:p>
          </p:txBody>
        </p:sp>
        <p:sp>
          <p:nvSpPr>
            <p:cNvPr id="25" name="Shape 18"/>
            <p:cNvSpPr/>
            <p:nvPr/>
          </p:nvSpPr>
          <p:spPr>
            <a:xfrm>
              <a:off x="13493" y="4104"/>
              <a:ext cx="4392" cy="1066"/>
            </a:xfrm>
            <a:prstGeom prst="roundRect">
              <a:avLst>
                <a:gd name="adj" fmla="val 9459"/>
              </a:avLst>
            </a:prstGeom>
            <a:solidFill>
              <a:srgbClr val="F5F3FF"/>
            </a:solidFill>
            <a:ln w="17780">
              <a:solidFill>
                <a:srgbClr val="8B5CF6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</p:sp>
        <p:sp>
          <p:nvSpPr>
            <p:cNvPr id="26" name="Text 19"/>
            <p:cNvSpPr/>
            <p:nvPr/>
          </p:nvSpPr>
          <p:spPr>
            <a:xfrm>
              <a:off x="13608" y="4219"/>
              <a:ext cx="4162" cy="83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35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mThreadedRenderer.draw()</a:t>
              </a:r>
              <a:endParaRPr lang="en-US" sz="1350" dirty="0"/>
            </a:p>
          </p:txBody>
        </p:sp>
        <p:sp>
          <p:nvSpPr>
            <p:cNvPr id="27" name="Shape 20"/>
            <p:cNvSpPr/>
            <p:nvPr/>
          </p:nvSpPr>
          <p:spPr>
            <a:xfrm>
              <a:off x="15696" y="5170"/>
              <a:ext cx="0" cy="418"/>
            </a:xfrm>
            <a:prstGeom prst="line">
              <a:avLst/>
            </a:prstGeom>
            <a:noFill/>
            <a:ln w="21590">
              <a:solidFill>
                <a:srgbClr val="7C3AED"/>
              </a:solidFill>
              <a:prstDash val="solid"/>
              <a:tailEnd type="triangle"/>
            </a:ln>
          </p:spPr>
        </p:sp>
        <p:sp>
          <p:nvSpPr>
            <p:cNvPr id="28" name="Shape 21"/>
            <p:cNvSpPr/>
            <p:nvPr/>
          </p:nvSpPr>
          <p:spPr>
            <a:xfrm>
              <a:off x="13493" y="5587"/>
              <a:ext cx="4392" cy="1066"/>
            </a:xfrm>
            <a:prstGeom prst="roundRect">
              <a:avLst>
                <a:gd name="adj" fmla="val 9459"/>
              </a:avLst>
            </a:prstGeom>
            <a:solidFill>
              <a:srgbClr val="F5F3FF"/>
            </a:solidFill>
            <a:ln w="17780">
              <a:solidFill>
                <a:srgbClr val="8B5CF6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</p:sp>
        <p:sp>
          <p:nvSpPr>
            <p:cNvPr id="29" name="Text 22"/>
            <p:cNvSpPr/>
            <p:nvPr/>
          </p:nvSpPr>
          <p:spPr>
            <a:xfrm>
              <a:off x="13608" y="5702"/>
              <a:ext cx="4162" cy="83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35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updateRootDisplayList</a:t>
              </a:r>
              <a:endParaRPr lang="en-US" sz="1350" dirty="0"/>
            </a:p>
          </p:txBody>
        </p:sp>
        <p:sp>
          <p:nvSpPr>
            <p:cNvPr id="31" name="Shape 23"/>
            <p:cNvSpPr/>
            <p:nvPr/>
          </p:nvSpPr>
          <p:spPr>
            <a:xfrm>
              <a:off x="15696" y="6653"/>
              <a:ext cx="0" cy="418"/>
            </a:xfrm>
            <a:prstGeom prst="line">
              <a:avLst/>
            </a:prstGeom>
            <a:noFill/>
            <a:ln w="21590">
              <a:solidFill>
                <a:srgbClr val="7C3AED"/>
              </a:solidFill>
              <a:prstDash val="solid"/>
              <a:tailEnd type="triangle"/>
            </a:ln>
          </p:spPr>
        </p:sp>
        <p:sp>
          <p:nvSpPr>
            <p:cNvPr id="33" name="Shape 24"/>
            <p:cNvSpPr/>
            <p:nvPr/>
          </p:nvSpPr>
          <p:spPr>
            <a:xfrm>
              <a:off x="13493" y="7070"/>
              <a:ext cx="4392" cy="1066"/>
            </a:xfrm>
            <a:prstGeom prst="roundRect">
              <a:avLst>
                <a:gd name="adj" fmla="val 9459"/>
              </a:avLst>
            </a:prstGeom>
            <a:solidFill>
              <a:srgbClr val="F5F3FF"/>
            </a:solidFill>
            <a:ln w="17780">
              <a:solidFill>
                <a:srgbClr val="8B5CF6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</p:sp>
        <p:sp>
          <p:nvSpPr>
            <p:cNvPr id="34" name="Text 25"/>
            <p:cNvSpPr/>
            <p:nvPr/>
          </p:nvSpPr>
          <p:spPr>
            <a:xfrm>
              <a:off x="13608" y="7186"/>
              <a:ext cx="4162" cy="83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35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View.updateDisplayListIfDirty</a:t>
              </a:r>
              <a:endParaRPr lang="en-US" sz="1350" dirty="0"/>
            </a:p>
          </p:txBody>
        </p:sp>
        <p:sp>
          <p:nvSpPr>
            <p:cNvPr id="35" name="Shape 26"/>
            <p:cNvSpPr/>
            <p:nvPr/>
          </p:nvSpPr>
          <p:spPr>
            <a:xfrm>
              <a:off x="15696" y="8136"/>
              <a:ext cx="0" cy="418"/>
            </a:xfrm>
            <a:prstGeom prst="line">
              <a:avLst/>
            </a:prstGeom>
            <a:noFill/>
            <a:ln w="21590">
              <a:solidFill>
                <a:srgbClr val="7C3AED"/>
              </a:solidFill>
              <a:prstDash val="solid"/>
              <a:tailEnd type="triangle"/>
            </a:ln>
          </p:spPr>
        </p:sp>
        <p:sp>
          <p:nvSpPr>
            <p:cNvPr id="36" name="Shape 27"/>
            <p:cNvSpPr/>
            <p:nvPr/>
          </p:nvSpPr>
          <p:spPr>
            <a:xfrm>
              <a:off x="13493" y="8554"/>
              <a:ext cx="4392" cy="1066"/>
            </a:xfrm>
            <a:prstGeom prst="roundRect">
              <a:avLst>
                <a:gd name="adj" fmla="val 9459"/>
              </a:avLst>
            </a:prstGeom>
            <a:solidFill>
              <a:srgbClr val="F5F3FF"/>
            </a:solidFill>
            <a:ln w="17780">
              <a:solidFill>
                <a:srgbClr val="8B5CF6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</p:sp>
        <p:sp>
          <p:nvSpPr>
            <p:cNvPr id="37" name="Text 28"/>
            <p:cNvSpPr/>
            <p:nvPr/>
          </p:nvSpPr>
          <p:spPr>
            <a:xfrm>
              <a:off x="13608" y="8669"/>
              <a:ext cx="4162" cy="83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35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RecordingCanvas.beginRecording</a:t>
              </a:r>
              <a:endParaRPr lang="en-US" sz="1350" dirty="0"/>
            </a:p>
          </p:txBody>
        </p:sp>
        <p:sp>
          <p:nvSpPr>
            <p:cNvPr id="39" name="Shape 38"/>
            <p:cNvSpPr/>
            <p:nvPr/>
          </p:nvSpPr>
          <p:spPr>
            <a:xfrm>
              <a:off x="4043" y="5386"/>
              <a:ext cx="4" cy="633"/>
            </a:xfrm>
            <a:prstGeom prst="line">
              <a:avLst/>
            </a:prstGeom>
            <a:noFill/>
            <a:ln w="21590">
              <a:solidFill>
                <a:srgbClr val="059669"/>
              </a:solidFill>
              <a:prstDash val="solid"/>
              <a:tailEnd type="triangle"/>
            </a:ln>
          </p:spPr>
        </p:sp>
        <p:sp>
          <p:nvSpPr>
            <p:cNvPr id="40" name="Shape 39"/>
            <p:cNvSpPr/>
            <p:nvPr/>
          </p:nvSpPr>
          <p:spPr>
            <a:xfrm>
              <a:off x="2512" y="5989"/>
              <a:ext cx="3139" cy="1181"/>
            </a:xfrm>
            <a:prstGeom prst="roundRect">
              <a:avLst>
                <a:gd name="adj" fmla="val 8537"/>
              </a:avLst>
            </a:prstGeom>
            <a:solidFill>
              <a:srgbClr val="ECFDF5"/>
            </a:solidFill>
            <a:ln w="17780">
              <a:solidFill>
                <a:srgbClr val="10B981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</p:sp>
        <p:sp>
          <p:nvSpPr>
            <p:cNvPr id="41" name="Text 40"/>
            <p:cNvSpPr/>
            <p:nvPr/>
          </p:nvSpPr>
          <p:spPr>
            <a:xfrm>
              <a:off x="2567" y="6154"/>
              <a:ext cx="2909" cy="83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35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mSurface.lockCanvas</a:t>
              </a:r>
              <a:endParaRPr lang="en-US" sz="1350" dirty="0"/>
            </a:p>
          </p:txBody>
        </p:sp>
        <p:sp>
          <p:nvSpPr>
            <p:cNvPr id="42" name="Shape 41"/>
            <p:cNvSpPr/>
            <p:nvPr/>
          </p:nvSpPr>
          <p:spPr>
            <a:xfrm>
              <a:off x="4043" y="7259"/>
              <a:ext cx="1" cy="661"/>
            </a:xfrm>
            <a:prstGeom prst="line">
              <a:avLst/>
            </a:prstGeom>
            <a:noFill/>
            <a:ln w="21590">
              <a:solidFill>
                <a:srgbClr val="059669"/>
              </a:solidFill>
              <a:prstDash val="solid"/>
              <a:tailEnd type="triangle"/>
            </a:ln>
          </p:spPr>
        </p:sp>
        <p:sp>
          <p:nvSpPr>
            <p:cNvPr id="43" name="Shape 42"/>
            <p:cNvSpPr/>
            <p:nvPr/>
          </p:nvSpPr>
          <p:spPr>
            <a:xfrm>
              <a:off x="2511" y="7908"/>
              <a:ext cx="3139" cy="1181"/>
            </a:xfrm>
            <a:prstGeom prst="roundRect">
              <a:avLst>
                <a:gd name="adj" fmla="val 8537"/>
              </a:avLst>
            </a:prstGeom>
            <a:solidFill>
              <a:srgbClr val="ECFDF5"/>
            </a:solidFill>
            <a:ln w="17780">
              <a:solidFill>
                <a:srgbClr val="10B981"/>
              </a:solidFill>
              <a:prstDash val="solid"/>
            </a:ln>
            <a:effectLst>
              <a:outerShdw blurRad="12700" dist="50800" dir="2700000" algn="bl" rotWithShape="0">
                <a:srgbClr val="0F172A">
                  <a:alpha val="9000"/>
                </a:srgbClr>
              </a:outerShdw>
            </a:effectLst>
          </p:spPr>
        </p:sp>
        <p:sp>
          <p:nvSpPr>
            <p:cNvPr id="44" name="Text 43"/>
            <p:cNvSpPr/>
            <p:nvPr/>
          </p:nvSpPr>
          <p:spPr>
            <a:xfrm>
              <a:off x="2621" y="8025"/>
              <a:ext cx="2909" cy="835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p>
              <a:pPr marL="0" indent="0" algn="ctr">
                <a:buNone/>
              </a:pPr>
              <a:r>
                <a:rPr lang="en-US" sz="1350" b="1" dirty="0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pitchFamily="34" charset="-120"/>
                </a:rPr>
                <a:t>mView.draw(canvas)</a:t>
              </a:r>
              <a:endParaRPr lang="en-US" sz="1350" dirty="0"/>
            </a:p>
          </p:txBody>
        </p:sp>
      </p:grpSp>
      <p:sp>
        <p:nvSpPr>
          <p:cNvPr id="5" name="矩形 4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</a:t>
            </a: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</a:t>
            </a:r>
            <a:r>
              <a: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</a:t>
            </a: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VRI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绘图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流程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1.2 CPU + GPU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协作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硬件加速流程总结"/>
          <p:cNvSpPr>
            <a:spLocks noGrp="1"/>
          </p:cNvSpPr>
          <p:nvPr/>
        </p:nvSpPr>
        <p:spPr>
          <a:xfrm>
            <a:off x="609600" y="1659890"/>
            <a:ext cx="2999740" cy="3562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lnSpc>
                <a:spcPct val="122000"/>
              </a:lnSpc>
              <a:spcAft>
                <a:spcPts val="650"/>
              </a:spcAft>
              <a:defRPr sz="12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6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开启硬件加速后，绘制流程从“CPU 直接画”转为“CPU 录制指令、GPU 执行渲染”。</a:t>
            </a:r>
            <a:endParaRPr lang="zh-CN" altLang="en-US" sz="16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50"/>
              </a:spcAft>
              <a:def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40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 UI 线程遍历 View 树，执行 measure / layout / draw，把绘制操作记录为 RenderNode / DisplayList。</a:t>
            </a:r>
            <a:endParaRPr lang="zh-CN" altLang="en-US" sz="1400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50"/>
              </a:spcAft>
              <a:def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40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 RenderThread 接收 DisplayList，负责同步、调度和提交渲染任务。</a:t>
            </a:r>
            <a:endParaRPr lang="zh-CN" altLang="en-US" sz="1400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2000"/>
              </a:lnSpc>
              <a:spcAft>
                <a:spcPts val="650"/>
              </a:spcAft>
              <a:def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40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 GPU 通过 OpenGL / Vulkan 完成栅格化、合成与缓冲区提交，最终上屏。</a:t>
            </a:r>
            <a:endParaRPr lang="zh-CN" altLang="en-US" sz="1400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lnSpc>
                <a:spcPct val="122000"/>
              </a:lnSpc>
              <a:defRPr sz="1150" b="1">
                <a:solidFill>
                  <a:srgbClr val="1570E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zh-CN" altLang="en-US" sz="1400" b="1">
              <a:solidFill>
                <a:srgbClr val="1570E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9" name="图片 8" descr="Gemini_Generated_Image_vgym6bvgym6bvgym_compresse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8795" y="1402715"/>
            <a:ext cx="7161530" cy="514223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59105" y="5539740"/>
            <a:ext cx="4599940" cy="3536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22000"/>
              </a:lnSpc>
              <a:buClrTx/>
              <a:buSzTx/>
              <a:buFontTx/>
              <a:defRPr sz="1150" b="1">
                <a:solidFill>
                  <a:srgbClr val="1570E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400"/>
              <a:t>帧耗时 = CPU录制时间 + GPU绘图时间</a:t>
            </a:r>
            <a:endParaRPr lang="zh-CN" altLang="en-US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屏幕刷新率和</a:t>
            </a:r>
            <a:r>
              <a:rPr 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帧率</a:t>
            </a:r>
            <a:endParaRPr lang="zh-CN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正文卡片-屏幕刷新率"/>
          <p:cNvSpPr txBox="1"/>
          <p:nvPr/>
        </p:nvSpPr>
        <p:spPr>
          <a:xfrm>
            <a:off x="749808" y="1673352"/>
            <a:ext cx="5193792" cy="2944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 wrap="square" lIns="201168" tIns="201168" rIns="201168" bIns="201168" anchor="t"/>
          <a:lstStyle/>
          <a:p>
            <a:pPr algn="l">
              <a:lnSpc>
                <a:spcPct val="120000"/>
              </a:lnSpc>
            </a:pPr>
            <a:r>
              <a:rPr lang="zh-CN" altLang="en-US" sz="18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屏幕刷新率</a:t>
            </a:r>
            <a:r>
              <a:rPr lang="zh-CN" altLang="en-US" sz="115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Screen Refresh Rate</a:t>
            </a:r>
            <a:endParaRPr lang="zh-CN" altLang="en-US" sz="1200">
              <a:solidFill>
                <a:srgbClr val="344054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250" b="1">
                <a:solidFill>
                  <a:srgbClr val="1570E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硬件侧指标</a:t>
            </a:r>
            <a:r>
              <a:rPr lang="zh-CN" altLang="en-US" sz="125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· 单位 </a:t>
            </a:r>
            <a:r>
              <a:rPr lang="zh-CN" altLang="en-US" sz="1450" b="1">
                <a:solidFill>
                  <a:srgbClr val="1570E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Hz</a:t>
            </a:r>
            <a:endParaRPr lang="zh-CN" altLang="en-US" sz="1200">
              <a:solidFill>
                <a:srgbClr val="344054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275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表示屏幕这个硬件每秒刷新显示内容的次数。</a:t>
            </a:r>
            <a:endParaRPr lang="zh-CN" altLang="en-US" sz="1200">
              <a:solidFill>
                <a:srgbClr val="344054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5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60Hz</a:t>
            </a:r>
            <a:r>
              <a:rPr lang="zh-CN" altLang="en-US" sz="1300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= 1 秒刷新 </a:t>
            </a:r>
            <a:r>
              <a:rPr lang="zh-CN" altLang="en-US" sz="1550" b="1">
                <a:solidFill>
                  <a:srgbClr val="1570E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60 次</a:t>
            </a:r>
            <a:endParaRPr lang="zh-CN" altLang="en-US" sz="1200">
              <a:solidFill>
                <a:srgbClr val="344054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5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90Hz</a:t>
            </a:r>
            <a:r>
              <a:rPr lang="zh-CN" altLang="en-US" sz="1300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= 1 秒刷新 </a:t>
            </a:r>
            <a:r>
              <a:rPr lang="zh-CN" altLang="en-US" sz="1550" b="1">
                <a:solidFill>
                  <a:srgbClr val="1570E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90 次</a:t>
            </a:r>
            <a:endParaRPr lang="zh-CN" altLang="en-US" sz="1200">
              <a:solidFill>
                <a:srgbClr val="344054"/>
              </a:solidFill>
            </a:endParaRPr>
          </a:p>
        </p:txBody>
      </p:sp>
      <p:sp>
        <p:nvSpPr>
          <p:cNvPr id="9" name="正文卡片-帧率"/>
          <p:cNvSpPr txBox="1"/>
          <p:nvPr/>
        </p:nvSpPr>
        <p:spPr>
          <a:xfrm>
            <a:off x="6245352" y="1673352"/>
            <a:ext cx="5193792" cy="294436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 wrap="square" lIns="201168" tIns="201168" rIns="201168" bIns="201168" anchor="t"/>
          <a:lstStyle/>
          <a:p>
            <a:pPr algn="l">
              <a:lnSpc>
                <a:spcPct val="120000"/>
              </a:lnSpc>
            </a:pPr>
            <a:r>
              <a:rPr lang="zh-CN" altLang="en-US" sz="18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帧率</a:t>
            </a:r>
            <a:r>
              <a:rPr lang="zh-CN" altLang="en-US" sz="115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Frame Rate</a:t>
            </a:r>
            <a:endParaRPr lang="zh-CN" altLang="en-US" sz="1200">
              <a:solidFill>
                <a:srgbClr val="344054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250" b="1">
                <a:solidFill>
                  <a:srgbClr val="12B7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软件侧指标</a:t>
            </a:r>
            <a:r>
              <a:rPr lang="zh-CN" altLang="en-US" sz="125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· 单位 </a:t>
            </a:r>
            <a:r>
              <a:rPr lang="zh-CN" altLang="en-US" sz="1450" b="1">
                <a:solidFill>
                  <a:srgbClr val="12B7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FPS</a:t>
            </a:r>
            <a:endParaRPr lang="zh-CN" altLang="en-US" sz="1200">
              <a:solidFill>
                <a:srgbClr val="344054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275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表示 CPU/GPU 每秒绘制、合成并产出的画面数量。</a:t>
            </a:r>
            <a:endParaRPr lang="zh-CN" altLang="en-US" sz="1200">
              <a:solidFill>
                <a:srgbClr val="344054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5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60FPS</a:t>
            </a:r>
            <a:r>
              <a:rPr lang="zh-CN" altLang="en-US" sz="1300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= 每秒产生 </a:t>
            </a:r>
            <a:r>
              <a:rPr lang="zh-CN" altLang="en-US" sz="1550" b="1">
                <a:solidFill>
                  <a:srgbClr val="12B7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60 个画面</a:t>
            </a:r>
            <a:endParaRPr lang="zh-CN" altLang="en-US" sz="1200">
              <a:solidFill>
                <a:srgbClr val="344054"/>
              </a:solidFill>
            </a:endParaRPr>
          </a:p>
          <a:p>
            <a:pPr algn="l">
              <a:lnSpc>
                <a:spcPct val="120000"/>
              </a:lnSpc>
            </a:pPr>
            <a:r>
              <a:rPr lang="zh-CN" altLang="en-US" sz="15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90FPS</a:t>
            </a:r>
            <a:r>
              <a:rPr lang="zh-CN" altLang="en-US" sz="1300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= 每秒产生 </a:t>
            </a:r>
            <a:r>
              <a:rPr lang="zh-CN" altLang="en-US" sz="1550" b="1">
                <a:solidFill>
                  <a:srgbClr val="12B7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90 个画面</a:t>
            </a:r>
            <a:endParaRPr lang="zh-CN" altLang="en-US" sz="1200">
              <a:solidFill>
                <a:srgbClr val="344054"/>
              </a:solidFill>
            </a:endParaRPr>
          </a:p>
        </p:txBody>
      </p:sp>
      <p:sp>
        <p:nvSpPr>
          <p:cNvPr id="10" name="底部关系提示"/>
          <p:cNvSpPr/>
          <p:nvPr/>
        </p:nvSpPr>
        <p:spPr>
          <a:xfrm>
            <a:off x="749808" y="4910328"/>
            <a:ext cx="10689336" cy="713232"/>
          </a:xfrm>
          <a:prstGeom prst="roundRect">
            <a:avLst>
              <a:gd name="adj" fmla="val 9000"/>
            </a:avLst>
          </a:prstGeom>
          <a:solidFill>
            <a:srgbClr val="EEF4FF"/>
          </a:solidFill>
          <a:ln w="12700">
            <a:solidFill>
              <a:srgbClr val="B2CCFF"/>
            </a:solidFill>
            <a:prstDash val="solid"/>
          </a:ln>
        </p:spPr>
        <p:txBody>
          <a:bodyPr wrap="square" lIns="182880" tIns="182880" rIns="182880" bIns="182880" anchor="t"/>
          <a:lstStyle/>
          <a:p>
            <a:pPr algn="l"/>
            <a:r>
              <a:rPr lang="zh-CN" altLang="en-US" sz="1425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关系理解：</a:t>
            </a:r>
            <a:r>
              <a:rPr lang="zh-CN" altLang="en-US" sz="1350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刷新率是屏幕“能显示多快”，帧率是系统“能产出多快”；二者越接近，画面越稳定顺滑。</a:t>
            </a:r>
            <a:endParaRPr lang="zh-CN" altLang="en-US" sz="1200">
              <a:solidFill>
                <a:srgbClr val="344054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背景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顶部系列名"/>
          <p:cNvSpPr/>
          <p:nvPr/>
        </p:nvSpPr>
        <p:spPr>
          <a:xfrm>
            <a:off x="612648" y="320040"/>
            <a:ext cx="2852928" cy="2286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/>
            <a:r>
              <a:rPr lang="zh-CN" altLang="en-US" sz="1125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4" name="页码"/>
          <p:cNvSpPr/>
          <p:nvPr/>
        </p:nvSpPr>
        <p:spPr>
          <a:xfrm>
            <a:off x="10890504" y="301752"/>
            <a:ext cx="438912" cy="210312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r"/>
            <a:r>
              <a:rPr lang="en-US" altLang="zh-CN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lang="en-US" altLang="zh-CN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顶部横线"/>
          <p:cNvSpPr/>
          <p:nvPr/>
        </p:nvSpPr>
        <p:spPr>
          <a:xfrm>
            <a:off x="612648" y="630936"/>
            <a:ext cx="10671048" cy="16459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标题"/>
          <p:cNvSpPr/>
          <p:nvPr/>
        </p:nvSpPr>
        <p:spPr>
          <a:xfrm>
            <a:off x="612648" y="886968"/>
            <a:ext cx="7863840" cy="457200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/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2.1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：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当刷新率与帧率不匹配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8" name="场景卡片-刷新率更快"/>
          <p:cNvSpPr/>
          <p:nvPr/>
        </p:nvSpPr>
        <p:spPr>
          <a:xfrm>
            <a:off x="612648" y="1700784"/>
            <a:ext cx="5321808" cy="4389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 wrap="square" lIns="201168" tIns="182880" rIns="201168" bIns="182880" anchor="t"/>
          <a:lstStyle/>
          <a:p>
            <a:pPr algn="l"/>
            <a:r>
              <a:rPr lang="zh-CN" altLang="en-US" sz="17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屏幕刷新率 &gt; 系统帧率</a:t>
            </a:r>
            <a:endParaRPr lang="zh-CN" altLang="en-US" sz="1100">
              <a:solidFill>
                <a:srgbClr val="344054"/>
              </a:solidFill>
            </a:endParaRPr>
          </a:p>
          <a:p>
            <a:pPr algn="l"/>
            <a:r>
              <a:rPr lang="zh-CN" altLang="en-US" sz="112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后缓冲区尚未准备好下一帧，屏幕只能继续显示当前帧。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9" name="场景卡片-帧率更快"/>
          <p:cNvSpPr/>
          <p:nvPr/>
        </p:nvSpPr>
        <p:spPr>
          <a:xfrm>
            <a:off x="6254496" y="1700784"/>
            <a:ext cx="5321808" cy="4389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 wrap="square" lIns="201168" tIns="182880" rIns="201168" bIns="182880" anchor="t"/>
          <a:lstStyle/>
          <a:p>
            <a:pPr algn="l"/>
            <a:r>
              <a:rPr lang="zh-CN" altLang="en-US" sz="175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系统帧率 &gt; 屏幕刷新率</a:t>
            </a:r>
            <a:endParaRPr lang="zh-CN" altLang="en-US" sz="1100">
              <a:solidFill>
                <a:srgbClr val="344054"/>
              </a:solidFill>
            </a:endParaRPr>
          </a:p>
          <a:p>
            <a:pPr algn="l"/>
            <a:r>
              <a:rPr lang="zh-CN" altLang="en-US" sz="112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屏幕还未完成前一帧扫描，系统已要求读取下一帧。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0" name="左侧过程标签"/>
          <p:cNvSpPr/>
          <p:nvPr/>
        </p:nvSpPr>
        <p:spPr>
          <a:xfrm>
            <a:off x="841248" y="2752344"/>
            <a:ext cx="1133856" cy="292608"/>
          </a:xfrm>
          <a:prstGeom prst="roundRect">
            <a:avLst>
              <a:gd name="adj" fmla="val 9000"/>
            </a:avLst>
          </a:prstGeom>
          <a:solidFill>
            <a:srgbClr val="EEF4FF"/>
          </a:solidFill>
          <a:ln w="12700">
            <a:solidFill>
              <a:srgbClr val="B2CCFF"/>
            </a:solidFill>
            <a:prstDash val="solid"/>
          </a:ln>
        </p:spPr>
        <p:txBody>
          <a:bodyPr wrap="square" lIns="27432" tIns="36576" rIns="27432" bIns="36576" anchor="ctr"/>
          <a:lstStyle/>
          <a:p>
            <a:pPr algn="ctr"/>
            <a:r>
              <a:rPr lang="zh-CN" altLang="en-US" sz="1050" b="1">
                <a:solidFill>
                  <a:srgbClr val="1570E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重复显示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1" name="左侧帧1"/>
          <p:cNvSpPr/>
          <p:nvPr/>
        </p:nvSpPr>
        <p:spPr>
          <a:xfrm>
            <a:off x="932688" y="3255264"/>
            <a:ext cx="786384" cy="566928"/>
          </a:xfrm>
          <a:prstGeom prst="roundRect">
            <a:avLst>
              <a:gd name="adj" fmla="val 9000"/>
            </a:avLst>
          </a:prstGeom>
          <a:solidFill>
            <a:srgbClr val="EAF2FF"/>
          </a:solidFill>
          <a:ln w="12700">
            <a:solidFill>
              <a:srgbClr val="84ADFF"/>
            </a:solidFill>
            <a:prstDash val="solid"/>
          </a:ln>
        </p:spPr>
        <p:txBody>
          <a:bodyPr wrap="square" lIns="18288" tIns="36576" rIns="18288" bIns="36576" anchor="ctr"/>
          <a:lstStyle/>
          <a:p>
            <a:pPr algn="ctr"/>
            <a:r>
              <a:rPr lang="zh-CN" altLang="en-US" sz="18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2" name="左侧帧1标注"/>
          <p:cNvSpPr/>
          <p:nvPr/>
        </p:nvSpPr>
        <p:spPr>
          <a:xfrm>
            <a:off x="859536" y="3849624"/>
            <a:ext cx="932688" cy="201168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ctr"/>
            <a:r>
              <a:rPr lang="zh-CN" altLang="en-US" sz="75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Frame A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3" name="左侧帧2"/>
          <p:cNvSpPr/>
          <p:nvPr/>
        </p:nvSpPr>
        <p:spPr>
          <a:xfrm>
            <a:off x="1984248" y="3255264"/>
            <a:ext cx="786384" cy="566928"/>
          </a:xfrm>
          <a:prstGeom prst="roundRect">
            <a:avLst>
              <a:gd name="adj" fmla="val 9000"/>
            </a:avLst>
          </a:prstGeom>
          <a:solidFill>
            <a:srgbClr val="EAF2FF"/>
          </a:solidFill>
          <a:ln w="12700">
            <a:solidFill>
              <a:srgbClr val="84ADFF"/>
            </a:solidFill>
            <a:prstDash val="solid"/>
          </a:ln>
        </p:spPr>
        <p:txBody>
          <a:bodyPr wrap="square" lIns="18288" tIns="36576" rIns="18288" bIns="36576" anchor="ctr"/>
          <a:lstStyle/>
          <a:p>
            <a:pPr algn="ctr"/>
            <a:r>
              <a:rPr lang="zh-CN" altLang="en-US" sz="18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4" name="左侧帧2标注"/>
          <p:cNvSpPr/>
          <p:nvPr/>
        </p:nvSpPr>
        <p:spPr>
          <a:xfrm>
            <a:off x="1911096" y="3849624"/>
            <a:ext cx="932688" cy="201168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ctr"/>
            <a:r>
              <a:rPr lang="zh-CN" altLang="en-US" sz="75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Frame A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5" name="左侧帧3"/>
          <p:cNvSpPr/>
          <p:nvPr/>
        </p:nvSpPr>
        <p:spPr>
          <a:xfrm>
            <a:off x="3035808" y="3255264"/>
            <a:ext cx="786384" cy="566928"/>
          </a:xfrm>
          <a:prstGeom prst="roundRect">
            <a:avLst>
              <a:gd name="adj" fmla="val 9000"/>
            </a:avLst>
          </a:prstGeom>
          <a:solidFill>
            <a:srgbClr val="EAF2FF"/>
          </a:solidFill>
          <a:ln w="12700">
            <a:solidFill>
              <a:srgbClr val="84ADFF"/>
            </a:solidFill>
            <a:prstDash val="solid"/>
          </a:ln>
        </p:spPr>
        <p:txBody>
          <a:bodyPr wrap="square" lIns="18288" tIns="36576" rIns="18288" bIns="36576" anchor="ctr"/>
          <a:lstStyle/>
          <a:p>
            <a:pPr algn="ctr"/>
            <a:r>
              <a:rPr lang="zh-CN" altLang="en-US" sz="18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6" name="左侧帧3标注"/>
          <p:cNvSpPr/>
          <p:nvPr/>
        </p:nvSpPr>
        <p:spPr>
          <a:xfrm>
            <a:off x="2962656" y="3849624"/>
            <a:ext cx="932688" cy="201168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ctr"/>
            <a:r>
              <a:rPr lang="zh-CN" altLang="en-US" sz="75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Frame A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7" name="左侧帧4"/>
          <p:cNvSpPr/>
          <p:nvPr/>
        </p:nvSpPr>
        <p:spPr>
          <a:xfrm>
            <a:off x="4087368" y="3255264"/>
            <a:ext cx="786384" cy="566928"/>
          </a:xfrm>
          <a:prstGeom prst="roundRect">
            <a:avLst>
              <a:gd name="adj" fmla="val 9000"/>
            </a:avLst>
          </a:prstGeom>
          <a:solidFill>
            <a:srgbClr val="ECFDF3"/>
          </a:solidFill>
          <a:ln w="12700">
            <a:solidFill>
              <a:srgbClr val="86EFAC"/>
            </a:solidFill>
            <a:prstDash val="solid"/>
          </a:ln>
        </p:spPr>
        <p:txBody>
          <a:bodyPr wrap="square" lIns="18288" tIns="36576" rIns="18288" bIns="36576" anchor="ctr"/>
          <a:lstStyle/>
          <a:p>
            <a:pPr algn="ctr"/>
            <a:r>
              <a:rPr lang="zh-CN" altLang="en-US" sz="18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B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8" name="左侧帧4标注"/>
          <p:cNvSpPr/>
          <p:nvPr/>
        </p:nvSpPr>
        <p:spPr>
          <a:xfrm>
            <a:off x="4014216" y="3849624"/>
            <a:ext cx="932688" cy="201168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ctr"/>
            <a:r>
              <a:rPr lang="zh-CN" altLang="en-US" sz="75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Frame B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19" name="左侧结果块"/>
          <p:cNvSpPr/>
          <p:nvPr/>
        </p:nvSpPr>
        <p:spPr>
          <a:xfrm>
            <a:off x="932688" y="4489704"/>
            <a:ext cx="4617720" cy="621792"/>
          </a:xfrm>
          <a:prstGeom prst="roundRect">
            <a:avLst>
              <a:gd name="adj" fmla="val 9000"/>
            </a:avLst>
          </a:prstGeom>
          <a:solidFill>
            <a:srgbClr val="FFF7ED"/>
          </a:solidFill>
          <a:ln w="12700">
            <a:solidFill>
              <a:srgbClr val="FDBA74"/>
            </a:solidFill>
            <a:prstDash val="solid"/>
          </a:ln>
        </p:spPr>
        <p:txBody>
          <a:bodyPr wrap="square" lIns="128016" tIns="100584" rIns="128016" bIns="100584" anchor="ctr"/>
          <a:lstStyle/>
          <a:p>
            <a:pPr algn="l"/>
            <a:r>
              <a:rPr lang="zh-CN" altLang="en-US" sz="1250" b="1">
                <a:solidFill>
                  <a:srgbClr val="9A341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结果：</a:t>
            </a:r>
            <a:r>
              <a:rPr lang="zh-CN" altLang="en-US" sz="1200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一帧被显示多次，视觉上表现为 </a:t>
            </a:r>
            <a:r>
              <a:rPr lang="zh-CN" altLang="en-US" sz="1400" b="1">
                <a:solidFill>
                  <a:srgbClr val="EA580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卡顿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20" name="左侧说明"/>
          <p:cNvSpPr/>
          <p:nvPr/>
        </p:nvSpPr>
        <p:spPr>
          <a:xfrm>
            <a:off x="932688" y="5285232"/>
            <a:ext cx="4617720" cy="402336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/>
            <a:r>
              <a:rPr lang="zh-CN" altLang="en-US" sz="110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本质是“屏幕要得更快，系统交付更慢”。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21" name="右侧过程标签"/>
          <p:cNvSpPr/>
          <p:nvPr/>
        </p:nvSpPr>
        <p:spPr>
          <a:xfrm>
            <a:off x="6483096" y="2752344"/>
            <a:ext cx="1133856" cy="292608"/>
          </a:xfrm>
          <a:prstGeom prst="roundRect">
            <a:avLst>
              <a:gd name="adj" fmla="val 9000"/>
            </a:avLst>
          </a:prstGeom>
          <a:solidFill>
            <a:srgbClr val="ECFDF3"/>
          </a:solidFill>
          <a:ln w="12700">
            <a:solidFill>
              <a:srgbClr val="86EFAC"/>
            </a:solidFill>
            <a:prstDash val="solid"/>
          </a:ln>
        </p:spPr>
        <p:txBody>
          <a:bodyPr wrap="square" lIns="27432" tIns="36576" rIns="27432" bIns="36576" anchor="ctr"/>
          <a:lstStyle/>
          <a:p>
            <a:pPr algn="ctr"/>
            <a:r>
              <a:rPr lang="zh-CN" altLang="en-US" sz="1050" b="1">
                <a:solidFill>
                  <a:srgbClr val="12B7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扫描中换帧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22" name="撕裂屏幕外框"/>
          <p:cNvSpPr/>
          <p:nvPr/>
        </p:nvSpPr>
        <p:spPr>
          <a:xfrm>
            <a:off x="6821424" y="3191256"/>
            <a:ext cx="2240280" cy="129844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98A2B3"/>
            </a:solidFill>
            <a:prstDash val="solid"/>
          </a:ln>
        </p:spPr>
      </p:sp>
      <p:sp>
        <p:nvSpPr>
          <p:cNvPr id="23" name="撕裂上半帧"/>
          <p:cNvSpPr/>
          <p:nvPr/>
        </p:nvSpPr>
        <p:spPr>
          <a:xfrm>
            <a:off x="6967728" y="3346704"/>
            <a:ext cx="1947672" cy="457200"/>
          </a:xfrm>
          <a:prstGeom prst="rect">
            <a:avLst/>
          </a:prstGeom>
          <a:solidFill>
            <a:srgbClr val="DBEA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8288" tIns="18288" rIns="18288" bIns="18288" anchor="ctr"/>
          <a:lstStyle/>
          <a:p>
            <a:pPr algn="l"/>
            <a:r>
              <a:rPr lang="zh-CN" altLang="en-US" sz="100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上一帧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24" name="撕裂下半帧"/>
          <p:cNvSpPr/>
          <p:nvPr/>
        </p:nvSpPr>
        <p:spPr>
          <a:xfrm>
            <a:off x="6967728" y="3840480"/>
            <a:ext cx="1947672" cy="457200"/>
          </a:xfrm>
          <a:prstGeom prst="rect">
            <a:avLst/>
          </a:prstGeom>
          <a:solidFill>
            <a:srgbClr val="DCFCE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18288" tIns="18288" rIns="18288" bIns="18288" anchor="ctr"/>
          <a:lstStyle/>
          <a:p>
            <a:pPr algn="l"/>
            <a:r>
              <a:rPr lang="zh-CN" altLang="en-US" sz="1000" b="1">
                <a:solidFill>
                  <a:srgbClr val="1580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下一帧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25" name="撕裂分割线"/>
          <p:cNvSpPr/>
          <p:nvPr/>
        </p:nvSpPr>
        <p:spPr>
          <a:xfrm>
            <a:off x="6931152" y="3803904"/>
            <a:ext cx="2029968" cy="22860"/>
          </a:xfrm>
          <a:prstGeom prst="rect">
            <a:avLst/>
          </a:prstGeom>
          <a:solidFill>
            <a:srgbClr val="F9731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扫描箭头线"/>
          <p:cNvSpPr/>
          <p:nvPr/>
        </p:nvSpPr>
        <p:spPr>
          <a:xfrm>
            <a:off x="9317736" y="3273552"/>
            <a:ext cx="50292" cy="1078992"/>
          </a:xfrm>
          <a:prstGeom prst="rect">
            <a:avLst/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扫描箭头头"/>
          <p:cNvSpPr/>
          <p:nvPr/>
        </p:nvSpPr>
        <p:spPr>
          <a:xfrm>
            <a:off x="9217152" y="4242816"/>
            <a:ext cx="246888" cy="246888"/>
          </a:xfrm>
          <a:prstGeom prst="triangle">
            <a:avLst/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扫描标注"/>
          <p:cNvSpPr/>
          <p:nvPr/>
        </p:nvSpPr>
        <p:spPr>
          <a:xfrm>
            <a:off x="9500616" y="3483864"/>
            <a:ext cx="1325880" cy="512064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/>
            <a:r>
              <a:rPr lang="zh-CN" altLang="en-US" sz="98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屏幕扫描尚未完成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29" name="右侧结果块"/>
          <p:cNvSpPr/>
          <p:nvPr/>
        </p:nvSpPr>
        <p:spPr>
          <a:xfrm>
            <a:off x="6574536" y="4489704"/>
            <a:ext cx="4617720" cy="621792"/>
          </a:xfrm>
          <a:prstGeom prst="roundRect">
            <a:avLst>
              <a:gd name="adj" fmla="val 9000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  <p:txBody>
          <a:bodyPr wrap="square" lIns="128016" tIns="100584" rIns="128016" bIns="100584" anchor="ctr"/>
          <a:lstStyle/>
          <a:p>
            <a:pPr algn="l"/>
            <a:r>
              <a:rPr lang="zh-CN" altLang="en-US" sz="1250" b="1">
                <a:solidFill>
                  <a:srgbClr val="991B1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结果：</a:t>
            </a:r>
            <a:r>
              <a:rPr lang="zh-CN" altLang="en-US" sz="1200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同一屏幕出现多帧内容，形成 </a:t>
            </a:r>
            <a:r>
              <a:rPr lang="zh-CN" altLang="en-US" sz="1400" b="1">
                <a:solidFill>
                  <a:srgbClr val="DC262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屏幕撕裂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30" name="右侧说明"/>
          <p:cNvSpPr/>
          <p:nvPr/>
        </p:nvSpPr>
        <p:spPr>
          <a:xfrm>
            <a:off x="6574536" y="5285232"/>
            <a:ext cx="4617720" cy="402336"/>
          </a:xfrm>
          <a:prstGeom prst="rect">
            <a:avLst/>
          </a:prstGeom>
          <a:noFill/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/>
            <a:r>
              <a:rPr lang="zh-CN" altLang="en-US" sz="110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本质是“系统交付更快，屏幕显示来不及”。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31" name="底部总结"/>
          <p:cNvSpPr/>
          <p:nvPr/>
        </p:nvSpPr>
        <p:spPr>
          <a:xfrm>
            <a:off x="612648" y="6272784"/>
            <a:ext cx="10844784" cy="329184"/>
          </a:xfrm>
          <a:prstGeom prst="roundRect">
            <a:avLst>
              <a:gd name="adj" fmla="val 9000"/>
            </a:avLst>
          </a:prstGeom>
          <a:solidFill>
            <a:srgbClr val="EEF4FF"/>
          </a:solidFill>
          <a:ln w="12700">
            <a:solidFill>
              <a:srgbClr val="B2CCFF"/>
            </a:solidFill>
            <a:prstDash val="solid"/>
          </a:ln>
        </p:spPr>
        <p:txBody>
          <a:bodyPr wrap="square" lIns="73152" tIns="27432" rIns="73152" bIns="27432" anchor="ctr"/>
          <a:lstStyle/>
          <a:p>
            <a:pPr algn="l"/>
            <a:r>
              <a:rPr lang="zh-CN" altLang="en-US" sz="1175" b="1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核心：刷新率与帧率节奏不一致时，要么重复旧帧造成卡顿，要么扫描中换帧造成撕裂。</a:t>
            </a:r>
            <a:endParaRPr lang="zh-CN" altLang="en-US" sz="1100">
              <a:solidFill>
                <a:srgbClr val="344054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撕裂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pic>
        <p:nvPicPr>
          <p:cNvPr id="12" name="视频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0" y="628650"/>
            <a:ext cx="12192000" cy="65201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 additive="base">
                                        <p:cTn id="6" dur="9400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 fullScrn="0">
              <p:cMediaNode>
                <p:cTn id="7" repeatCount="indefinite" fill="remove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2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7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VSync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机制</a:t>
            </a:r>
            <a:endParaRPr lang="en-US" altLang="zh-CN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80110" y="1708785"/>
            <a:ext cx="9140190" cy="4681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VSync(Vertical Synchronization,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垂直同步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)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Android 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显示系统的核心机制。在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Android 4.1 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引入，用于协调应用渲染、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SurfaceFlinger 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合成、硬件显示三者的节奏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，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避免画面撕裂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(tearing)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和卡顿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VSync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是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一个节拍器，按屏幕刷新率（如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60Hz/16.67ms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）产生周期性信号，统一调度应用渲染与屏幕刷新。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配套引入：</a:t>
            </a:r>
            <a:r>
              <a:rPr lang="en-US" altLang="zh-CN" sz="200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Choreographer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（帧调度器）</a:t>
            </a:r>
            <a:r>
              <a:rPr lang="en-US" altLang="zh-CN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+ </a:t>
            </a:r>
            <a:r>
              <a:rPr lang="en-US" altLang="zh-CN" sz="200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Triple Buffer</a:t>
            </a:r>
            <a:r>
              <a:rPr lang="zh-CN" altLang="en-US" sz="20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（三重缓冲），彻底重构显示与渲染管线。</a:t>
            </a: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 algn="l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 sz="20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" name="矩形 64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714375"/>
            <a:ext cx="10629900" cy="9525"/>
          </a:xfrm>
          <a:prstGeom prst="rect">
            <a:avLst/>
          </a:prstGeom>
          <a:solidFill>
            <a:srgbClr val="D8E2E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350" b="1">
              <a:solidFill>
                <a:srgbClr val="64748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869950"/>
            <a:ext cx="4095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3.1 VSync 分类</a:t>
            </a:r>
            <a:endParaRPr sz="2850" b="1">
              <a:solidFill>
                <a:srgbClr val="17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card1_bg"/>
          <p:cNvSpPr>
            <a:spLocks noGrp="1"/>
          </p:cNvSpPr>
          <p:nvPr/>
        </p:nvSpPr>
        <p:spPr>
          <a:xfrm>
            <a:off x="609600" y="1943100"/>
            <a:ext cx="35052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</p:sp>
      <p:sp>
        <p:nvSpPr>
          <p:cNvPr id="10" name="card1_bar"/>
          <p:cNvSpPr>
            <a:spLocks noGrp="1"/>
          </p:cNvSpPr>
          <p:nvPr/>
        </p:nvSpPr>
        <p:spPr>
          <a:xfrm>
            <a:off x="609600" y="1943100"/>
            <a:ext cx="57150" cy="4267200"/>
          </a:xfrm>
          <a:prstGeom prst="rect">
            <a:avLst/>
          </a:prstGeom>
          <a:solidFill>
            <a:srgbClr val="1976D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pSp>
        <p:nvGrpSpPr>
          <p:cNvPr id="47" name="card1_header_group"/>
          <p:cNvGrpSpPr/>
          <p:nvPr/>
        </p:nvGrpSpPr>
        <p:grpSpPr>
          <a:xfrm>
            <a:off x="838200" y="2181225"/>
            <a:ext cx="3009900" cy="533400"/>
            <a:chOff x="838200" y="2181225"/>
            <a:chExt cx="3009900" cy="533400"/>
          </a:xfrm>
        </p:grpSpPr>
        <p:sp>
          <p:nvSpPr>
            <p:cNvPr id="11" name="card1_index"/>
            <p:cNvSpPr/>
            <p:nvPr/>
          </p:nvSpPr>
          <p:spPr>
            <a:xfrm>
              <a:off x="838200" y="2209800"/>
              <a:ext cx="4572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650" b="1">
                  <a:solidFill>
                    <a:srgbClr val="1976D2"/>
                  </a:solidFill>
                  <a:latin typeface="Aptos Mono"/>
                  <a:ea typeface="Aptos Mono"/>
                  <a:cs typeface="Aptos Mono"/>
                </a:defRPr>
              </a:pPr>
              <a:r>
                <a:rPr sz="1650" b="1">
                  <a:solidFill>
                    <a:srgbClr val="1976D2"/>
                  </a:solidFill>
                  <a:latin typeface="Aptos Mono"/>
                  <a:ea typeface="Aptos Mono"/>
                  <a:cs typeface="Aptos Mono"/>
                </a:rPr>
                <a:t>01</a:t>
              </a:r>
              <a:endParaRPr sz="1650" b="1">
                <a:solidFill>
                  <a:srgbClr val="1976D2"/>
                </a:solidFill>
                <a:latin typeface="Aptos Mono"/>
                <a:ea typeface="Aptos Mono"/>
                <a:cs typeface="Aptos Mono"/>
              </a:endParaRPr>
            </a:p>
          </p:txBody>
        </p:sp>
        <p:sp>
          <p:nvSpPr>
            <p:cNvPr id="12" name="card1_title"/>
            <p:cNvSpPr/>
            <p:nvPr/>
          </p:nvSpPr>
          <p:spPr>
            <a:xfrm>
              <a:off x="1333500" y="2181225"/>
              <a:ext cx="25146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65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65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HW_VSYNC 硬件垂直同步信号</a:t>
              </a:r>
              <a:endPara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13" name="card1_rule"/>
          <p:cNvSpPr>
            <a:spLocks noGrp="1"/>
          </p:cNvSpPr>
          <p:nvPr/>
        </p:nvSpPr>
        <p:spPr>
          <a:xfrm>
            <a:off x="838200" y="2809875"/>
            <a:ext cx="3048000" cy="9525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pSp>
        <p:nvGrpSpPr>
          <p:cNvPr id="48" name="card1_row1_group"/>
          <p:cNvGrpSpPr/>
          <p:nvPr/>
        </p:nvGrpSpPr>
        <p:grpSpPr>
          <a:xfrm>
            <a:off x="857250" y="3114675"/>
            <a:ext cx="2914650" cy="571500"/>
            <a:chOff x="857250" y="3114675"/>
            <a:chExt cx="2914650" cy="571500"/>
          </a:xfrm>
        </p:grpSpPr>
        <p:sp>
          <p:nvSpPr>
            <p:cNvPr id="14" name="card1_label_1"/>
            <p:cNvSpPr/>
            <p:nvPr/>
          </p:nvSpPr>
          <p:spPr>
            <a:xfrm>
              <a:off x="857250" y="31432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1976D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1976D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产生方</a:t>
              </a:r>
              <a:endParaRPr sz="1125" b="1">
                <a:solidFill>
                  <a:srgbClr val="1976D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5" name="card1_value_1"/>
            <p:cNvSpPr/>
            <p:nvPr/>
          </p:nvSpPr>
          <p:spPr>
            <a:xfrm>
              <a:off x="1676400" y="31146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显示硬件：HWC / Display Controller</a:t>
              </a:r>
              <a:endParaRPr sz="124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49" name="card1_row2_group"/>
          <p:cNvGrpSpPr/>
          <p:nvPr/>
        </p:nvGrpSpPr>
        <p:grpSpPr>
          <a:xfrm>
            <a:off x="857250" y="3762375"/>
            <a:ext cx="2914650" cy="571500"/>
            <a:chOff x="857250" y="3762375"/>
            <a:chExt cx="2914650" cy="571500"/>
          </a:xfrm>
        </p:grpSpPr>
        <p:sp>
          <p:nvSpPr>
            <p:cNvPr id="16" name="card1_label_2"/>
            <p:cNvSpPr/>
            <p:nvPr/>
          </p:nvSpPr>
          <p:spPr>
            <a:xfrm>
              <a:off x="857250" y="37909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1976D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1976D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频率</a:t>
              </a:r>
              <a:endParaRPr sz="1125" b="1">
                <a:solidFill>
                  <a:srgbClr val="1976D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7" name="card1_value_2"/>
            <p:cNvSpPr/>
            <p:nvPr/>
          </p:nvSpPr>
          <p:spPr>
            <a:xfrm>
              <a:off x="1676400" y="37623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等于屏幕刷新率：60Hz ≈ 16.67ms，120Hz ≈ 8.33ms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50" name="card1_row3_group"/>
          <p:cNvGrpSpPr/>
          <p:nvPr/>
        </p:nvGrpSpPr>
        <p:grpSpPr>
          <a:xfrm>
            <a:off x="857250" y="4410075"/>
            <a:ext cx="2914650" cy="571500"/>
            <a:chOff x="857250" y="4410075"/>
            <a:chExt cx="2914650" cy="571500"/>
          </a:xfrm>
        </p:grpSpPr>
        <p:sp>
          <p:nvSpPr>
            <p:cNvPr id="18" name="card1_label_3"/>
            <p:cNvSpPr/>
            <p:nvPr/>
          </p:nvSpPr>
          <p:spPr>
            <a:xfrm>
              <a:off x="857250" y="44386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1976D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1976D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作用</a:t>
              </a:r>
              <a:endParaRPr sz="1125" b="1">
                <a:solidFill>
                  <a:srgbClr val="1976D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9" name="card1_value_3"/>
            <p:cNvSpPr/>
            <p:nvPr/>
          </p:nvSpPr>
          <p:spPr>
            <a:xfrm>
              <a:off x="1676400" y="44100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标记下一帧刷新时刻，并在空白期切换 Buffer，防止画面撕裂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51" name="card1_row4_group"/>
          <p:cNvGrpSpPr/>
          <p:nvPr/>
        </p:nvGrpSpPr>
        <p:grpSpPr>
          <a:xfrm>
            <a:off x="857250" y="5057775"/>
            <a:ext cx="2914650" cy="571500"/>
            <a:chOff x="857250" y="5057775"/>
            <a:chExt cx="2914650" cy="571500"/>
          </a:xfrm>
        </p:grpSpPr>
        <p:sp>
          <p:nvSpPr>
            <p:cNvPr id="20" name="card1_label_4"/>
            <p:cNvSpPr/>
            <p:nvPr/>
          </p:nvSpPr>
          <p:spPr>
            <a:xfrm>
              <a:off x="857250" y="50863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1976D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1976D2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基准</a:t>
              </a:r>
              <a:endParaRPr sz="1125" b="1">
                <a:solidFill>
                  <a:srgbClr val="1976D2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21" name="card1_value_4"/>
            <p:cNvSpPr/>
            <p:nvPr/>
          </p:nvSpPr>
          <p:spPr>
            <a:xfrm>
              <a:off x="1676400" y="50577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作为 DispSync 的基准时钟，生成软件 VSync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22" name="card2_bg"/>
          <p:cNvSpPr>
            <a:spLocks noGrp="1"/>
          </p:cNvSpPr>
          <p:nvPr/>
        </p:nvSpPr>
        <p:spPr>
          <a:xfrm>
            <a:off x="4343400" y="1943100"/>
            <a:ext cx="35052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</p:sp>
      <p:sp>
        <p:nvSpPr>
          <p:cNvPr id="23" name="card2_bar"/>
          <p:cNvSpPr>
            <a:spLocks noGrp="1"/>
          </p:cNvSpPr>
          <p:nvPr/>
        </p:nvSpPr>
        <p:spPr>
          <a:xfrm>
            <a:off x="4343400" y="1943100"/>
            <a:ext cx="57150" cy="4267200"/>
          </a:xfrm>
          <a:prstGeom prst="rect">
            <a:avLst/>
          </a:prstGeom>
          <a:solidFill>
            <a:srgbClr val="00A6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pSp>
        <p:nvGrpSpPr>
          <p:cNvPr id="52" name="card2_header_group"/>
          <p:cNvGrpSpPr/>
          <p:nvPr/>
        </p:nvGrpSpPr>
        <p:grpSpPr>
          <a:xfrm>
            <a:off x="4572000" y="2181225"/>
            <a:ext cx="3009900" cy="533400"/>
            <a:chOff x="4572000" y="2181225"/>
            <a:chExt cx="3009900" cy="533400"/>
          </a:xfrm>
        </p:grpSpPr>
        <p:sp>
          <p:nvSpPr>
            <p:cNvPr id="24" name="card2_index"/>
            <p:cNvSpPr/>
            <p:nvPr/>
          </p:nvSpPr>
          <p:spPr>
            <a:xfrm>
              <a:off x="4572000" y="2209800"/>
              <a:ext cx="4572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650" b="1">
                  <a:solidFill>
                    <a:srgbClr val="00A6D6"/>
                  </a:solidFill>
                  <a:latin typeface="Aptos Mono"/>
                  <a:ea typeface="Aptos Mono"/>
                  <a:cs typeface="Aptos Mono"/>
                </a:defRPr>
              </a:pPr>
              <a:r>
                <a:rPr sz="1650" b="1">
                  <a:solidFill>
                    <a:srgbClr val="00A6D6"/>
                  </a:solidFill>
                  <a:latin typeface="Aptos Mono"/>
                  <a:ea typeface="Aptos Mono"/>
                  <a:cs typeface="Aptos Mono"/>
                </a:rPr>
                <a:t>02</a:t>
              </a:r>
              <a:endParaRPr sz="1650" b="1">
                <a:solidFill>
                  <a:srgbClr val="00A6D6"/>
                </a:solidFill>
                <a:latin typeface="Aptos Mono"/>
                <a:ea typeface="Aptos Mono"/>
                <a:cs typeface="Aptos Mono"/>
              </a:endParaRPr>
            </a:p>
          </p:txBody>
        </p:sp>
        <p:sp>
          <p:nvSpPr>
            <p:cNvPr id="25" name="card2_title"/>
            <p:cNvSpPr/>
            <p:nvPr/>
          </p:nvSpPr>
          <p:spPr>
            <a:xfrm>
              <a:off x="5067300" y="2181225"/>
              <a:ext cx="25146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65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65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VSync-app 应用渲染信号</a:t>
              </a:r>
              <a:endPara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26" name="card2_rule"/>
          <p:cNvSpPr>
            <a:spLocks noGrp="1"/>
          </p:cNvSpPr>
          <p:nvPr/>
        </p:nvSpPr>
        <p:spPr>
          <a:xfrm>
            <a:off x="4572000" y="2809875"/>
            <a:ext cx="3048000" cy="9525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pSp>
        <p:nvGrpSpPr>
          <p:cNvPr id="53" name="card2_row1_group"/>
          <p:cNvGrpSpPr/>
          <p:nvPr/>
        </p:nvGrpSpPr>
        <p:grpSpPr>
          <a:xfrm>
            <a:off x="4591050" y="3114675"/>
            <a:ext cx="2914650" cy="571500"/>
            <a:chOff x="4591050" y="3114675"/>
            <a:chExt cx="2914650" cy="571500"/>
          </a:xfrm>
        </p:grpSpPr>
        <p:sp>
          <p:nvSpPr>
            <p:cNvPr id="27" name="card2_label_1"/>
            <p:cNvSpPr/>
            <p:nvPr/>
          </p:nvSpPr>
          <p:spPr>
            <a:xfrm>
              <a:off x="4591050" y="31432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00A6D6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00A6D6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产生方</a:t>
              </a:r>
              <a:endParaRPr sz="1125" b="1">
                <a:solidFill>
                  <a:srgbClr val="00A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28" name="card2_value_1"/>
            <p:cNvSpPr/>
            <p:nvPr/>
          </p:nvSpPr>
          <p:spPr>
            <a:xfrm>
              <a:off x="5410200" y="31146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DispSync 基于 HW_VSYNC 偏移生成</a:t>
              </a:r>
              <a:endParaRPr sz="124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54" name="card2_row2_group"/>
          <p:cNvGrpSpPr/>
          <p:nvPr/>
        </p:nvGrpSpPr>
        <p:grpSpPr>
          <a:xfrm>
            <a:off x="4591050" y="3762375"/>
            <a:ext cx="2914650" cy="571500"/>
            <a:chOff x="4591050" y="3762375"/>
            <a:chExt cx="2914650" cy="571500"/>
          </a:xfrm>
        </p:grpSpPr>
        <p:sp>
          <p:nvSpPr>
            <p:cNvPr id="29" name="card2_label_2"/>
            <p:cNvSpPr/>
            <p:nvPr/>
          </p:nvSpPr>
          <p:spPr>
            <a:xfrm>
              <a:off x="4591050" y="37909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00A6D6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00A6D6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接收方</a:t>
              </a:r>
              <a:endParaRPr sz="1125" b="1">
                <a:solidFill>
                  <a:srgbClr val="00A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0" name="card2_value_2"/>
            <p:cNvSpPr/>
            <p:nvPr/>
          </p:nvSpPr>
          <p:spPr>
            <a:xfrm>
              <a:off x="5410200" y="37623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App 进程的 Choreographer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55" name="card2_row3_group"/>
          <p:cNvGrpSpPr/>
          <p:nvPr/>
        </p:nvGrpSpPr>
        <p:grpSpPr>
          <a:xfrm>
            <a:off x="4591050" y="4410075"/>
            <a:ext cx="2914650" cy="571500"/>
            <a:chOff x="4591050" y="4410075"/>
            <a:chExt cx="2914650" cy="571500"/>
          </a:xfrm>
        </p:grpSpPr>
        <p:sp>
          <p:nvSpPr>
            <p:cNvPr id="31" name="card2_label_3"/>
            <p:cNvSpPr/>
            <p:nvPr/>
          </p:nvSpPr>
          <p:spPr>
            <a:xfrm>
              <a:off x="4591050" y="44386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00A6D6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00A6D6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作用</a:t>
              </a:r>
              <a:endParaRPr sz="1125" b="1">
                <a:solidFill>
                  <a:srgbClr val="00A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2" name="card2_value_3"/>
            <p:cNvSpPr/>
            <p:nvPr/>
          </p:nvSpPr>
          <p:spPr>
            <a:xfrm>
              <a:off x="5410200" y="44100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触发测量 / 布局 / 绘制，让 App 按时生产 Buffer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56" name="card2_row4_group"/>
          <p:cNvGrpSpPr/>
          <p:nvPr/>
        </p:nvGrpSpPr>
        <p:grpSpPr>
          <a:xfrm>
            <a:off x="4591050" y="5057775"/>
            <a:ext cx="2914650" cy="571500"/>
            <a:chOff x="4591050" y="5057775"/>
            <a:chExt cx="2914650" cy="571500"/>
          </a:xfrm>
        </p:grpSpPr>
        <p:sp>
          <p:nvSpPr>
            <p:cNvPr id="33" name="card2_label_4"/>
            <p:cNvSpPr/>
            <p:nvPr/>
          </p:nvSpPr>
          <p:spPr>
            <a:xfrm>
              <a:off x="4591050" y="50863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00A6D6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00A6D6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偏移</a:t>
              </a:r>
              <a:endParaRPr sz="1125" b="1">
                <a:solidFill>
                  <a:srgbClr val="00A6D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34" name="card2_value_4"/>
            <p:cNvSpPr/>
            <p:nvPr/>
          </p:nvSpPr>
          <p:spPr>
            <a:xfrm>
              <a:off x="5410200" y="50577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phase-app：通常提前给 App 预留绘制时间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35" name="card3_bg"/>
          <p:cNvSpPr>
            <a:spLocks noGrp="1"/>
          </p:cNvSpPr>
          <p:nvPr/>
        </p:nvSpPr>
        <p:spPr>
          <a:xfrm>
            <a:off x="8077200" y="1943100"/>
            <a:ext cx="35052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C"/>
            </a:solidFill>
            <a:prstDash val="solid"/>
          </a:ln>
        </p:spPr>
      </p:sp>
      <p:sp>
        <p:nvSpPr>
          <p:cNvPr id="36" name="card3_bar"/>
          <p:cNvSpPr>
            <a:spLocks noGrp="1"/>
          </p:cNvSpPr>
          <p:nvPr/>
        </p:nvSpPr>
        <p:spPr>
          <a:xfrm>
            <a:off x="8077200" y="1943100"/>
            <a:ext cx="57150" cy="4267200"/>
          </a:xfrm>
          <a:prstGeom prst="rect">
            <a:avLst/>
          </a:prstGeom>
          <a:solidFill>
            <a:srgbClr val="0FA6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pSp>
        <p:nvGrpSpPr>
          <p:cNvPr id="57" name="card3_header_group"/>
          <p:cNvGrpSpPr/>
          <p:nvPr/>
        </p:nvGrpSpPr>
        <p:grpSpPr>
          <a:xfrm>
            <a:off x="8305800" y="2181225"/>
            <a:ext cx="3009900" cy="533400"/>
            <a:chOff x="8305800" y="2181225"/>
            <a:chExt cx="3009900" cy="533400"/>
          </a:xfrm>
        </p:grpSpPr>
        <p:sp>
          <p:nvSpPr>
            <p:cNvPr id="37" name="card3_index"/>
            <p:cNvSpPr/>
            <p:nvPr/>
          </p:nvSpPr>
          <p:spPr>
            <a:xfrm>
              <a:off x="8305800" y="2209800"/>
              <a:ext cx="457200" cy="2857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650" b="1">
                  <a:solidFill>
                    <a:srgbClr val="0FA66A"/>
                  </a:solidFill>
                  <a:latin typeface="Aptos Mono"/>
                  <a:ea typeface="Aptos Mono"/>
                  <a:cs typeface="Aptos Mono"/>
                </a:defRPr>
              </a:pPr>
              <a:r>
                <a:rPr sz="1650" b="1">
                  <a:solidFill>
                    <a:srgbClr val="0FA66A"/>
                  </a:solidFill>
                  <a:latin typeface="Aptos Mono"/>
                  <a:ea typeface="Aptos Mono"/>
                  <a:cs typeface="Aptos Mono"/>
                </a:rPr>
                <a:t>03</a:t>
              </a:r>
              <a:endParaRPr sz="1650" b="1">
                <a:solidFill>
                  <a:srgbClr val="0FA66A"/>
                </a:solidFill>
                <a:latin typeface="Aptos Mono"/>
                <a:ea typeface="Aptos Mono"/>
                <a:cs typeface="Aptos Mono"/>
              </a:endParaRPr>
            </a:p>
          </p:txBody>
        </p:sp>
        <p:sp>
          <p:nvSpPr>
            <p:cNvPr id="38" name="card3_title"/>
            <p:cNvSpPr/>
            <p:nvPr/>
          </p:nvSpPr>
          <p:spPr>
            <a:xfrm>
              <a:off x="8801100" y="2181225"/>
              <a:ext cx="2514600" cy="533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65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65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VSync-sf 合成信号</a:t>
              </a:r>
              <a:endParaRPr sz="16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39" name="card3_rule"/>
          <p:cNvSpPr>
            <a:spLocks noGrp="1"/>
          </p:cNvSpPr>
          <p:nvPr/>
        </p:nvSpPr>
        <p:spPr>
          <a:xfrm>
            <a:off x="8305800" y="2809875"/>
            <a:ext cx="3048000" cy="9525"/>
          </a:xfrm>
          <a:prstGeom prst="rect">
            <a:avLst/>
          </a:prstGeom>
          <a:solidFill>
            <a:srgbClr val="EDF4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pSp>
        <p:nvGrpSpPr>
          <p:cNvPr id="58" name="card3_row1_group"/>
          <p:cNvGrpSpPr/>
          <p:nvPr/>
        </p:nvGrpSpPr>
        <p:grpSpPr>
          <a:xfrm>
            <a:off x="8324850" y="3114675"/>
            <a:ext cx="2914650" cy="571500"/>
            <a:chOff x="8324850" y="3114675"/>
            <a:chExt cx="2914650" cy="571500"/>
          </a:xfrm>
        </p:grpSpPr>
        <p:sp>
          <p:nvSpPr>
            <p:cNvPr id="40" name="card3_label_1"/>
            <p:cNvSpPr/>
            <p:nvPr/>
          </p:nvSpPr>
          <p:spPr>
            <a:xfrm>
              <a:off x="8324850" y="31432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0FA66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0FA66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产生方</a:t>
              </a:r>
              <a:endParaRPr sz="1125" b="1">
                <a:solidFill>
                  <a:srgbClr val="0FA6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41" name="card3_value_1"/>
            <p:cNvSpPr/>
            <p:nvPr/>
          </p:nvSpPr>
          <p:spPr>
            <a:xfrm>
              <a:off x="9144000" y="31146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1">
                  <a:solidFill>
                    <a:srgbClr val="172033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DispSync 基于 HW_VSYNC 偏移生成</a:t>
              </a:r>
              <a:endParaRPr sz="124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59" name="card3_row2_group"/>
          <p:cNvGrpSpPr/>
          <p:nvPr/>
        </p:nvGrpSpPr>
        <p:grpSpPr>
          <a:xfrm>
            <a:off x="8324850" y="3762375"/>
            <a:ext cx="2914650" cy="571500"/>
            <a:chOff x="8324850" y="3762375"/>
            <a:chExt cx="2914650" cy="571500"/>
          </a:xfrm>
        </p:grpSpPr>
        <p:sp>
          <p:nvSpPr>
            <p:cNvPr id="42" name="card3_label_2"/>
            <p:cNvSpPr/>
            <p:nvPr/>
          </p:nvSpPr>
          <p:spPr>
            <a:xfrm>
              <a:off x="8324850" y="37909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0FA66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0FA66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接收方</a:t>
              </a:r>
              <a:endParaRPr sz="1125" b="1">
                <a:solidFill>
                  <a:srgbClr val="0FA6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43" name="card3_value_2"/>
            <p:cNvSpPr/>
            <p:nvPr/>
          </p:nvSpPr>
          <p:spPr>
            <a:xfrm>
              <a:off x="9144000" y="37623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SurfaceFlinger 自身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60" name="card3_row3_group"/>
          <p:cNvGrpSpPr/>
          <p:nvPr/>
        </p:nvGrpSpPr>
        <p:grpSpPr>
          <a:xfrm>
            <a:off x="8324850" y="4410075"/>
            <a:ext cx="2914650" cy="571500"/>
            <a:chOff x="8324850" y="4410075"/>
            <a:chExt cx="2914650" cy="571500"/>
          </a:xfrm>
        </p:grpSpPr>
        <p:sp>
          <p:nvSpPr>
            <p:cNvPr id="44" name="card3_label_3"/>
            <p:cNvSpPr/>
            <p:nvPr/>
          </p:nvSpPr>
          <p:spPr>
            <a:xfrm>
              <a:off x="8324850" y="44386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0FA66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0FA66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作用</a:t>
              </a:r>
              <a:endParaRPr sz="1125" b="1">
                <a:solidFill>
                  <a:srgbClr val="0FA6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45" name="card3_value_3"/>
            <p:cNvSpPr/>
            <p:nvPr/>
          </p:nvSpPr>
          <p:spPr>
            <a:xfrm>
              <a:off x="9144000" y="44100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触发 SF 合成 App 与系统 UI 图层，完成后交给 HWC 显示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grpSp>
        <p:nvGrpSpPr>
          <p:cNvPr id="61" name="card3_row4_group"/>
          <p:cNvGrpSpPr/>
          <p:nvPr/>
        </p:nvGrpSpPr>
        <p:grpSpPr>
          <a:xfrm>
            <a:off x="8324850" y="5057775"/>
            <a:ext cx="2914650" cy="571500"/>
            <a:chOff x="8324850" y="5057775"/>
            <a:chExt cx="2914650" cy="571500"/>
          </a:xfrm>
        </p:grpSpPr>
        <p:sp>
          <p:nvSpPr>
            <p:cNvPr id="46" name="card3_label_4"/>
            <p:cNvSpPr/>
            <p:nvPr/>
          </p:nvSpPr>
          <p:spPr>
            <a:xfrm>
              <a:off x="8324850" y="5086350"/>
              <a:ext cx="723900" cy="24765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125" b="1">
                  <a:solidFill>
                    <a:srgbClr val="0FA66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125" b="1">
                  <a:solidFill>
                    <a:srgbClr val="0FA66A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偏移</a:t>
              </a:r>
              <a:endParaRPr sz="1125" b="1">
                <a:solidFill>
                  <a:srgbClr val="0FA6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2" name="card3_value_4"/>
            <p:cNvSpPr/>
            <p:nvPr/>
          </p:nvSpPr>
          <p:spPr>
            <a:xfrm>
              <a:off x="9144000" y="5057775"/>
              <a:ext cx="2095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lstStyle/>
            <a:p>
              <a:pPr algn="l">
                <a:def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40" b="0">
                  <a:solidFill>
                    <a:srgbClr val="64748B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phase-sf：通常晚于 App，确保先画完再合成</a:t>
              </a:r>
              <a:endParaRPr sz="1240" b="0">
                <a:solidFill>
                  <a:srgbClr val="64748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2" name="矩形 1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8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819150"/>
            <a:ext cx="10096500" cy="120840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在没有</a:t>
            </a:r>
            <a:r>
              <a:rPr lang="en-US" altLang="zh-CN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VSync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的情况下，系统渲染的节奏与屏幕刷新的节奏不一致，如果某一帧系统渲染的比较晚，那么就会出现屏幕两次刷新都显示同一份内容的情况，也就是</a:t>
            </a:r>
            <a:r>
              <a:rPr lang="en-US" altLang="zh-CN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Jank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（掉帧）。</a:t>
            </a:r>
            <a:endParaRPr lang="zh-CN" altLang="en-US" sz="2250" b="0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6" name="矩形 235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14" name="图片 13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2287905"/>
            <a:ext cx="11107420" cy="400050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819150"/>
            <a:ext cx="1009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有了</a:t>
            </a:r>
            <a:r>
              <a:rPr lang="en-US" altLang="zh-CN" sz="2250" b="0">
                <a:solidFill>
                  <a:schemeClr val="tx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VSync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的话，系统会在</a:t>
            </a:r>
            <a:r>
              <a:rPr lang="en-US" altLang="zh-CN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VSync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到来时进行绘制，与屏幕的刷新节奏保持一致，这样就大大降低了</a:t>
            </a:r>
            <a:r>
              <a:rPr lang="en-US" altLang="zh-CN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jank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的概率。</a:t>
            </a:r>
            <a:endParaRPr lang="zh-CN" altLang="en-US" sz="2250" b="0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6" name="矩形 235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609600" y="2226310"/>
            <a:ext cx="10668000" cy="4048125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00" b="0">
                <a:solidFill>
                  <a:srgbClr val="66708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Android 渲染机制解读</a:t>
            </a:r>
            <a:endParaRPr sz="1000" b="0">
              <a:solidFill>
                <a:srgbClr val="66708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00" b="1">
                <a:solidFill>
                  <a:srgbClr val="98A2B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" panose="020B0400000000000000" charset="-122"/>
              </a:rPr>
              <a:t>11</a:t>
            </a:r>
            <a:endParaRPr lang="en-US" sz="1000" b="1">
              <a:solidFill>
                <a:srgbClr val="98A2B3"/>
              </a:solidFill>
              <a:latin typeface="PingFang SC Regular" panose="020B0400000000000000" charset="-122"/>
              <a:ea typeface="PingFang SC Regular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812165"/>
            <a:ext cx="4095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28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00">
                <a:solidFill>
                  <a:srgbClr val="17203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3.</a:t>
            </a:r>
            <a:r>
              <a:rPr lang="en-US" sz="2800">
                <a:solidFill>
                  <a:srgbClr val="17203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 </a:t>
            </a:r>
            <a:r>
              <a:rPr lang="zh-CN" altLang="en-US" sz="2800">
                <a:solidFill>
                  <a:srgbClr val="17203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同步屏障</a:t>
            </a:r>
            <a:endParaRPr lang="zh-CN" altLang="en-US" sz="2800">
              <a:solidFill>
                <a:srgbClr val="172033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文本框 7"/>
          <p:cNvSpPr txBox="1"/>
          <p:nvPr/>
        </p:nvSpPr>
        <p:spPr>
          <a:xfrm>
            <a:off x="609600" y="2118995"/>
            <a:ext cx="10411460" cy="3696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Android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将消息分为两种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：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一种是叫异步消息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例如</a:t>
            </a:r>
            <a:r>
              <a:rPr lang="en-US" altLang="zh-CN" sz="220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UI</a:t>
            </a:r>
            <a:r>
              <a:rPr lang="zh-CN" altLang="en-US" sz="220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渲染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），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一种叫同步消息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普通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Message）</a:t>
            </a:r>
            <a:endParaRPr lang="en-US" altLang="zh-CN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en-US" altLang="zh-CN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当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UI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请求刷新时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如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invalidate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），ViewRootImpl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会向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MessageQueue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插入一道屏障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en-US" altLang="zh-CN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en-US" altLang="zh-CN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屏障会临时挡住所有同步消息，只放行</a:t>
            </a:r>
            <a:r>
              <a:rPr lang="zh-CN" altLang="en-US" sz="220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异步消息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，从而让高优先级任务（如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</a:t>
            </a:r>
            <a:r>
              <a:rPr lang="en-US" altLang="zh-CN" sz="220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UI</a:t>
            </a:r>
            <a:r>
              <a:rPr lang="en-US" altLang="zh-CN" sz="2200">
                <a:solidFill>
                  <a:srgbClr val="C0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 </a:t>
            </a:r>
            <a:r>
              <a:rPr lang="zh-CN" altLang="en-US" sz="2200">
                <a:solidFill>
                  <a:srgbClr val="FF0000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渲染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）优先执行。</a:t>
            </a: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>
              <a:lnSpc>
                <a:spcPct val="130000"/>
              </a:lnSpc>
            </a:pPr>
            <a:endParaRPr lang="en-US" altLang="zh-CN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819150"/>
            <a:ext cx="10096500" cy="82105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没有引入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同步屏障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下，</a:t>
            </a:r>
            <a:r>
              <a:rPr lang="en-US" altLang="zh-CN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UI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绘制消息排队执行，在</a:t>
            </a:r>
            <a:r>
              <a:rPr lang="en-US" altLang="zh-CN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VSync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到来的时候没有及时进行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绘制。</a:t>
            </a:r>
            <a:endParaRPr lang="zh-CN" altLang="en-US" sz="2250" b="0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6" name="矩形 235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6" name="图片 5" descr="无同步屏障（精简版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71295"/>
            <a:ext cx="9085580" cy="5175885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790575" y="803275"/>
            <a:ext cx="10096500" cy="4565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加入同步屏障后，</a:t>
            </a:r>
            <a:r>
              <a:rPr lang="en-US" altLang="zh-CN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UI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绘制消息优先执行，其他普通消息被挡在屏障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外</a:t>
            </a:r>
            <a:endParaRPr lang="zh-CN" altLang="en-US" sz="2250" b="0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6" name="矩形 235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" name="图片 2" descr="有消息屏障（精简版）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65885"/>
            <a:ext cx="9841865" cy="5337175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13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6" name="矩形 235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" panose="020B0400000000000000" charset="-122"/>
              </a:rPr>
              <a:t>14</a:t>
            </a:r>
            <a:endParaRPr lang="en-US" sz="1050" b="1">
              <a:solidFill>
                <a:srgbClr val="98A2B3"/>
              </a:solidFill>
              <a:latin typeface="PingFang SC Regular" panose="020B0400000000000000" charset="-122"/>
              <a:ea typeface="PingFang SC Regular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812165"/>
            <a:ext cx="4512945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2850" b="1">
                <a:solidFill>
                  <a:srgbClr val="17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850" b="1">
                <a:solidFill>
                  <a:srgbClr val="1720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3.</a:t>
            </a:r>
            <a:r>
              <a:rPr lang="en-US" sz="2850" b="1">
                <a:solidFill>
                  <a:srgbClr val="1720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3 </a:t>
            </a:r>
            <a:r>
              <a:rPr lang="en-US" altLang="zh-CN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Triple Buffer</a:t>
            </a:r>
            <a:r>
              <a:rPr lang="zh-CN" altLang="en-US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（三</a:t>
            </a:r>
            <a:r>
              <a:rPr lang="zh-CN" altLang="en-US">
                <a:solidFill>
                  <a:schemeClr val="tx1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缓冲）</a:t>
            </a:r>
            <a:endParaRPr lang="zh-CN" altLang="en-US" sz="2850" b="1">
              <a:solidFill>
                <a:schemeClr val="tx1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</p:txBody>
      </p:sp>
      <p:sp>
        <p:nvSpPr>
          <p:cNvPr id="4" name="圆角矩形 3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文本框 7"/>
          <p:cNvSpPr txBox="1"/>
          <p:nvPr/>
        </p:nvSpPr>
        <p:spPr>
          <a:xfrm>
            <a:off x="609600" y="1962150"/>
            <a:ext cx="10411460" cy="43440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Android 4.1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（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Project Butter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）引入三缓冲机制，在双缓冲基础上增加一个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Back Buffer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三个缓冲区轮转使用：</a:t>
            </a: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457200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- Display Buffer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：显示器正在扫描</a:t>
            </a: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457200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- GPU Buffer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：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GPU 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正在合成</a:t>
            </a: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457200">
              <a:lnSpc>
                <a:spcPct val="130000"/>
              </a:lnSpc>
              <a:buFont typeface="Arial" panose="020B0604020202090204" pitchFamily="34" charset="0"/>
              <a:buNone/>
            </a:pP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- CPU Buffer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：</a:t>
            </a:r>
            <a:r>
              <a:rPr lang="en-US" altLang="zh-CN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CPU 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正在准备下一帧</a:t>
            </a: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sym typeface="+mn-ea"/>
            </a:endParaRPr>
          </a:p>
          <a:p>
            <a:pPr indent="457200">
              <a:lnSpc>
                <a:spcPct val="130000"/>
              </a:lnSpc>
              <a:buFont typeface="Arial" panose="020B0604020202090204" pitchFamily="34" charset="0"/>
              <a:buNone/>
            </a:pP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90204" pitchFamily="34" charset="0"/>
              <a:buChar char="•"/>
            </a:pP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目的是为了减少连续的</a:t>
            </a:r>
            <a:r>
              <a:rPr lang="zh-CN" altLang="en-US" sz="2200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掉帧</a:t>
            </a: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indent="457200">
              <a:lnSpc>
                <a:spcPct val="130000"/>
              </a:lnSpc>
              <a:buFont typeface="Arial" panose="020B0604020202090204" pitchFamily="34" charset="0"/>
              <a:buNone/>
            </a:pPr>
            <a:endParaRPr lang="zh-CN" altLang="en-US" sz="2200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819150"/>
            <a:ext cx="10096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b="0">
                <a:sym typeface="+mn-ea"/>
              </a:rPr>
              <a:t>理想情况下的双</a:t>
            </a:r>
            <a:r>
              <a:rPr lang="en-US" altLang="zh-CN" b="0">
                <a:sym typeface="+mn-ea"/>
              </a:rPr>
              <a:t>buffer</a:t>
            </a:r>
            <a:r>
              <a:rPr lang="zh-CN" altLang="en-US" b="0">
                <a:sym typeface="+mn-ea"/>
              </a:rPr>
              <a:t>是没有问题的，但如果绘制时长超过了一个</a:t>
            </a:r>
            <a:r>
              <a:rPr lang="en-US" altLang="zh-CN" b="0">
                <a:sym typeface="+mn-ea"/>
              </a:rPr>
              <a:t>VSync</a:t>
            </a:r>
            <a:r>
              <a:rPr lang="zh-CN" altLang="en-US" b="0">
                <a:sym typeface="+mn-ea"/>
              </a:rPr>
              <a:t>周期，那么就必然会发生</a:t>
            </a:r>
            <a:r>
              <a:rPr lang="en-US" altLang="zh-CN" b="0">
                <a:sym typeface="+mn-ea"/>
              </a:rPr>
              <a:t>jank</a:t>
            </a:r>
            <a:r>
              <a:rPr lang="zh-CN" altLang="en-US" b="0">
                <a:sym typeface="+mn-ea"/>
              </a:rPr>
              <a:t>。如下图所示</a:t>
            </a:r>
            <a:endParaRPr lang="zh-CN" altLang="en-US" b="0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2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en-US" altLang="zh-CN" b="0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>
              <a:defRPr sz="22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lang="zh-CN" altLang="en-US" sz="2250" b="0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6" name="矩形 235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" name="图片 2" descr="53901dc4f5521676993d484a2d3b0fcc~tplv-be4g95zd3a-image"/>
          <p:cNvPicPr>
            <a:picLocks noChangeAspect="1"/>
          </p:cNvPicPr>
          <p:nvPr/>
        </p:nvPicPr>
        <p:blipFill>
          <a:blip r:embed="rId1"/>
          <a:srcRect b="13580"/>
          <a:stretch>
            <a:fillRect/>
          </a:stretch>
        </p:blipFill>
        <p:spPr>
          <a:xfrm>
            <a:off x="1188085" y="2075815"/>
            <a:ext cx="9502140" cy="4594860"/>
          </a:xfrm>
          <a:prstGeom prst="rect">
            <a:avLst/>
          </a:prstGeom>
        </p:spPr>
      </p:pic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15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85800" y="819150"/>
            <a:ext cx="10096500" cy="147701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250" b="0"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三缓冲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机制实际上就是在上述backbuffer和frontbuffer的基础上，再添加一块buffer进行轮转。在这样的情况下，同样假设有两帧的绘制就是大于一个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VSync周期，那么只会造成一次Ja</a:t>
            </a:r>
            <a:r>
              <a:rPr lang="en-US" altLang="zh-CN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nk</a:t>
            </a:r>
            <a:r>
              <a:rPr lang="zh-CN" altLang="en-US" sz="2250" b="0">
                <a:solidFill>
                  <a:srgbClr val="10203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lang="zh-CN" altLang="en-US" sz="2250" b="0">
              <a:solidFill>
                <a:srgbClr val="10203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6" name="矩形 235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7" name="矩形 236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4" name="图片 3" descr="44290ab5c3385bba7538e56b6484ca29~tplv-be4g95zd3a-image"/>
          <p:cNvPicPr>
            <a:picLocks noChangeAspect="1"/>
          </p:cNvPicPr>
          <p:nvPr/>
        </p:nvPicPr>
        <p:blipFill>
          <a:blip r:embed="rId1"/>
          <a:srcRect b="10627"/>
          <a:stretch>
            <a:fillRect/>
          </a:stretch>
        </p:blipFill>
        <p:spPr>
          <a:xfrm>
            <a:off x="1063625" y="2296160"/>
            <a:ext cx="9718675" cy="4458970"/>
          </a:xfrm>
          <a:prstGeom prst="rect">
            <a:avLst/>
          </a:prstGeom>
        </p:spPr>
      </p:pic>
      <p:sp>
        <p:nvSpPr>
          <p:cNvPr id="3" name="矩形 2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16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4" name="header-rule"/>
          <p:cNvSpPr>
            <a:spLocks noGrp="1"/>
          </p:cNvSpPr>
          <p:nvPr/>
        </p:nvSpPr>
        <p:spPr>
          <a:xfrm>
            <a:off x="609600" y="685800"/>
            <a:ext cx="10668000" cy="13335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"/>
          <p:cNvSpPr>
            <a:spLocks noGrp="1"/>
          </p:cNvSpPr>
          <p:nvPr/>
        </p:nvSpPr>
        <p:spPr>
          <a:xfrm>
            <a:off x="609600" y="3238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page-number"/>
          <p:cNvSpPr>
            <a:spLocks noGrp="1"/>
          </p:cNvSpPr>
          <p:nvPr/>
        </p:nvSpPr>
        <p:spPr>
          <a:xfrm>
            <a:off x="10896600" y="3048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lang="en-US" sz="975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17</a:t>
            </a:r>
            <a:endParaRPr lang="en-US" sz="975" b="1">
              <a:solidFill>
                <a:srgbClr val="98A2B3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8" name="title-en"/>
          <p:cNvSpPr>
            <a:spLocks noGrp="1"/>
          </p:cNvSpPr>
          <p:nvPr/>
        </p:nvSpPr>
        <p:spPr>
          <a:xfrm>
            <a:off x="609600" y="1447800"/>
            <a:ext cx="3486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570E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2100" b="1">
                <a:solidFill>
                  <a:srgbClr val="1570E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Choreographer</a:t>
            </a:r>
            <a:endParaRPr sz="2100" b="1">
              <a:solidFill>
                <a:srgbClr val="1570EF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9" name="lead"/>
          <p:cNvSpPr>
            <a:spLocks noGrp="1"/>
          </p:cNvSpPr>
          <p:nvPr/>
        </p:nvSpPr>
        <p:spPr>
          <a:xfrm>
            <a:off x="609600" y="1866900"/>
            <a:ext cx="609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defRPr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275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是</a:t>
            </a:r>
            <a:r>
              <a:rPr lang="en-US" altLang="zh-CN" sz="1275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App </a:t>
            </a:r>
            <a:r>
              <a:rPr lang="zh-CN" altLang="en-US" sz="1275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接收</a:t>
            </a:r>
            <a:r>
              <a:rPr lang="en-US" altLang="zh-CN" sz="1275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VSync </a:t>
            </a:r>
            <a:r>
              <a:rPr lang="zh-CN" altLang="en-US" sz="1275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的入口</a:t>
            </a:r>
            <a:r>
              <a:rPr lang="en-US" altLang="zh-CN"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用于接收系统 </a:t>
            </a:r>
            <a:r>
              <a:rPr lang="en-US" altLang="zh-CN"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VSync </a:t>
            </a:r>
            <a:r>
              <a:rPr lang="zh-CN" altLang="en-US"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信号、再把输入/动画/绘制三类回调按序分发出去执行</a:t>
            </a:r>
            <a:endParaRPr lang="zh-CN" altLang="en-US" sz="1275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left-content-panel"/>
          <p:cNvSpPr>
            <a:spLocks noGrp="1"/>
          </p:cNvSpPr>
          <p:nvPr/>
        </p:nvSpPr>
        <p:spPr>
          <a:xfrm>
            <a:off x="609600" y="2533650"/>
            <a:ext cx="6229350" cy="3352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1" name="core-heading"/>
          <p:cNvSpPr>
            <a:spLocks noGrp="1"/>
          </p:cNvSpPr>
          <p:nvPr/>
        </p:nvSpPr>
        <p:spPr>
          <a:xfrm>
            <a:off x="876300" y="2781300"/>
            <a:ext cx="1143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核心作用</a:t>
            </a:r>
            <a:endParaRPr sz="135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2" name="content-tag"/>
          <p:cNvSpPr>
            <a:spLocks noGrp="1"/>
          </p:cNvSpPr>
          <p:nvPr/>
        </p:nvSpPr>
        <p:spPr>
          <a:xfrm>
            <a:off x="5753100" y="2819400"/>
            <a:ext cx="8001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40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640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FRAME SCHEDULING</a:t>
            </a:r>
            <a:endParaRPr sz="640" b="1">
              <a:solidFill>
                <a:srgbClr val="98A2B3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3" name="content-divider"/>
          <p:cNvSpPr>
            <a:spLocks noGrp="1"/>
          </p:cNvSpPr>
          <p:nvPr/>
        </p:nvSpPr>
        <p:spPr>
          <a:xfrm>
            <a:off x="876300" y="3105150"/>
            <a:ext cx="56769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core-1-dot"/>
          <p:cNvSpPr>
            <a:spLocks noGrp="1"/>
          </p:cNvSpPr>
          <p:nvPr/>
        </p:nvSpPr>
        <p:spPr>
          <a:xfrm>
            <a:off x="914400" y="3409950"/>
            <a:ext cx="266700" cy="266700"/>
          </a:xfrm>
          <a:prstGeom prst="ellipse">
            <a:avLst/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ore-1-number"/>
          <p:cNvSpPr>
            <a:spLocks noGrp="1"/>
          </p:cNvSpPr>
          <p:nvPr/>
        </p:nvSpPr>
        <p:spPr>
          <a:xfrm>
            <a:off x="942975" y="341947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</a:t>
            </a:r>
            <a:endParaRPr sz="975" b="1">
              <a:solidFill>
                <a:srgbClr val="FFFFFF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6" name="core-1-title"/>
          <p:cNvSpPr>
            <a:spLocks noGrp="1"/>
          </p:cNvSpPr>
          <p:nvPr/>
        </p:nvSpPr>
        <p:spPr>
          <a:xfrm>
            <a:off x="1314450" y="33528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接收 Vsync 信号</a:t>
            </a:r>
            <a:endParaRPr sz="135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7" name="core-1-body"/>
          <p:cNvSpPr>
            <a:spLocks noGrp="1"/>
          </p:cNvSpPr>
          <p:nvPr/>
        </p:nvSpPr>
        <p:spPr>
          <a:xfrm>
            <a:off x="1314450" y="3638550"/>
            <a:ext cx="533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def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屏幕硬件以固定频率（60/90/120Hz）发出 Vsync 脉冲，Choreographer 是系统唯一接收方。</a:t>
            </a:r>
            <a:endParaRPr sz="1125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core-2-dot"/>
          <p:cNvSpPr>
            <a:spLocks noGrp="1"/>
          </p:cNvSpPr>
          <p:nvPr/>
        </p:nvSpPr>
        <p:spPr>
          <a:xfrm>
            <a:off x="914400" y="4305300"/>
            <a:ext cx="266700" cy="26670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core-2-number"/>
          <p:cNvSpPr>
            <a:spLocks noGrp="1"/>
          </p:cNvSpPr>
          <p:nvPr/>
        </p:nvSpPr>
        <p:spPr>
          <a:xfrm>
            <a:off x="942975" y="431482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endParaRPr sz="975" b="1">
              <a:solidFill>
                <a:srgbClr val="FFFFFF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0" name="core-2-title"/>
          <p:cNvSpPr>
            <a:spLocks noGrp="1"/>
          </p:cNvSpPr>
          <p:nvPr/>
        </p:nvSpPr>
        <p:spPr>
          <a:xfrm>
            <a:off x="1314450" y="424815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统一调度绘制任务</a:t>
            </a:r>
            <a:endParaRPr sz="135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1" name="core-2-body"/>
          <p:cNvSpPr>
            <a:spLocks noGrp="1"/>
          </p:cNvSpPr>
          <p:nvPr/>
        </p:nvSpPr>
        <p:spPr>
          <a:xfrm>
            <a:off x="1314450" y="4533900"/>
            <a:ext cx="533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0000"/>
              </a:lnSpc>
              <a:def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收到信号后，按顺序执行：输入事件 → 动画 → 测量 → 布局 → 绘制，形成 View 完整渲染流程。</a:t>
            </a:r>
            <a:endParaRPr sz="1125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core-3-dot"/>
          <p:cNvSpPr>
            <a:spLocks noGrp="1"/>
          </p:cNvSpPr>
          <p:nvPr/>
        </p:nvSpPr>
        <p:spPr>
          <a:xfrm>
            <a:off x="914400" y="5200650"/>
            <a:ext cx="266700" cy="26670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core-3-number"/>
          <p:cNvSpPr>
            <a:spLocks noGrp="1"/>
          </p:cNvSpPr>
          <p:nvPr/>
        </p:nvSpPr>
        <p:spPr>
          <a:xfrm>
            <a:off x="942975" y="521017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</a:t>
            </a:r>
            <a:endParaRPr sz="975" b="1">
              <a:solidFill>
                <a:srgbClr val="FFFFFF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4" name="core-3-title"/>
          <p:cNvSpPr>
            <a:spLocks noGrp="1"/>
          </p:cNvSpPr>
          <p:nvPr/>
        </p:nvSpPr>
        <p:spPr>
          <a:xfrm>
            <a:off x="1314450" y="5143500"/>
            <a:ext cx="2667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防画面撕裂、丢帧</a:t>
            </a:r>
            <a:endParaRPr sz="135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5" name="core-3-body"/>
          <p:cNvSpPr>
            <a:spLocks noGrp="1"/>
          </p:cNvSpPr>
          <p:nvPr/>
        </p:nvSpPr>
        <p:spPr>
          <a:xfrm>
            <a:off x="1314450" y="5429250"/>
            <a:ext cx="5334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 App 绘制和屏幕刷新精准对齐，避免画面断层、卡顿、掉帧。</a:t>
            </a:r>
            <a:endParaRPr sz="1125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flow-panel"/>
          <p:cNvSpPr>
            <a:spLocks noGrp="1"/>
          </p:cNvSpPr>
          <p:nvPr/>
        </p:nvSpPr>
        <p:spPr>
          <a:xfrm>
            <a:off x="7143750" y="1066800"/>
            <a:ext cx="4133850" cy="5147945"/>
          </a:xfrm>
          <a:prstGeom prst="roundRect">
            <a:avLst>
              <a:gd name="adj" fmla="val 1843"/>
            </a:avLst>
          </a:prstGeom>
          <a:solidFill>
            <a:srgbClr val="FFFFFF"/>
          </a:solidFill>
          <a:ln w="9525">
            <a:solidFill>
              <a:srgbClr val="D6E4FF"/>
            </a:solidFill>
            <a:prstDash val="solid"/>
          </a:ln>
        </p:spPr>
      </p:sp>
      <p:sp>
        <p:nvSpPr>
          <p:cNvPr id="27" name="flow-title"/>
          <p:cNvSpPr>
            <a:spLocks noGrp="1"/>
          </p:cNvSpPr>
          <p:nvPr/>
        </p:nvSpPr>
        <p:spPr>
          <a:xfrm>
            <a:off x="7486650" y="13906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6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一帧里的调度顺序</a:t>
            </a:r>
            <a:endParaRPr sz="165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8" name="flow-subtitle"/>
          <p:cNvSpPr>
            <a:spLocks noGrp="1"/>
          </p:cNvSpPr>
          <p:nvPr/>
        </p:nvSpPr>
        <p:spPr>
          <a:xfrm>
            <a:off x="7486650" y="1695450"/>
            <a:ext cx="3238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6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Vsync pulse -&gt; UI thread callbacks -&gt; render work</a:t>
            </a:r>
            <a:endParaRPr sz="86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flow-rule"/>
          <p:cNvSpPr>
            <a:spLocks noGrp="1"/>
          </p:cNvSpPr>
          <p:nvPr/>
        </p:nvSpPr>
        <p:spPr>
          <a:xfrm>
            <a:off x="7486650" y="2038350"/>
            <a:ext cx="3143250" cy="9525"/>
          </a:xfrm>
          <a:prstGeom prst="rect">
            <a:avLst/>
          </a:prstGeom>
          <a:solidFill>
            <a:srgbClr val="D6E4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flow-Vsync-box"/>
          <p:cNvSpPr>
            <a:spLocks noGrp="1"/>
          </p:cNvSpPr>
          <p:nvPr/>
        </p:nvSpPr>
        <p:spPr>
          <a:xfrm>
            <a:off x="7658100" y="2266950"/>
            <a:ext cx="3181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31" name="flow-Vsync-dot"/>
          <p:cNvSpPr>
            <a:spLocks noGrp="1"/>
          </p:cNvSpPr>
          <p:nvPr/>
        </p:nvSpPr>
        <p:spPr>
          <a:xfrm>
            <a:off x="7791450" y="2438400"/>
            <a:ext cx="171450" cy="171450"/>
          </a:xfrm>
          <a:prstGeom prst="ellipse">
            <a:avLst/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flow-Vsync-label"/>
          <p:cNvSpPr>
            <a:spLocks noGrp="1"/>
          </p:cNvSpPr>
          <p:nvPr/>
        </p:nvSpPr>
        <p:spPr>
          <a:xfrm>
            <a:off x="8067675" y="2362200"/>
            <a:ext cx="26479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Vsync</a:t>
            </a:r>
            <a:endParaRPr sz="1125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3" name="flow-Vsync-sub"/>
          <p:cNvSpPr>
            <a:spLocks noGrp="1"/>
          </p:cNvSpPr>
          <p:nvPr/>
        </p:nvSpPr>
        <p:spPr>
          <a:xfrm>
            <a:off x="8067675" y="2562225"/>
            <a:ext cx="2647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屏幕刷新脉冲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4" name="flow-line-0"/>
          <p:cNvSpPr>
            <a:spLocks noGrp="1"/>
          </p:cNvSpPr>
          <p:nvPr/>
        </p:nvSpPr>
        <p:spPr>
          <a:xfrm>
            <a:off x="9239250" y="2800350"/>
            <a:ext cx="19050" cy="190500"/>
          </a:xfrm>
          <a:prstGeom prst="rect">
            <a:avLst/>
          </a:prstGeom>
          <a:solidFill>
            <a:srgbClr val="B9C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flow-arrow-0"/>
          <p:cNvSpPr>
            <a:spLocks noGrp="1"/>
          </p:cNvSpPr>
          <p:nvPr/>
        </p:nvSpPr>
        <p:spPr>
          <a:xfrm>
            <a:off x="9163050" y="29337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↓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flow-Choreographer-box"/>
          <p:cNvSpPr>
            <a:spLocks noGrp="1"/>
          </p:cNvSpPr>
          <p:nvPr/>
        </p:nvSpPr>
        <p:spPr>
          <a:xfrm>
            <a:off x="7658100" y="2914650"/>
            <a:ext cx="3181350" cy="514350"/>
          </a:xfrm>
          <a:prstGeom prst="roundRect">
            <a:avLst>
              <a:gd name="adj" fmla="val 14815"/>
            </a:avLst>
          </a:prstGeom>
          <a:solidFill>
            <a:srgbClr val="ECFDF3"/>
          </a:solidFill>
          <a:ln w="9525">
            <a:solidFill>
              <a:srgbClr val="86EFAC"/>
            </a:solidFill>
            <a:prstDash val="solid"/>
          </a:ln>
        </p:spPr>
      </p:sp>
      <p:sp>
        <p:nvSpPr>
          <p:cNvPr id="37" name="flow-Choreographer-dot"/>
          <p:cNvSpPr>
            <a:spLocks noGrp="1"/>
          </p:cNvSpPr>
          <p:nvPr/>
        </p:nvSpPr>
        <p:spPr>
          <a:xfrm>
            <a:off x="7791450" y="3086100"/>
            <a:ext cx="171450" cy="17145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flow-Choreographer-label"/>
          <p:cNvSpPr>
            <a:spLocks noGrp="1"/>
          </p:cNvSpPr>
          <p:nvPr/>
        </p:nvSpPr>
        <p:spPr>
          <a:xfrm>
            <a:off x="8067675" y="3009900"/>
            <a:ext cx="26479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Choreographer</a:t>
            </a:r>
            <a:r>
              <a:rPr lang="en-US"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#</a:t>
            </a:r>
            <a:r>
              <a:rPr lang="en-US"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doFrame</a:t>
            </a:r>
            <a:endParaRPr lang="en-US" sz="1125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9" name="flow-Choreographer-sub"/>
          <p:cNvSpPr>
            <a:spLocks noGrp="1"/>
          </p:cNvSpPr>
          <p:nvPr/>
        </p:nvSpPr>
        <p:spPr>
          <a:xfrm>
            <a:off x="8067675" y="3209925"/>
            <a:ext cx="2647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UI 线程帧调度核心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flow-line-1"/>
          <p:cNvSpPr>
            <a:spLocks noGrp="1"/>
          </p:cNvSpPr>
          <p:nvPr/>
        </p:nvSpPr>
        <p:spPr>
          <a:xfrm>
            <a:off x="9239250" y="3448050"/>
            <a:ext cx="19050" cy="190500"/>
          </a:xfrm>
          <a:prstGeom prst="rect">
            <a:avLst/>
          </a:prstGeom>
          <a:solidFill>
            <a:srgbClr val="B9C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flow-arrow-1"/>
          <p:cNvSpPr>
            <a:spLocks noGrp="1"/>
          </p:cNvSpPr>
          <p:nvPr/>
        </p:nvSpPr>
        <p:spPr>
          <a:xfrm>
            <a:off x="9163050" y="35814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↓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2" name="flow-Input / Animation-box"/>
          <p:cNvSpPr>
            <a:spLocks noGrp="1"/>
          </p:cNvSpPr>
          <p:nvPr/>
        </p:nvSpPr>
        <p:spPr>
          <a:xfrm>
            <a:off x="7658100" y="3562350"/>
            <a:ext cx="3181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43" name="flow-Input / Animation-dot"/>
          <p:cNvSpPr>
            <a:spLocks noGrp="1"/>
          </p:cNvSpPr>
          <p:nvPr/>
        </p:nvSpPr>
        <p:spPr>
          <a:xfrm>
            <a:off x="7791450" y="3733800"/>
            <a:ext cx="171450" cy="171450"/>
          </a:xfrm>
          <a:prstGeom prst="ellipse">
            <a:avLst/>
          </a:prstGeom>
          <a:solidFill>
            <a:srgbClr val="60A5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flow-Input / Animation-label"/>
          <p:cNvSpPr>
            <a:spLocks noGrp="1"/>
          </p:cNvSpPr>
          <p:nvPr/>
        </p:nvSpPr>
        <p:spPr>
          <a:xfrm>
            <a:off x="8067675" y="3657600"/>
            <a:ext cx="26479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Input / Animation</a:t>
            </a:r>
            <a:endParaRPr sz="1125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5" name="flow-Input / Animation-sub"/>
          <p:cNvSpPr>
            <a:spLocks noGrp="1"/>
          </p:cNvSpPr>
          <p:nvPr/>
        </p:nvSpPr>
        <p:spPr>
          <a:xfrm>
            <a:off x="8067675" y="3857625"/>
            <a:ext cx="2647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输入事件与动画回调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flow-line-2"/>
          <p:cNvSpPr>
            <a:spLocks noGrp="1"/>
          </p:cNvSpPr>
          <p:nvPr/>
        </p:nvSpPr>
        <p:spPr>
          <a:xfrm>
            <a:off x="9239250" y="4095750"/>
            <a:ext cx="19050" cy="190500"/>
          </a:xfrm>
          <a:prstGeom prst="rect">
            <a:avLst/>
          </a:prstGeom>
          <a:solidFill>
            <a:srgbClr val="B9C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flow-arrow-2"/>
          <p:cNvSpPr>
            <a:spLocks noGrp="1"/>
          </p:cNvSpPr>
          <p:nvPr/>
        </p:nvSpPr>
        <p:spPr>
          <a:xfrm>
            <a:off x="9163050" y="42291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↓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flow-Measure / Layout-box"/>
          <p:cNvSpPr>
            <a:spLocks noGrp="1"/>
          </p:cNvSpPr>
          <p:nvPr/>
        </p:nvSpPr>
        <p:spPr>
          <a:xfrm>
            <a:off x="7658100" y="4210050"/>
            <a:ext cx="3181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49" name="flow-Measure / Layout-dot"/>
          <p:cNvSpPr>
            <a:spLocks noGrp="1"/>
          </p:cNvSpPr>
          <p:nvPr/>
        </p:nvSpPr>
        <p:spPr>
          <a:xfrm>
            <a:off x="7791450" y="4381500"/>
            <a:ext cx="171450" cy="171450"/>
          </a:xfrm>
          <a:prstGeom prst="ellipse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flow-Measure / Layout-label"/>
          <p:cNvSpPr>
            <a:spLocks noGrp="1"/>
          </p:cNvSpPr>
          <p:nvPr/>
        </p:nvSpPr>
        <p:spPr>
          <a:xfrm>
            <a:off x="8067675" y="4305300"/>
            <a:ext cx="26479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Measure / Layout</a:t>
            </a:r>
            <a:endParaRPr sz="1125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51" name="flow-Measure / Layout-sub"/>
          <p:cNvSpPr>
            <a:spLocks noGrp="1"/>
          </p:cNvSpPr>
          <p:nvPr/>
        </p:nvSpPr>
        <p:spPr>
          <a:xfrm>
            <a:off x="8067675" y="4505325"/>
            <a:ext cx="2647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测量与布局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flow-line-3"/>
          <p:cNvSpPr>
            <a:spLocks noGrp="1"/>
          </p:cNvSpPr>
          <p:nvPr/>
        </p:nvSpPr>
        <p:spPr>
          <a:xfrm>
            <a:off x="9239250" y="4743450"/>
            <a:ext cx="19050" cy="190500"/>
          </a:xfrm>
          <a:prstGeom prst="rect">
            <a:avLst/>
          </a:prstGeom>
          <a:solidFill>
            <a:srgbClr val="B9C7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flow-arrow-3"/>
          <p:cNvSpPr>
            <a:spLocks noGrp="1"/>
          </p:cNvSpPr>
          <p:nvPr/>
        </p:nvSpPr>
        <p:spPr>
          <a:xfrm>
            <a:off x="9163050" y="4876800"/>
            <a:ext cx="1714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↓</a:t>
            </a:r>
            <a:endParaRPr sz="120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flow-Draw-box"/>
          <p:cNvSpPr>
            <a:spLocks noGrp="1"/>
          </p:cNvSpPr>
          <p:nvPr/>
        </p:nvSpPr>
        <p:spPr>
          <a:xfrm>
            <a:off x="7658100" y="4857750"/>
            <a:ext cx="318135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0D5DD"/>
            </a:solidFill>
            <a:prstDash val="solid"/>
          </a:ln>
        </p:spPr>
      </p:sp>
      <p:sp>
        <p:nvSpPr>
          <p:cNvPr id="55" name="flow-Draw-dot"/>
          <p:cNvSpPr>
            <a:spLocks noGrp="1"/>
          </p:cNvSpPr>
          <p:nvPr/>
        </p:nvSpPr>
        <p:spPr>
          <a:xfrm>
            <a:off x="7791450" y="5029200"/>
            <a:ext cx="171450" cy="1714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flow-Draw-label"/>
          <p:cNvSpPr>
            <a:spLocks noGrp="1"/>
          </p:cNvSpPr>
          <p:nvPr/>
        </p:nvSpPr>
        <p:spPr>
          <a:xfrm>
            <a:off x="8067675" y="4953000"/>
            <a:ext cx="264795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12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Draw</a:t>
            </a:r>
            <a:endParaRPr sz="1125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57" name="flow-Draw-sub"/>
          <p:cNvSpPr>
            <a:spLocks noGrp="1"/>
          </p:cNvSpPr>
          <p:nvPr/>
        </p:nvSpPr>
        <p:spPr>
          <a:xfrm>
            <a:off x="8067675" y="5153025"/>
            <a:ext cx="2647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9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绘制并提交渲染</a:t>
            </a:r>
            <a:endParaRPr sz="79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flow-note-box"/>
          <p:cNvSpPr>
            <a:spLocks noGrp="1"/>
          </p:cNvSpPr>
          <p:nvPr/>
        </p:nvSpPr>
        <p:spPr>
          <a:xfrm>
            <a:off x="7658100" y="5596890"/>
            <a:ext cx="3181350" cy="438150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59" name="flow-note"/>
          <p:cNvSpPr>
            <a:spLocks noGrp="1"/>
          </p:cNvSpPr>
          <p:nvPr/>
        </p:nvSpPr>
        <p:spPr>
          <a:xfrm>
            <a:off x="7848600" y="5715000"/>
            <a:ext cx="28003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75CD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975" b="1">
                <a:solidFill>
                  <a:srgbClr val="175CD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目标：把 App 绘制节奏与屏幕刷新节奏对齐</a:t>
            </a:r>
            <a:endParaRPr sz="975" b="1">
              <a:solidFill>
                <a:srgbClr val="175CD3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3.4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帧调度器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header-rule"/>
          <p:cNvSpPr>
            <a:spLocks noGrp="1"/>
          </p:cNvSpPr>
          <p:nvPr/>
        </p:nvSpPr>
        <p:spPr>
          <a:xfrm>
            <a:off x="609600" y="685800"/>
            <a:ext cx="10668000" cy="13335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"/>
          <p:cNvSpPr>
            <a:spLocks noGrp="1"/>
          </p:cNvSpPr>
          <p:nvPr/>
        </p:nvSpPr>
        <p:spPr>
          <a:xfrm>
            <a:off x="609600" y="323850"/>
            <a:ext cx="2857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05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page-number"/>
          <p:cNvSpPr>
            <a:spLocks noGrp="1"/>
          </p:cNvSpPr>
          <p:nvPr/>
        </p:nvSpPr>
        <p:spPr>
          <a:xfrm>
            <a:off x="10896600" y="3048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lang="en-US" sz="975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18</a:t>
            </a:r>
            <a:endParaRPr lang="en-US" sz="975" b="1">
              <a:solidFill>
                <a:srgbClr val="98A2B3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8" name="title-en"/>
          <p:cNvSpPr>
            <a:spLocks noGrp="1"/>
          </p:cNvSpPr>
          <p:nvPr/>
        </p:nvSpPr>
        <p:spPr>
          <a:xfrm>
            <a:off x="609600" y="1428750"/>
            <a:ext cx="31432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570E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2100" b="1">
                <a:solidFill>
                  <a:srgbClr val="1570E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RenderThread</a:t>
            </a:r>
            <a:endParaRPr sz="2100" b="1">
              <a:solidFill>
                <a:srgbClr val="1570EF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9" name="lead"/>
          <p:cNvSpPr>
            <a:spLocks noGrp="1"/>
          </p:cNvSpPr>
          <p:nvPr/>
        </p:nvSpPr>
        <p:spPr>
          <a:xfrm>
            <a:off x="595630" y="1866900"/>
            <a:ext cx="619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20000"/>
              </a:lnSpc>
              <a:defRPr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zh-CN" sz="1275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</a:t>
            </a:r>
            <a:r>
              <a:rPr lang="zh-CN" altLang="en-US" sz="1275" b="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的专用渲染线程</a:t>
            </a:r>
            <a:r>
              <a:rPr lang="en-US" altLang="zh-CN"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，</a:t>
            </a:r>
            <a:r>
              <a:rPr lang="zh-CN" altLang="en-US"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负责把主线程构建的绘制指令真正提交给</a:t>
            </a:r>
            <a:r>
              <a:rPr lang="en-US" altLang="zh-CN"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GPU</a:t>
            </a:r>
            <a:r>
              <a:rPr lang="zh-CN" altLang="en-US" sz="1275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。它是硬件加速渲染管线的核心</a:t>
            </a:r>
            <a:endParaRPr lang="zh-CN" altLang="en-US" sz="1275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architecture-panel"/>
          <p:cNvSpPr>
            <a:spLocks noGrp="1"/>
          </p:cNvSpPr>
          <p:nvPr/>
        </p:nvSpPr>
        <p:spPr>
          <a:xfrm>
            <a:off x="609600" y="2533650"/>
            <a:ext cx="6096000" cy="363855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11" name="arch-heading"/>
          <p:cNvSpPr>
            <a:spLocks noGrp="1"/>
          </p:cNvSpPr>
          <p:nvPr/>
        </p:nvSpPr>
        <p:spPr>
          <a:xfrm>
            <a:off x="876300" y="2800350"/>
            <a:ext cx="1428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35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线程协作视图</a:t>
            </a:r>
            <a:endParaRPr sz="135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2" name="arch-tag"/>
          <p:cNvSpPr>
            <a:spLocks noGrp="1"/>
          </p:cNvSpPr>
          <p:nvPr/>
        </p:nvSpPr>
        <p:spPr>
          <a:xfrm>
            <a:off x="3886200" y="2838450"/>
            <a:ext cx="2552700" cy="142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15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715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UI -&gt; RenderThread -&gt; GPU -&gt; SurfaceFlinger</a:t>
            </a:r>
            <a:endParaRPr sz="715" b="1">
              <a:solidFill>
                <a:srgbClr val="98A2B3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3" name="arch-divider"/>
          <p:cNvSpPr>
            <a:spLocks noGrp="1"/>
          </p:cNvSpPr>
          <p:nvPr/>
        </p:nvSpPr>
        <p:spPr>
          <a:xfrm>
            <a:off x="876300" y="3124200"/>
            <a:ext cx="5562600" cy="9525"/>
          </a:xfrm>
          <a:prstGeom prst="rect">
            <a:avLst/>
          </a:prstGeom>
          <a:solidFill>
            <a:srgbClr val="EAECF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arch-node-1"/>
          <p:cNvSpPr>
            <a:spLocks noGrp="1"/>
          </p:cNvSpPr>
          <p:nvPr/>
        </p:nvSpPr>
        <p:spPr>
          <a:xfrm>
            <a:off x="1257300" y="3371850"/>
            <a:ext cx="4762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E4FF"/>
            </a:solidFill>
            <a:prstDash val="solid"/>
          </a:ln>
        </p:spPr>
      </p:sp>
      <p:sp>
        <p:nvSpPr>
          <p:cNvPr id="15" name="arch-node-1-dot"/>
          <p:cNvSpPr>
            <a:spLocks noGrp="1"/>
          </p:cNvSpPr>
          <p:nvPr/>
        </p:nvSpPr>
        <p:spPr>
          <a:xfrm>
            <a:off x="1438275" y="3524250"/>
            <a:ext cx="209550" cy="209550"/>
          </a:xfrm>
          <a:prstGeom prst="ellipse">
            <a:avLst/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arch-node-1-title"/>
          <p:cNvSpPr>
            <a:spLocks noGrp="1"/>
          </p:cNvSpPr>
          <p:nvPr/>
        </p:nvSpPr>
        <p:spPr>
          <a:xfrm>
            <a:off x="1790700" y="3476625"/>
            <a:ext cx="4057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UI 线程</a:t>
            </a:r>
            <a:endParaRPr sz="120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17" name="arch-node-1-sub"/>
          <p:cNvSpPr>
            <a:spLocks noGrp="1"/>
          </p:cNvSpPr>
          <p:nvPr/>
        </p:nvSpPr>
        <p:spPr>
          <a:xfrm>
            <a:off x="1790700" y="3695700"/>
            <a:ext cx="405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生成 DisplayList / RenderNode</a:t>
            </a:r>
            <a:endParaRPr sz="8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arch-node-2"/>
          <p:cNvSpPr>
            <a:spLocks noGrp="1"/>
          </p:cNvSpPr>
          <p:nvPr/>
        </p:nvSpPr>
        <p:spPr>
          <a:xfrm>
            <a:off x="1257300" y="4038600"/>
            <a:ext cx="4762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E4FF"/>
            </a:solidFill>
            <a:prstDash val="solid"/>
          </a:ln>
        </p:spPr>
      </p:sp>
      <p:sp>
        <p:nvSpPr>
          <p:cNvPr id="19" name="arch-node-2-dot"/>
          <p:cNvSpPr>
            <a:spLocks noGrp="1"/>
          </p:cNvSpPr>
          <p:nvPr/>
        </p:nvSpPr>
        <p:spPr>
          <a:xfrm>
            <a:off x="1438275" y="4191000"/>
            <a:ext cx="209550" cy="20955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arch-node-2-title"/>
          <p:cNvSpPr>
            <a:spLocks noGrp="1"/>
          </p:cNvSpPr>
          <p:nvPr/>
        </p:nvSpPr>
        <p:spPr>
          <a:xfrm>
            <a:off x="1790700" y="4143375"/>
            <a:ext cx="4057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RenderThread</a:t>
            </a:r>
            <a:endParaRPr sz="120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1" name="arch-node-2-sub"/>
          <p:cNvSpPr>
            <a:spLocks noGrp="1"/>
          </p:cNvSpPr>
          <p:nvPr/>
        </p:nvSpPr>
        <p:spPr>
          <a:xfrm>
            <a:off x="1790700" y="4362450"/>
            <a:ext cx="405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经 RenderProxy 同步并解析绘制指令</a:t>
            </a:r>
            <a:endParaRPr sz="8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arch-node-3"/>
          <p:cNvSpPr>
            <a:spLocks noGrp="1"/>
          </p:cNvSpPr>
          <p:nvPr/>
        </p:nvSpPr>
        <p:spPr>
          <a:xfrm>
            <a:off x="1257300" y="4705350"/>
            <a:ext cx="4762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E4FF"/>
            </a:solidFill>
            <a:prstDash val="solid"/>
          </a:ln>
        </p:spPr>
      </p:sp>
      <p:sp>
        <p:nvSpPr>
          <p:cNvPr id="23" name="arch-node-3-dot"/>
          <p:cNvSpPr>
            <a:spLocks noGrp="1"/>
          </p:cNvSpPr>
          <p:nvPr/>
        </p:nvSpPr>
        <p:spPr>
          <a:xfrm>
            <a:off x="1438275" y="4857750"/>
            <a:ext cx="209550" cy="209550"/>
          </a:xfrm>
          <a:prstGeom prst="ellipse">
            <a:avLst/>
          </a:prstGeom>
          <a:solidFill>
            <a:srgbClr val="A78B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arch-node-3-title"/>
          <p:cNvSpPr>
            <a:spLocks noGrp="1"/>
          </p:cNvSpPr>
          <p:nvPr/>
        </p:nvSpPr>
        <p:spPr>
          <a:xfrm>
            <a:off x="1790700" y="4810125"/>
            <a:ext cx="4057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GPU</a:t>
            </a:r>
            <a:endParaRPr sz="120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5" name="arch-node-3-sub"/>
          <p:cNvSpPr>
            <a:spLocks noGrp="1"/>
          </p:cNvSpPr>
          <p:nvPr/>
        </p:nvSpPr>
        <p:spPr>
          <a:xfrm>
            <a:off x="1790700" y="5029200"/>
            <a:ext cx="405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执行 OpenGL ES / Vulkan 栅格化</a:t>
            </a:r>
            <a:endParaRPr sz="8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6" name="arch-node-4"/>
          <p:cNvSpPr>
            <a:spLocks noGrp="1"/>
          </p:cNvSpPr>
          <p:nvPr/>
        </p:nvSpPr>
        <p:spPr>
          <a:xfrm>
            <a:off x="1257300" y="5372100"/>
            <a:ext cx="4762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D6E4FF"/>
            </a:solidFill>
            <a:prstDash val="solid"/>
          </a:ln>
        </p:spPr>
      </p:sp>
      <p:sp>
        <p:nvSpPr>
          <p:cNvPr id="27" name="arch-node-4-dot"/>
          <p:cNvSpPr>
            <a:spLocks noGrp="1"/>
          </p:cNvSpPr>
          <p:nvPr/>
        </p:nvSpPr>
        <p:spPr>
          <a:xfrm>
            <a:off x="1438275" y="5524500"/>
            <a:ext cx="209550" cy="209550"/>
          </a:xfrm>
          <a:prstGeom prst="ellipse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arch-node-4-title"/>
          <p:cNvSpPr>
            <a:spLocks noGrp="1"/>
          </p:cNvSpPr>
          <p:nvPr/>
        </p:nvSpPr>
        <p:spPr>
          <a:xfrm>
            <a:off x="1790700" y="5476875"/>
            <a:ext cx="4057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SurfaceFlinger</a:t>
            </a:r>
            <a:endParaRPr sz="120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29" name="arch-node-4-sub"/>
          <p:cNvSpPr>
            <a:spLocks noGrp="1"/>
          </p:cNvSpPr>
          <p:nvPr/>
        </p:nvSpPr>
        <p:spPr>
          <a:xfrm>
            <a:off x="1790700" y="5695950"/>
            <a:ext cx="4057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接收 queueBuffer 并合成显示</a:t>
            </a:r>
            <a:endParaRPr sz="8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arch-arrow-1"/>
          <p:cNvSpPr>
            <a:spLocks noGrp="1"/>
          </p:cNvSpPr>
          <p:nvPr/>
        </p:nvSpPr>
        <p:spPr>
          <a:xfrm>
            <a:off x="3637280" y="3905250"/>
            <a:ext cx="125095" cy="133350"/>
          </a:xfrm>
          <a:prstGeom prst="downArrow">
            <a:avLst/>
          </a:prstGeom>
          <a:solidFill>
            <a:srgbClr val="B9C7DC"/>
          </a:solidFill>
          <a:ln w="0">
            <a:solidFill>
              <a:srgbClr val="B9C7DC"/>
            </a:solidFill>
            <a:prstDash val="solid"/>
          </a:ln>
        </p:spPr>
      </p:sp>
      <p:sp>
        <p:nvSpPr>
          <p:cNvPr id="31" name="arch-arrow-2"/>
          <p:cNvSpPr>
            <a:spLocks noGrp="1"/>
          </p:cNvSpPr>
          <p:nvPr/>
        </p:nvSpPr>
        <p:spPr>
          <a:xfrm>
            <a:off x="3637280" y="4572000"/>
            <a:ext cx="125095" cy="133350"/>
          </a:xfrm>
          <a:prstGeom prst="downArrow">
            <a:avLst/>
          </a:prstGeom>
          <a:solidFill>
            <a:srgbClr val="B9C7DC"/>
          </a:solidFill>
          <a:ln w="0">
            <a:solidFill>
              <a:srgbClr val="B9C7DC"/>
            </a:solidFill>
            <a:prstDash val="solid"/>
          </a:ln>
        </p:spPr>
      </p:sp>
      <p:sp>
        <p:nvSpPr>
          <p:cNvPr id="32" name="arch-arrow-3"/>
          <p:cNvSpPr>
            <a:spLocks noGrp="1"/>
          </p:cNvSpPr>
          <p:nvPr/>
        </p:nvSpPr>
        <p:spPr>
          <a:xfrm>
            <a:off x="3637280" y="5238750"/>
            <a:ext cx="125095" cy="130175"/>
          </a:xfrm>
          <a:prstGeom prst="downArrow">
            <a:avLst/>
          </a:prstGeom>
          <a:solidFill>
            <a:srgbClr val="B9C7DC"/>
          </a:solidFill>
          <a:ln w="0">
            <a:solidFill>
              <a:srgbClr val="B9C7DC"/>
            </a:solidFill>
            <a:prstDash val="solid"/>
          </a:ln>
        </p:spPr>
      </p:sp>
      <p:sp>
        <p:nvSpPr>
          <p:cNvPr id="33" name="responsibility-panel"/>
          <p:cNvSpPr>
            <a:spLocks noGrp="1"/>
          </p:cNvSpPr>
          <p:nvPr/>
        </p:nvSpPr>
        <p:spPr>
          <a:xfrm>
            <a:off x="7143750" y="2533650"/>
            <a:ext cx="4095750" cy="363855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4" name="resp-heading"/>
          <p:cNvSpPr>
            <a:spLocks noGrp="1"/>
          </p:cNvSpPr>
          <p:nvPr/>
        </p:nvSpPr>
        <p:spPr>
          <a:xfrm>
            <a:off x="7410450" y="2800350"/>
            <a:ext cx="114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575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核心职责</a:t>
            </a:r>
            <a:endParaRPr sz="1575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5" name="resp-subheading"/>
          <p:cNvSpPr>
            <a:spLocks noGrp="1"/>
          </p:cNvSpPr>
          <p:nvPr/>
        </p:nvSpPr>
        <p:spPr>
          <a:xfrm>
            <a:off x="7410450" y="3105150"/>
            <a:ext cx="3333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把文字说明拆成三件事：接收、生成、提交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resp-1-box"/>
          <p:cNvSpPr>
            <a:spLocks noGrp="1"/>
          </p:cNvSpPr>
          <p:nvPr/>
        </p:nvSpPr>
        <p:spPr>
          <a:xfrm>
            <a:off x="7410450" y="3429000"/>
            <a:ext cx="3562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37" name="resp-1-dot"/>
          <p:cNvSpPr>
            <a:spLocks noGrp="1"/>
          </p:cNvSpPr>
          <p:nvPr/>
        </p:nvSpPr>
        <p:spPr>
          <a:xfrm>
            <a:off x="7562850" y="3581400"/>
            <a:ext cx="266700" cy="266700"/>
          </a:xfrm>
          <a:prstGeom prst="ellipse">
            <a:avLst/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sp-1-num"/>
          <p:cNvSpPr>
            <a:spLocks noGrp="1"/>
          </p:cNvSpPr>
          <p:nvPr/>
        </p:nvSpPr>
        <p:spPr>
          <a:xfrm>
            <a:off x="7591425" y="359092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</a:t>
            </a:r>
            <a:endParaRPr sz="975" b="1">
              <a:solidFill>
                <a:srgbClr val="FFFFFF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39" name="resp-1-title"/>
          <p:cNvSpPr>
            <a:spLocks noGrp="1"/>
          </p:cNvSpPr>
          <p:nvPr/>
        </p:nvSpPr>
        <p:spPr>
          <a:xfrm>
            <a:off x="7962900" y="3600450"/>
            <a:ext cx="2819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解析 DisplayList / RenderNode</a:t>
            </a:r>
            <a:endParaRPr sz="120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0" name="resp-1-body"/>
          <p:cNvSpPr>
            <a:spLocks noGrp="1"/>
          </p:cNvSpPr>
          <p:nvPr/>
        </p:nvSpPr>
        <p:spPr>
          <a:xfrm>
            <a:off x="7962900" y="3876675"/>
            <a:ext cx="2800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接收 UI 线程绘制指令集，经 RenderProxy 同步到 RenderThread。</a:t>
            </a:r>
            <a:endParaRPr sz="940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resp-2-box"/>
          <p:cNvSpPr>
            <a:spLocks noGrp="1"/>
          </p:cNvSpPr>
          <p:nvPr/>
        </p:nvSpPr>
        <p:spPr>
          <a:xfrm>
            <a:off x="7410450" y="4343400"/>
            <a:ext cx="3562350" cy="819150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E4E7EC"/>
            </a:solidFill>
            <a:prstDash val="solid"/>
          </a:ln>
        </p:spPr>
      </p:sp>
      <p:sp>
        <p:nvSpPr>
          <p:cNvPr id="42" name="resp-2-dot"/>
          <p:cNvSpPr>
            <a:spLocks noGrp="1"/>
          </p:cNvSpPr>
          <p:nvPr/>
        </p:nvSpPr>
        <p:spPr>
          <a:xfrm>
            <a:off x="7562850" y="4495800"/>
            <a:ext cx="266700" cy="266700"/>
          </a:xfrm>
          <a:prstGeom prst="ellipse">
            <a:avLst/>
          </a:prstGeom>
          <a:solidFill>
            <a:srgbClr val="22C55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resp-2-num"/>
          <p:cNvSpPr>
            <a:spLocks noGrp="1"/>
          </p:cNvSpPr>
          <p:nvPr/>
        </p:nvSpPr>
        <p:spPr>
          <a:xfrm>
            <a:off x="7591425" y="450532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975" b="1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2</a:t>
            </a:r>
            <a:endParaRPr sz="975" b="1">
              <a:solidFill>
                <a:srgbClr val="FFFFFF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4" name="resp-2-title"/>
          <p:cNvSpPr>
            <a:spLocks noGrp="1"/>
          </p:cNvSpPr>
          <p:nvPr/>
        </p:nvSpPr>
        <p:spPr>
          <a:xfrm>
            <a:off x="7962900" y="4514850"/>
            <a:ext cx="2819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200" b="1">
                <a:solidFill>
                  <a:srgbClr val="111827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生成 GPU 指令</a:t>
            </a:r>
            <a:endParaRPr sz="1200" b="1">
              <a:solidFill>
                <a:srgbClr val="111827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5" name="resp-2-body"/>
          <p:cNvSpPr>
            <a:spLocks noGrp="1"/>
          </p:cNvSpPr>
          <p:nvPr/>
        </p:nvSpPr>
        <p:spPr>
          <a:xfrm>
            <a:off x="7962900" y="4791075"/>
            <a:ext cx="28003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4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 DisplayList 转成 OpenGL ES / Vulkan 命令，由 GPU 执行矢量到像素的栅格化。</a:t>
            </a:r>
            <a:endParaRPr sz="940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6" name="buffer-note"/>
          <p:cNvSpPr>
            <a:spLocks noGrp="1"/>
          </p:cNvSpPr>
          <p:nvPr/>
        </p:nvSpPr>
        <p:spPr>
          <a:xfrm>
            <a:off x="7410450" y="5257800"/>
            <a:ext cx="3562350" cy="66675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9525">
            <a:solidFill>
              <a:srgbClr val="BFDBFE"/>
            </a:solidFill>
            <a:prstDash val="solid"/>
          </a:ln>
        </p:spPr>
      </p:sp>
      <p:sp>
        <p:nvSpPr>
          <p:cNvPr id="47" name="buffer-note-title"/>
          <p:cNvSpPr>
            <a:spLocks noGrp="1"/>
          </p:cNvSpPr>
          <p:nvPr/>
        </p:nvSpPr>
        <p:spPr>
          <a:xfrm>
            <a:off x="7639050" y="5391150"/>
            <a:ext cx="3067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75CD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sz="1125" b="1">
                <a:solidFill>
                  <a:srgbClr val="175CD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3  管理 GraphicBuffer 与 BufferQueue</a:t>
            </a:r>
            <a:endParaRPr sz="1125" b="1">
              <a:solidFill>
                <a:srgbClr val="175CD3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48" name="buffer-note-body"/>
          <p:cNvSpPr>
            <a:spLocks noGrp="1"/>
          </p:cNvSpPr>
          <p:nvPr/>
        </p:nvSpPr>
        <p:spPr>
          <a:xfrm>
            <a:off x="7639050" y="5619750"/>
            <a:ext cx="30670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1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10" b="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dequeueBuffer 取空闲缓冲区，queueBuffer 提交给 SurfaceFlinger 合成显示。</a:t>
            </a:r>
            <a:endParaRPr sz="810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3.5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渲染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线程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flow_panel"/>
          <p:cNvSpPr>
            <a:spLocks noGrp="1"/>
          </p:cNvSpPr>
          <p:nvPr/>
        </p:nvSpPr>
        <p:spPr>
          <a:xfrm>
            <a:off x="523240" y="2846705"/>
            <a:ext cx="10839450" cy="3524250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10478">
            <a:solidFill>
              <a:srgbClr val="DDE5F0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66775" y="3009900"/>
            <a:ext cx="171450" cy="171450"/>
          </a:xfrm>
          <a:prstGeom prst="ellipse">
            <a:avLst/>
          </a:prstGeom>
          <a:solidFill>
            <a:srgbClr val="EAF8E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1162050" y="2981325"/>
            <a:ext cx="23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40" b="1">
                <a:solidFill>
                  <a:srgbClr val="16A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40" b="1">
                <a:solidFill>
                  <a:srgbClr val="16A34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生产者：多个 App / SystemUI</a:t>
            </a:r>
            <a:endParaRPr sz="1040" b="1">
              <a:solidFill>
                <a:srgbClr val="16A34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椭圆 19"/>
          <p:cNvSpPr>
            <a:spLocks noGrp="1"/>
          </p:cNvSpPr>
          <p:nvPr/>
        </p:nvSpPr>
        <p:spPr>
          <a:xfrm>
            <a:off x="866775" y="5743575"/>
            <a:ext cx="171450" cy="171450"/>
          </a:xfrm>
          <a:prstGeom prst="ellipse">
            <a:avLst/>
          </a:prstGeom>
          <a:solidFill>
            <a:srgbClr val="E7F8FC"/>
          </a:solidFill>
          <a:ln w="9525">
            <a:solidFill>
              <a:srgbClr val="06A6C9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1162050" y="5715000"/>
            <a:ext cx="1257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40" b="1">
                <a:solidFill>
                  <a:srgbClr val="06A6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40" b="1">
                <a:solidFill>
                  <a:srgbClr val="06A6C9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消费者：SF</a:t>
            </a:r>
            <a:endParaRPr sz="1140" b="1">
              <a:solidFill>
                <a:srgbClr val="06A6C9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surface_layer"/>
          <p:cNvSpPr>
            <a:spLocks noGrp="1"/>
          </p:cNvSpPr>
          <p:nvPr/>
        </p:nvSpPr>
        <p:spPr>
          <a:xfrm>
            <a:off x="1259840" y="3478530"/>
            <a:ext cx="2299970" cy="1779270"/>
          </a:xfrm>
          <a:prstGeom prst="roundRect">
            <a:avLst>
              <a:gd name="adj" fmla="val 7692"/>
            </a:avLst>
          </a:prstGeom>
          <a:solidFill>
            <a:srgbClr val="EAF8EF"/>
          </a:solidFill>
          <a:ln w="13335">
            <a:solidFill>
              <a:srgbClr val="A9DBC0"/>
            </a:solidFill>
            <a:prstDash val="solid"/>
          </a:ln>
        </p:spPr>
      </p:sp>
      <p:sp>
        <p:nvSpPr>
          <p:cNvPr id="23" name="surface_layer_title"/>
          <p:cNvSpPr>
            <a:spLocks noGrp="1"/>
          </p:cNvSpPr>
          <p:nvPr/>
        </p:nvSpPr>
        <p:spPr>
          <a:xfrm>
            <a:off x="1389840" y="3594390"/>
            <a:ext cx="2039970" cy="33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450" b="1">
                <a:solidFill>
                  <a:srgbClr val="18202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50" b="1">
                <a:solidFill>
                  <a:srgbClr val="18202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多路 Surface / Layer</a:t>
            </a:r>
            <a:endParaRPr sz="1450" b="1">
              <a:solidFill>
                <a:srgbClr val="18202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549810" y="4264025"/>
            <a:ext cx="390000" cy="2095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 rot="9000000">
            <a:off x="3859810" y="4292525"/>
            <a:ext cx="114300" cy="2095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 rot="-9000000">
            <a:off x="3859810" y="4235525"/>
            <a:ext cx="114300" cy="20955"/>
          </a:xfrm>
          <a:prstGeom prst="rect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8" name="bufferqueue"/>
          <p:cNvSpPr>
            <a:spLocks noGrp="1"/>
          </p:cNvSpPr>
          <p:nvPr/>
        </p:nvSpPr>
        <p:spPr>
          <a:xfrm>
            <a:off x="4038600" y="3486150"/>
            <a:ext cx="2628900" cy="1562100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ln w="13335">
            <a:solidFill>
              <a:srgbClr val="B9D5F4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240000" y="3703000"/>
            <a:ext cx="2220000" cy="28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580" b="1">
                <a:solidFill>
                  <a:srgbClr val="18202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80" b="1">
                <a:solidFill>
                  <a:srgbClr val="18202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多路 BufferQueue</a:t>
            </a:r>
            <a:endParaRPr sz="1580" b="1">
              <a:solidFill>
                <a:srgbClr val="18202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4330000" y="4013000"/>
            <a:ext cx="2040000" cy="31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7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每个 Surface 独立排队</a:t>
            </a:r>
            <a:endParaRPr sz="76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7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76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SF 取最新 buffer</a:t>
            </a:r>
            <a:endParaRPr sz="76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4419600" y="4476750"/>
            <a:ext cx="55245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 w="9525">
            <a:solidFill>
              <a:srgbClr val="AFC8F7"/>
            </a:solidFill>
            <a:prstDash val="solid"/>
          </a:ln>
        </p:spPr>
      </p:sp>
      <p:sp>
        <p:nvSpPr>
          <p:cNvPr id="32" name="圆角矩形 31"/>
          <p:cNvSpPr>
            <a:spLocks noGrp="1"/>
          </p:cNvSpPr>
          <p:nvPr/>
        </p:nvSpPr>
        <p:spPr>
          <a:xfrm>
            <a:off x="5067300" y="4476750"/>
            <a:ext cx="55245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 w="9525">
            <a:solidFill>
              <a:srgbClr val="AFC8F7"/>
            </a:solidFill>
            <a:prstDash val="solid"/>
          </a:ln>
        </p:spPr>
      </p:sp>
      <p:sp>
        <p:nvSpPr>
          <p:cNvPr id="33" name="圆角矩形 32"/>
          <p:cNvSpPr>
            <a:spLocks noGrp="1"/>
          </p:cNvSpPr>
          <p:nvPr/>
        </p:nvSpPr>
        <p:spPr>
          <a:xfrm>
            <a:off x="5715000" y="4476750"/>
            <a:ext cx="552450" cy="266700"/>
          </a:xfrm>
          <a:prstGeom prst="roundRect">
            <a:avLst>
              <a:gd name="adj" fmla="val 28571"/>
            </a:avLst>
          </a:prstGeom>
          <a:solidFill>
            <a:srgbClr val="EAF1FF"/>
          </a:solidFill>
          <a:ln w="9525">
            <a:solidFill>
              <a:srgbClr val="AFC8F7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4419600" y="45243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1">
                <a:solidFill>
                  <a:srgbClr val="2563EB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940" b="1">
                <a:solidFill>
                  <a:srgbClr val="2563E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0</a:t>
            </a:r>
            <a:endParaRPr sz="940" b="1">
              <a:solidFill>
                <a:srgbClr val="2563E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067300" y="45243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1">
                <a:solidFill>
                  <a:srgbClr val="2563EB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940" b="1">
                <a:solidFill>
                  <a:srgbClr val="2563E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1</a:t>
            </a:r>
            <a:endParaRPr sz="940" b="1">
              <a:solidFill>
                <a:srgbClr val="2563E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5715000" y="4524375"/>
            <a:ext cx="552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40" b="1">
                <a:solidFill>
                  <a:srgbClr val="2563EB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940" b="1">
                <a:solidFill>
                  <a:srgbClr val="2563EB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2</a:t>
            </a:r>
            <a:endParaRPr sz="940" b="1">
              <a:solidFill>
                <a:srgbClr val="2563EB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3771900" y="5257800"/>
            <a:ext cx="3143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55" b="1">
                <a:solidFill>
                  <a:srgbClr val="16A34A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955" b="1">
                <a:solidFill>
                  <a:srgbClr val="16A34A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dequeueBuffer → draw → queueBuffer</a:t>
            </a:r>
            <a:endParaRPr sz="955" b="1">
              <a:solidFill>
                <a:srgbClr val="16A34A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3638550" y="5581650"/>
            <a:ext cx="3486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55" b="1">
                <a:solidFill>
                  <a:srgbClr val="06A6C9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955" b="1">
                <a:solidFill>
                  <a:srgbClr val="06A6C9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acquireBuffer → compose → releaseBuffer</a:t>
            </a:r>
            <a:endParaRPr sz="955" b="1">
              <a:solidFill>
                <a:srgbClr val="06A6C9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667500" y="4294823"/>
            <a:ext cx="704850" cy="20955"/>
          </a:xfrm>
          <a:prstGeom prst="rect">
            <a:avLst/>
          </a:prstGeom>
          <a:solidFill>
            <a:srgbClr val="06A6C9"/>
          </a:solidFill>
          <a:ln w="0">
            <a:solidFill>
              <a:srgbClr val="06A6C9"/>
            </a:solidFill>
            <a:prstDash val="solid"/>
          </a:ln>
        </p:spPr>
      </p:sp>
      <p:sp>
        <p:nvSpPr>
          <p:cNvPr id="40" name="矩形 39"/>
          <p:cNvSpPr>
            <a:spLocks noGrp="1"/>
          </p:cNvSpPr>
          <p:nvPr/>
        </p:nvSpPr>
        <p:spPr>
          <a:xfrm rot="9000000">
            <a:off x="7265670" y="4323398"/>
            <a:ext cx="114300" cy="20955"/>
          </a:xfrm>
          <a:prstGeom prst="rect">
            <a:avLst/>
          </a:prstGeom>
          <a:solidFill>
            <a:srgbClr val="06A6C9"/>
          </a:solidFill>
          <a:ln w="0">
            <a:solidFill>
              <a:srgbClr val="06A6C9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 rot="-9000000">
            <a:off x="7265670" y="4266248"/>
            <a:ext cx="114300" cy="20955"/>
          </a:xfrm>
          <a:prstGeom prst="rect">
            <a:avLst/>
          </a:prstGeom>
          <a:solidFill>
            <a:srgbClr val="06A6C9"/>
          </a:solidFill>
          <a:ln w="0">
            <a:solidFill>
              <a:srgbClr val="06A6C9"/>
            </a:solidFill>
            <a:prstDash val="solid"/>
          </a:ln>
        </p:spPr>
      </p:sp>
      <p:sp>
        <p:nvSpPr>
          <p:cNvPr id="42" name="surfaceflinger_node"/>
          <p:cNvSpPr>
            <a:spLocks noGrp="1"/>
          </p:cNvSpPr>
          <p:nvPr/>
        </p:nvSpPr>
        <p:spPr>
          <a:xfrm>
            <a:off x="7581900" y="3562350"/>
            <a:ext cx="2266950" cy="1428750"/>
          </a:xfrm>
          <a:prstGeom prst="roundRect">
            <a:avLst>
              <a:gd name="adj" fmla="val 5714"/>
            </a:avLst>
          </a:prstGeom>
          <a:solidFill>
            <a:srgbClr val="101827"/>
          </a:solidFill>
          <a:ln w="13335">
            <a:solidFill>
              <a:srgbClr val="101827"/>
            </a:solidFill>
            <a:prstDash val="solid"/>
          </a:ln>
        </p:spPr>
      </p:sp>
      <p:sp>
        <p:nvSpPr>
          <p:cNvPr id="43" name="surfaceflinger_node_title"/>
          <p:cNvSpPr>
            <a:spLocks noGrp="1"/>
          </p:cNvSpPr>
          <p:nvPr/>
        </p:nvSpPr>
        <p:spPr>
          <a:xfrm>
            <a:off x="7791450" y="3733800"/>
            <a:ext cx="18478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SurfaceFlinger</a:t>
            </a:r>
            <a:endParaRPr sz="1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surfaceflinger_node_subtitle"/>
          <p:cNvSpPr>
            <a:spLocks noGrp="1"/>
          </p:cNvSpPr>
          <p:nvPr/>
        </p:nvSpPr>
        <p:spPr>
          <a:xfrm>
            <a:off x="7765000" y="4119000"/>
            <a:ext cx="1080000" cy="52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850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0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收集 Layer Stack</a:t>
            </a:r>
            <a:endParaRPr sz="850" b="0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ctr">
              <a:buNone/>
              <a:defRPr sz="850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850" b="0">
                <a:solidFill>
                  <a:srgbClr val="F8FAF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计算合成方案</a:t>
            </a:r>
            <a:endParaRPr sz="850" b="0">
              <a:solidFill>
                <a:srgbClr val="F8FAF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矩形 44"/>
          <p:cNvSpPr>
            <a:spLocks noGrp="1"/>
          </p:cNvSpPr>
          <p:nvPr/>
        </p:nvSpPr>
        <p:spPr>
          <a:xfrm rot="5400000">
            <a:off x="8601075" y="5133023"/>
            <a:ext cx="228600" cy="2095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 rot="-7200000">
            <a:off x="8629650" y="5197793"/>
            <a:ext cx="114300" cy="2095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 rot="-3600000">
            <a:off x="8686800" y="5197793"/>
            <a:ext cx="114300" cy="20955"/>
          </a:xfrm>
          <a:prstGeom prst="rect">
            <a:avLst/>
          </a:prstGeom>
          <a:solidFill>
            <a:srgbClr val="F97316"/>
          </a:solidFill>
          <a:ln w="0">
            <a:solidFill>
              <a:srgbClr val="F97316"/>
            </a:solidFill>
            <a:prstDash val="solid"/>
          </a:ln>
        </p:spPr>
      </p:sp>
      <p:sp>
        <p:nvSpPr>
          <p:cNvPr id="48" name="output_bar"/>
          <p:cNvSpPr>
            <a:spLocks noGrp="1"/>
          </p:cNvSpPr>
          <p:nvPr/>
        </p:nvSpPr>
        <p:spPr>
          <a:xfrm>
            <a:off x="7410450" y="5429250"/>
            <a:ext cx="2647950" cy="495300"/>
          </a:xfrm>
          <a:prstGeom prst="roundRect">
            <a:avLst>
              <a:gd name="adj" fmla="val 16667"/>
            </a:avLst>
          </a:prstGeom>
          <a:solidFill>
            <a:srgbClr val="FFF1E8"/>
          </a:solidFill>
          <a:ln w="10478">
            <a:solidFill>
              <a:srgbClr val="F9B37F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7658100" y="5581650"/>
            <a:ext cx="21526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200" b="1">
                <a:solidFill>
                  <a:srgbClr val="F97316"/>
                </a:solidFill>
                <a:latin typeface="Menlo" panose="020B0609030804020204"/>
                <a:ea typeface="Menlo" panose="020B0609030804020204"/>
                <a:cs typeface="Menlo" panose="020B0609030804020204"/>
              </a:defRPr>
            </a:pPr>
            <a:r>
              <a:rPr sz="1200" b="1">
                <a:solidFill>
                  <a:srgbClr val="F97316"/>
                </a:solidFill>
                <a:latin typeface="Menlo" panose="020B0609030804020204"/>
                <a:ea typeface="Menlo" panose="020B0609030804020204"/>
                <a:cs typeface="Menlo" panose="020B0609030804020204"/>
              </a:rPr>
              <a:t>HWC / GPU → Display</a:t>
            </a:r>
            <a:endParaRPr sz="1200" b="1">
              <a:solidFill>
                <a:srgbClr val="F97316"/>
              </a:solidFill>
              <a:latin typeface="Menlo" panose="020B0609030804020204"/>
              <a:ea typeface="Menlo" panose="020B0609030804020204"/>
              <a:cs typeface="Menlo" panose="020B0609030804020204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title-en"/>
          <p:cNvSpPr>
            <a:spLocks noGrp="1"/>
          </p:cNvSpPr>
          <p:nvPr/>
        </p:nvSpPr>
        <p:spPr>
          <a:xfrm>
            <a:off x="609600" y="1447800"/>
            <a:ext cx="34861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100" b="1">
                <a:solidFill>
                  <a:srgbClr val="1570E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lang="en-US" sz="2100" b="1">
                <a:solidFill>
                  <a:srgbClr val="1570E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Surface</a:t>
            </a:r>
            <a:r>
              <a:rPr lang="en-US" sz="2100" b="1">
                <a:solidFill>
                  <a:srgbClr val="1570E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Flinger</a:t>
            </a:r>
            <a:endParaRPr lang="en-US" sz="2100" b="1">
              <a:solidFill>
                <a:srgbClr val="1570EF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8" name="one_liner"/>
          <p:cNvSpPr>
            <a:spLocks noGrp="1"/>
          </p:cNvSpPr>
          <p:nvPr/>
        </p:nvSpPr>
        <p:spPr>
          <a:xfrm>
            <a:off x="685800" y="2491105"/>
            <a:ext cx="4381500" cy="2762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65" b="1">
                <a:solidFill>
                  <a:srgbClr val="2563EB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1465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55625" y="2003425"/>
            <a:ext cx="10236835" cy="386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sz="1200">
                <a:solidFill>
                  <a:srgbClr val="FF000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是一个独立的进程</a:t>
            </a:r>
            <a:r>
              <a:rPr lang="zh-CN" sz="120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，</a:t>
            </a:r>
            <a:r>
              <a:rPr sz="120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负责把所有</a:t>
            </a:r>
            <a:r>
              <a:rPr sz="1200">
                <a:solidFill>
                  <a:srgbClr val="47546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 App / 系统的 Surface（图层）按 Z 序、透明度、裁剪等合成一屏，并在 VSync 驱动下提交到屏幕</a:t>
            </a:r>
            <a:endParaRPr sz="1200" b="0">
              <a:solidFill>
                <a:srgbClr val="47546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endParaRPr lang="zh-CN" altLang="en-US" sz="1200"/>
          </a:p>
        </p:txBody>
      </p:sp>
      <p:sp>
        <p:nvSpPr>
          <p:cNvPr id="52" name="page-number"/>
          <p:cNvSpPr>
            <a:spLocks noGrp="1"/>
          </p:cNvSpPr>
          <p:nvPr/>
        </p:nvSpPr>
        <p:spPr>
          <a:xfrm>
            <a:off x="10896600" y="304800"/>
            <a:ext cx="381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defRPr>
            </a:pPr>
            <a:r>
              <a:rPr lang="en-US" sz="975" b="1">
                <a:solidFill>
                  <a:srgbClr val="98A2B3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</a:rPr>
              <a:t>19</a:t>
            </a:r>
            <a:endParaRPr lang="en-US" sz="975" b="1">
              <a:solidFill>
                <a:srgbClr val="98A2B3"/>
              </a:solidFill>
              <a:latin typeface="PingFang SC Semibold" panose="020B0400000000000000" charset="-122"/>
              <a:ea typeface="PingFang SC Semibold" panose="020B0400000000000000" charset="-122"/>
              <a:cs typeface="PingFang SC Semibold" panose="020B0400000000000000" charset="-122"/>
            </a:endParaRPr>
          </a:p>
        </p:txBody>
      </p:sp>
      <p:sp>
        <p:nvSpPr>
          <p:cNvPr id="53" name="multi_surface_App_A_Surface"/>
          <p:cNvSpPr>
            <a:spLocks noGrp="1"/>
          </p:cNvSpPr>
          <p:nvPr/>
        </p:nvSpPr>
        <p:spPr>
          <a:xfrm>
            <a:off x="1434840" y="4119390"/>
            <a:ext cx="1949970" cy="260000"/>
          </a:xfrm>
          <a:prstGeom prst="roundRect">
            <a:avLst>
              <a:gd name="adj" fmla="val 4200"/>
            </a:avLst>
          </a:prstGeom>
          <a:solidFill>
            <a:srgbClr val="DCFCE7"/>
          </a:solidFill>
          <a:ln w="7620">
            <a:solidFill>
              <a:srgbClr val="86EFAC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80" b="1">
                <a:solidFill>
                  <a:srgbClr val="1580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80" b="1">
                <a:solidFill>
                  <a:srgbClr val="15803D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 A</a:t>
            </a:r>
            <a:endParaRPr sz="980" b="1">
              <a:solidFill>
                <a:srgbClr val="15803D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multi_surface_App_B_Surface"/>
          <p:cNvSpPr>
            <a:spLocks noGrp="1"/>
          </p:cNvSpPr>
          <p:nvPr/>
        </p:nvSpPr>
        <p:spPr>
          <a:xfrm>
            <a:off x="1434840" y="4465390"/>
            <a:ext cx="1949970" cy="260000"/>
          </a:xfrm>
          <a:prstGeom prst="roundRect">
            <a:avLst>
              <a:gd name="adj" fmla="val 4200"/>
            </a:avLst>
          </a:prstGeom>
          <a:solidFill>
            <a:srgbClr val="DBEAFE"/>
          </a:solidFill>
          <a:ln w="7620">
            <a:solidFill>
              <a:srgbClr val="93C5FD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8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80" b="1">
                <a:solidFill>
                  <a:srgbClr val="1D4ED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App B</a:t>
            </a:r>
            <a:endParaRPr sz="980" b="1">
              <a:solidFill>
                <a:srgbClr val="1D4ED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multi_surface_SystemUI_Surface"/>
          <p:cNvSpPr>
            <a:spLocks noGrp="1"/>
          </p:cNvSpPr>
          <p:nvPr/>
        </p:nvSpPr>
        <p:spPr>
          <a:xfrm>
            <a:off x="1434840" y="4811390"/>
            <a:ext cx="1949970" cy="260000"/>
          </a:xfrm>
          <a:prstGeom prst="roundRect">
            <a:avLst>
              <a:gd name="adj" fmla="val 4200"/>
            </a:avLst>
          </a:prstGeom>
          <a:solidFill>
            <a:srgbClr val="FFEDD5"/>
          </a:solidFill>
          <a:ln w="7620">
            <a:solidFill>
              <a:srgbClr val="FDBA74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980" b="1">
                <a:solidFill>
                  <a:srgbClr val="C2410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80" b="1">
                <a:solidFill>
                  <a:srgbClr val="C2410C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SystemUI</a:t>
            </a:r>
            <a:endParaRPr sz="980" b="1">
              <a:solidFill>
                <a:srgbClr val="C2410C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6" name="sf_stack_back"/>
          <p:cNvSpPr>
            <a:spLocks noGrp="1"/>
          </p:cNvSpPr>
          <p:nvPr/>
        </p:nvSpPr>
        <p:spPr>
          <a:xfrm>
            <a:off x="8940000" y="4100000"/>
            <a:ext cx="610000" cy="270000"/>
          </a:xfrm>
          <a:prstGeom prst="roundRect">
            <a:avLst>
              <a:gd name="adj" fmla="val 2300"/>
            </a:avLst>
          </a:prstGeom>
          <a:solidFill>
            <a:srgbClr val="BFDBFE">
              <a:alpha val="96000"/>
            </a:srgbClr>
          </a:solidFill>
          <a:ln w="7620">
            <a:solidFill>
              <a:srgbClr val="60A5FA"/>
            </a:solidFill>
            <a:prstDash val="solid"/>
          </a:ln>
        </p:spPr>
      </p:sp>
      <p:sp>
        <p:nvSpPr>
          <p:cNvPr id="67" name="sf_stack_mid"/>
          <p:cNvSpPr>
            <a:spLocks noGrp="1"/>
          </p:cNvSpPr>
          <p:nvPr/>
        </p:nvSpPr>
        <p:spPr>
          <a:xfrm>
            <a:off x="8815000" y="4240000"/>
            <a:ext cx="610000" cy="270000"/>
          </a:xfrm>
          <a:prstGeom prst="roundRect">
            <a:avLst>
              <a:gd name="adj" fmla="val 2300"/>
            </a:avLst>
          </a:prstGeom>
          <a:solidFill>
            <a:srgbClr val="BBF7D0">
              <a:alpha val="96000"/>
            </a:srgbClr>
          </a:solidFill>
          <a:ln w="7620">
            <a:solidFill>
              <a:srgbClr val="4ADE80"/>
            </a:solidFill>
            <a:prstDash val="solid"/>
          </a:ln>
        </p:spPr>
      </p:sp>
      <p:sp>
        <p:nvSpPr>
          <p:cNvPr id="68" name="sf_stack_front"/>
          <p:cNvSpPr>
            <a:spLocks noGrp="1"/>
          </p:cNvSpPr>
          <p:nvPr/>
        </p:nvSpPr>
        <p:spPr>
          <a:xfrm>
            <a:off x="8690000" y="4380000"/>
            <a:ext cx="610000" cy="270000"/>
          </a:xfrm>
          <a:prstGeom prst="roundRect">
            <a:avLst>
              <a:gd name="adj" fmla="val 2300"/>
            </a:avLst>
          </a:prstGeom>
          <a:solidFill>
            <a:srgbClr val="FED7AA">
              <a:alpha val="96000"/>
            </a:srgbClr>
          </a:solidFill>
          <a:ln w="7620">
            <a:solidFill>
              <a:srgbClr val="FB923C"/>
            </a:solidFill>
            <a:prstDash val="solid"/>
          </a:ln>
        </p:spPr>
      </p:sp>
      <p:sp>
        <p:nvSpPr>
          <p:cNvPr id="69" name="sf_layer_stack_label"/>
          <p:cNvSpPr>
            <a:spLocks noGrp="1"/>
          </p:cNvSpPr>
          <p:nvPr/>
        </p:nvSpPr>
        <p:spPr>
          <a:xfrm>
            <a:off x="8580000" y="4690000"/>
            <a:ext cx="1030000" cy="170000"/>
          </a:xfrm>
          <a:prstGeom prst="rect">
            <a:avLst/>
          </a:prstGeom>
          <a:noFill/>
          <a:ln w="0">
            <a:solidFill>
              <a:srgbClr val="000000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40" b="1">
                <a:solidFill>
                  <a:srgbClr val="E0F2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40" b="1">
                <a:solidFill>
                  <a:srgbClr val="E0F2FE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Layer Stack / Z序</a:t>
            </a:r>
            <a:endParaRPr sz="640" b="1">
              <a:solidFill>
                <a:srgbClr val="E0F2FE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0" name="composed_frame_hint"/>
          <p:cNvSpPr>
            <a:spLocks noGrp="1"/>
          </p:cNvSpPr>
          <p:nvPr/>
        </p:nvSpPr>
        <p:spPr>
          <a:xfrm>
            <a:off x="9670000" y="5265000"/>
            <a:ext cx="500000" cy="1450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5715">
            <a:solidFill>
              <a:srgbClr val="FDBA74"/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61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610" b="1">
                <a:solidFill>
                  <a:srgbClr val="F97316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合成帧</a:t>
            </a:r>
            <a:endParaRPr sz="610" b="1">
              <a:solidFill>
                <a:srgbClr val="F97316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5625" y="2390140"/>
            <a:ext cx="5316855" cy="417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16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关键理解：</a:t>
            </a:r>
            <a:r>
              <a:rPr lang="zh-CN" altLang="en-US" sz="1600">
                <a:solidFill>
                  <a:srgbClr val="344054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App 生产像素，SF 决定像素怎么上屏。</a:t>
            </a:r>
            <a:endParaRPr sz="1600" b="1">
              <a:solidFill>
                <a:srgbClr val="2563EB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  <a:p>
            <a:pPr algn="l"/>
            <a:endParaRPr lang="zh-CN" altLang="en-US" sz="1600">
              <a:solidFill>
                <a:srgbClr val="344054"/>
              </a:solidFill>
            </a:endParaRPr>
          </a:p>
          <a:p>
            <a:endParaRPr lang="zh-CN" altLang="en-US" sz="1600"/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3.6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显示合成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中枢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渲染机制解读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20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四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总结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1893570"/>
            <a:ext cx="89535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p>
            <a:pPr algn="l">
              <a:defRPr sz="27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endParaRPr sz="2700" b="1">
              <a:solidFill>
                <a:srgbClr val="111827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571500" y="3110865"/>
            <a:ext cx="10496550" cy="1333500"/>
            <a:chOff x="900" y="3690"/>
            <a:chExt cx="16530" cy="2100"/>
          </a:xfrm>
        </p:grpSpPr>
        <p:sp>
          <p:nvSpPr>
            <p:cNvPr id="12" name="stage-1"/>
            <p:cNvSpPr>
              <a:spLocks noGrp="1"/>
            </p:cNvSpPr>
            <p:nvPr>
              <p:custDataLst>
                <p:tags r:id="rId2"/>
              </p:custDataLst>
            </p:nvPr>
          </p:nvSpPr>
          <p:spPr>
            <a:xfrm>
              <a:off x="900" y="3690"/>
              <a:ext cx="3750" cy="2100"/>
            </a:xfrm>
            <a:prstGeom prst="rect">
              <a:avLst/>
            </a:prstGeom>
            <a:solidFill>
              <a:srgbClr val="EAF2FF"/>
            </a:solidFill>
            <a:ln w="9525">
              <a:solidFill>
                <a:srgbClr val="2563EB"/>
              </a:solidFill>
              <a:prstDash val="solid"/>
            </a:ln>
          </p:spPr>
        </p:sp>
        <p:sp>
          <p:nvSpPr>
            <p:cNvPr id="13" name="矩形 12"/>
            <p:cNvSpPr>
              <a:spLocks noGrp="1"/>
            </p:cNvSpPr>
            <p:nvPr>
              <p:custDataLst>
                <p:tags r:id="rId3"/>
              </p:custDataLst>
            </p:nvPr>
          </p:nvSpPr>
          <p:spPr>
            <a:xfrm>
              <a:off x="1200" y="4020"/>
              <a:ext cx="3150" cy="36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p>
              <a:pPr algn="l">
                <a:defRPr sz="1200" b="1">
                  <a:solidFill>
                    <a:srgbClr val="2563EB"/>
                  </a:solidFill>
                  <a:latin typeface="Aptos"/>
                  <a:ea typeface="Aptos"/>
                  <a:cs typeface="Aptos"/>
                </a:defRPr>
              </a:pPr>
              <a:r>
                <a:rPr sz="1200" b="1">
                  <a:solidFill>
                    <a:srgbClr val="2563EB"/>
                  </a:solidFill>
                  <a:latin typeface="Aptos"/>
                  <a:ea typeface="Aptos"/>
                  <a:cs typeface="Aptos"/>
                </a:rPr>
                <a:t>Choreographer</a:t>
              </a:r>
              <a:endParaRPr sz="1200" b="1">
                <a:solidFill>
                  <a:srgbClr val="2563EB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4" name="矩形 13"/>
            <p:cNvSpPr>
              <a:spLocks noGrp="1"/>
            </p:cNvSpPr>
            <p:nvPr>
              <p:custDataLst>
                <p:tags r:id="rId4"/>
              </p:custDataLst>
            </p:nvPr>
          </p:nvSpPr>
          <p:spPr>
            <a:xfrm>
              <a:off x="1200" y="4620"/>
              <a:ext cx="3150" cy="87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p>
              <a:pPr algn="l">
                <a:def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lang="zh-CN"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接收</a:t>
              </a:r>
              <a:r>
                <a: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VSync</a:t>
              </a:r>
              <a:endParaRPr sz="15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>
                <a:def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lang="zh-CN"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任务</a:t>
              </a:r>
              <a:r>
                <a:rPr lang="zh-CN"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驱动</a:t>
              </a:r>
              <a:endParaRPr lang="zh-CN" sz="15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5" name="矩形 14"/>
            <p:cNvSpPr>
              <a:spLocks noGrp="1"/>
            </p:cNvSpPr>
            <p:nvPr>
              <p:custDataLst>
                <p:tags r:id="rId5"/>
              </p:custDataLst>
            </p:nvPr>
          </p:nvSpPr>
          <p:spPr>
            <a:xfrm>
              <a:off x="8850" y="4481"/>
              <a:ext cx="480" cy="54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ctr"/>
            <a:p>
              <a:pPr algn="ctr">
                <a:defRPr sz="2250" b="0">
                  <a:solidFill>
                    <a:srgbClr val="5B6472"/>
                  </a:solidFill>
                  <a:latin typeface="Aptos"/>
                  <a:ea typeface="Aptos"/>
                  <a:cs typeface="Aptos"/>
                </a:defRPr>
              </a:pPr>
              <a:r>
                <a:rPr sz="2250" b="0">
                  <a:solidFill>
                    <a:srgbClr val="5B6472"/>
                  </a:solidFill>
                  <a:latin typeface="Aptos"/>
                  <a:ea typeface="Aptos"/>
                  <a:cs typeface="Aptos"/>
                </a:rPr>
                <a:t>→</a:t>
              </a:r>
              <a:endParaRPr sz="2250" b="0">
                <a:solidFill>
                  <a:srgbClr val="5B6472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6" name="stage-2"/>
            <p:cNvSpPr>
              <a:spLocks noGrp="1"/>
            </p:cNvSpPr>
            <p:nvPr>
              <p:custDataLst>
                <p:tags r:id="rId6"/>
              </p:custDataLst>
            </p:nvPr>
          </p:nvSpPr>
          <p:spPr>
            <a:xfrm>
              <a:off x="5160" y="3690"/>
              <a:ext cx="3750" cy="2100"/>
            </a:xfrm>
            <a:prstGeom prst="rect">
              <a:avLst/>
            </a:prstGeom>
            <a:solidFill>
              <a:srgbClr val="EAF8F3"/>
            </a:solidFill>
            <a:ln w="9525">
              <a:solidFill>
                <a:srgbClr val="059669"/>
              </a:solidFill>
              <a:prstDash val="solid"/>
            </a:ln>
          </p:spPr>
        </p:sp>
        <p:sp>
          <p:nvSpPr>
            <p:cNvPr id="17" name="矩形 16"/>
            <p:cNvSpPr>
              <a:spLocks noGrp="1"/>
            </p:cNvSpPr>
            <p:nvPr>
              <p:custDataLst>
                <p:tags r:id="rId7"/>
              </p:custDataLst>
            </p:nvPr>
          </p:nvSpPr>
          <p:spPr>
            <a:xfrm>
              <a:off x="5460" y="4020"/>
              <a:ext cx="3150" cy="36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p>
              <a:pPr algn="l">
                <a:defRPr sz="1200" b="1">
                  <a:solidFill>
                    <a:srgbClr val="059669"/>
                  </a:solidFill>
                  <a:latin typeface="Aptos"/>
                  <a:ea typeface="Aptos"/>
                  <a:cs typeface="Aptos"/>
                </a:defRPr>
              </a:pPr>
              <a:r>
                <a:rPr sz="1200" b="1">
                  <a:solidFill>
                    <a:srgbClr val="059669"/>
                  </a:solidFill>
                  <a:latin typeface="Aptos"/>
                  <a:ea typeface="Aptos"/>
                  <a:cs typeface="Aptos"/>
                </a:rPr>
                <a:t>RenderThread</a:t>
              </a:r>
              <a:endParaRPr sz="1200" b="1">
                <a:solidFill>
                  <a:srgbClr val="059669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18" name="矩形 17"/>
            <p:cNvSpPr>
              <a:spLocks noGrp="1"/>
            </p:cNvSpPr>
            <p:nvPr>
              <p:custDataLst>
                <p:tags r:id="rId8"/>
              </p:custDataLst>
            </p:nvPr>
          </p:nvSpPr>
          <p:spPr>
            <a:xfrm>
              <a:off x="5460" y="4620"/>
              <a:ext cx="3150" cy="87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p>
              <a:pPr algn="l">
                <a:def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录制并提交</a:t>
              </a:r>
              <a:endParaRPr sz="15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>
                <a:def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GPU 工作</a:t>
              </a:r>
              <a:endParaRPr sz="15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9" name="stage-3"/>
            <p:cNvSpPr>
              <a:spLocks noGrp="1"/>
            </p:cNvSpPr>
            <p:nvPr>
              <p:custDataLst>
                <p:tags r:id="rId9"/>
              </p:custDataLst>
            </p:nvPr>
          </p:nvSpPr>
          <p:spPr>
            <a:xfrm>
              <a:off x="9420" y="3690"/>
              <a:ext cx="3750" cy="2100"/>
            </a:xfrm>
            <a:prstGeom prst="rect">
              <a:avLst/>
            </a:prstGeom>
            <a:solidFill>
              <a:srgbClr val="FFF4E5"/>
            </a:solidFill>
            <a:ln w="9525">
              <a:solidFill>
                <a:srgbClr val="D97706"/>
              </a:solidFill>
              <a:prstDash val="solid"/>
            </a:ln>
          </p:spPr>
        </p:sp>
        <p:sp>
          <p:nvSpPr>
            <p:cNvPr id="20" name="矩形 19"/>
            <p:cNvSpPr>
              <a:spLocks noGrp="1"/>
            </p:cNvSpPr>
            <p:nvPr>
              <p:custDataLst>
                <p:tags r:id="rId10"/>
              </p:custDataLst>
            </p:nvPr>
          </p:nvSpPr>
          <p:spPr>
            <a:xfrm>
              <a:off x="9720" y="4020"/>
              <a:ext cx="3150" cy="36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p>
              <a:pPr algn="l">
                <a:defRPr sz="1200" b="1">
                  <a:solidFill>
                    <a:srgbClr val="D97706"/>
                  </a:solidFill>
                  <a:latin typeface="Aptos"/>
                  <a:ea typeface="Aptos"/>
                  <a:cs typeface="Aptos"/>
                </a:defRPr>
              </a:pPr>
              <a:r>
                <a:rPr sz="1200" b="1">
                  <a:solidFill>
                    <a:srgbClr val="D97706"/>
                  </a:solidFill>
                  <a:latin typeface="Aptos"/>
                  <a:ea typeface="Aptos"/>
                  <a:cs typeface="Aptos"/>
                </a:rPr>
                <a:t>SurfaceFlinger</a:t>
              </a:r>
              <a:endParaRPr sz="1200" b="1">
                <a:solidFill>
                  <a:srgbClr val="D97706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1" name="矩形 20"/>
            <p:cNvSpPr>
              <a:spLocks noGrp="1"/>
            </p:cNvSpPr>
            <p:nvPr>
              <p:custDataLst>
                <p:tags r:id="rId11"/>
              </p:custDataLst>
            </p:nvPr>
          </p:nvSpPr>
          <p:spPr>
            <a:xfrm>
              <a:off x="9720" y="4620"/>
              <a:ext cx="3150" cy="87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p>
              <a:pPr algn="l">
                <a:def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合成多层</a:t>
              </a:r>
              <a:endParaRPr sz="15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  <a:p>
              <a:pPr algn="l">
                <a:def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并输出</a:t>
              </a:r>
              <a:endParaRPr sz="15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22" name="stage-4"/>
            <p:cNvSpPr>
              <a:spLocks noGrp="1"/>
            </p:cNvSpPr>
            <p:nvPr/>
          </p:nvSpPr>
          <p:spPr>
            <a:xfrm>
              <a:off x="13680" y="3690"/>
              <a:ext cx="3750" cy="2100"/>
            </a:xfrm>
            <a:prstGeom prst="rect">
              <a:avLst/>
            </a:prstGeom>
            <a:solidFill>
              <a:srgbClr val="F8FAFC"/>
            </a:solidFill>
            <a:ln w="9525">
              <a:solidFill>
                <a:srgbClr val="D7DDE6"/>
              </a:solidFill>
              <a:prstDash val="solid"/>
            </a:ln>
          </p:spPr>
        </p:sp>
        <p:sp>
          <p:nvSpPr>
            <p:cNvPr id="23" name="矩形 22"/>
            <p:cNvSpPr>
              <a:spLocks noGrp="1"/>
            </p:cNvSpPr>
            <p:nvPr/>
          </p:nvSpPr>
          <p:spPr>
            <a:xfrm>
              <a:off x="13980" y="4020"/>
              <a:ext cx="3150" cy="36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p>
              <a:pPr algn="l">
                <a:defRPr sz="1200" b="1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200" b="1">
                  <a:solidFill>
                    <a:srgbClr val="111827"/>
                  </a:solidFill>
                  <a:latin typeface="Aptos"/>
                  <a:ea typeface="Aptos"/>
                  <a:cs typeface="Aptos"/>
                </a:rPr>
                <a:t>屏幕</a:t>
              </a:r>
              <a:endParaRPr sz="1200" b="1">
                <a:solidFill>
                  <a:srgbClr val="111827"/>
                </a:solidFill>
                <a:latin typeface="Aptos"/>
                <a:ea typeface="Aptos"/>
                <a:cs typeface="Aptos"/>
              </a:endParaRPr>
            </a:p>
          </p:txBody>
        </p:sp>
        <p:sp>
          <p:nvSpPr>
            <p:cNvPr id="25" name="矩形 24"/>
            <p:cNvSpPr>
              <a:spLocks noGrp="1"/>
            </p:cNvSpPr>
            <p:nvPr/>
          </p:nvSpPr>
          <p:spPr>
            <a:xfrm>
              <a:off x="13980" y="4620"/>
              <a:ext cx="3150" cy="87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 lIns="0" tIns="0" rIns="0" bIns="0" anchor="t"/>
            <a:p>
              <a:pPr algn="l">
                <a:def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5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最终显示</a:t>
              </a:r>
              <a:endParaRPr sz="15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  <p:sp>
        <p:nvSpPr>
          <p:cNvPr id="26" name="矩形 25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962275" y="3613150"/>
            <a:ext cx="304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p>
            <a:pPr algn="ctr">
              <a:defRPr sz="22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→</a:t>
            </a:r>
            <a:endParaRPr sz="2250" b="0">
              <a:solidFill>
                <a:srgbClr val="5B64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矩形 26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8340725" y="3613150"/>
            <a:ext cx="304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p>
            <a:pPr algn="ctr">
              <a:defRPr sz="2250" b="0">
                <a:solidFill>
                  <a:srgbClr val="5B6472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5B6472"/>
                </a:solidFill>
                <a:latin typeface="Aptos"/>
                <a:ea typeface="Aptos"/>
                <a:cs typeface="Aptos"/>
              </a:rPr>
              <a:t>→</a:t>
            </a:r>
            <a:endParaRPr sz="2250" b="0">
              <a:solidFill>
                <a:srgbClr val="5B6472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lide-title"/>
          <p:cNvSpPr>
            <a:spLocks noGrp="1"/>
          </p:cNvSpPr>
          <p:nvPr/>
        </p:nvSpPr>
        <p:spPr>
          <a:xfrm>
            <a:off x="609600" y="1882140"/>
            <a:ext cx="9810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  <a:sym typeface="+mn-ea"/>
              </a:rPr>
              <a:t>一帧不是直接画到屏幕上，而是三层接力送出去</a:t>
            </a:r>
            <a:endParaRPr sz="27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ection-number"/>
          <p:cNvSpPr>
            <a:spLocks noGrp="1"/>
          </p:cNvSpPr>
          <p:nvPr/>
        </p:nvSpPr>
        <p:spPr>
          <a:xfrm>
            <a:off x="1500000" y="2710000"/>
            <a:ext cx="1880000" cy="7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en-US" sz="6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02</a:t>
            </a:r>
            <a:endParaRPr lang="zh-CN" altLang="en-US" sz="62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number-rule"/>
          <p:cNvSpPr>
            <a:spLocks noGrp="1"/>
          </p:cNvSpPr>
          <p:nvPr/>
        </p:nvSpPr>
        <p:spPr>
          <a:xfrm>
            <a:off x="1500000" y="3620000"/>
            <a:ext cx="1770000" cy="160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section-title"/>
          <p:cNvSpPr>
            <a:spLocks noGrp="1"/>
          </p:cNvSpPr>
          <p:nvPr/>
        </p:nvSpPr>
        <p:spPr>
          <a:xfrm>
            <a:off x="3900000" y="2670000"/>
            <a:ext cx="7200000" cy="82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altLang="en-US" sz="5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分析卡顿</a:t>
            </a:r>
            <a:r>
              <a:rPr lang="zh-CN" altLang="en-US" sz="5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问题</a:t>
            </a:r>
            <a:endParaRPr lang="zh-CN" altLang="en-US" sz="50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section-subtitle"/>
          <p:cNvSpPr>
            <a:spLocks noGrp="1"/>
          </p:cNvSpPr>
          <p:nvPr/>
        </p:nvSpPr>
        <p:spPr>
          <a:xfrm>
            <a:off x="3900000" y="3500000"/>
            <a:ext cx="7200000" cy="34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如何分析与定位卡顿问题</a:t>
            </a:r>
            <a:endParaRPr lang="zh-CN" altLang="en-US" sz="165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7" name="矩形 186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6" name="矩形 185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op-rule"/>
          <p:cNvSpPr>
            <a:spLocks noGrp="1"/>
          </p:cNvSpPr>
          <p:nvPr/>
        </p:nvSpPr>
        <p:spPr>
          <a:xfrm>
            <a:off x="647700" y="666750"/>
            <a:ext cx="10896600" cy="9525"/>
          </a:xfrm>
          <a:prstGeom prst="rect">
            <a:avLst/>
          </a:prstGeom>
          <a:solidFill>
            <a:srgbClr val="DA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slide-title"/>
          <p:cNvSpPr>
            <a:spLocks noGrp="1"/>
          </p:cNvSpPr>
          <p:nvPr/>
        </p:nvSpPr>
        <p:spPr>
          <a:xfrm>
            <a:off x="647700" y="895350"/>
            <a:ext cx="98107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27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一</a:t>
            </a:r>
            <a:r>
              <a:rPr lang="en-US" altLang="zh-CN" sz="27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  </a:t>
            </a:r>
            <a:r>
              <a:rPr lang="zh-CN" sz="27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从</a:t>
            </a:r>
            <a:r>
              <a:rPr lang="zh-CN" sz="27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整个出图流程</a:t>
            </a:r>
            <a:r>
              <a:rPr lang="zh-CN" sz="27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分析</a:t>
            </a:r>
            <a:endParaRPr lang="zh-CN" sz="27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slide-subtitle"/>
          <p:cNvSpPr>
            <a:spLocks noGrp="1"/>
          </p:cNvSpPr>
          <p:nvPr/>
        </p:nvSpPr>
        <p:spPr>
          <a:xfrm>
            <a:off x="647700" y="1657350"/>
            <a:ext cx="10763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lang="en-US"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VSync</a:t>
            </a:r>
            <a:r>
              <a:rPr lang="zh-CN" altLang="en-US"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给节拍，</a:t>
            </a: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Choreographer </a:t>
            </a:r>
            <a:r>
              <a:rPr lang="zh-CN"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驱动</a:t>
            </a: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UI Thread </a:t>
            </a:r>
            <a:r>
              <a:rPr lang="zh-CN"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生产指令</a:t>
            </a: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，RenderThread/GPU 执行</a:t>
            </a:r>
            <a:r>
              <a:rPr lang="zh-CN"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渲染</a:t>
            </a:r>
            <a:r>
              <a:rPr sz="1425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，SurfaceFlinger/HWC 合成上屏。</a:t>
            </a:r>
            <a:endParaRPr sz="1425" b="0">
              <a:solidFill>
                <a:srgbClr val="5F63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vsync-label-top"/>
          <p:cNvSpPr>
            <a:spLocks noGrp="1"/>
          </p:cNvSpPr>
          <p:nvPr/>
        </p:nvSpPr>
        <p:spPr>
          <a:xfrm>
            <a:off x="723900" y="2400300"/>
            <a:ext cx="1790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Choreographer</a:t>
            </a:r>
            <a:endParaRPr sz="165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16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VSync</a:t>
            </a:r>
            <a:endParaRPr sz="165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0" name="vsync-label-bottom"/>
          <p:cNvSpPr>
            <a:spLocks noGrp="1"/>
          </p:cNvSpPr>
          <p:nvPr/>
        </p:nvSpPr>
        <p:spPr>
          <a:xfrm>
            <a:off x="781050" y="5162550"/>
            <a:ext cx="17907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Choreographer</a:t>
            </a:r>
            <a:endParaRPr sz="165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  <a:p>
            <a:pPr algn="l">
              <a:defRPr sz="16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VSync</a:t>
            </a:r>
            <a:endParaRPr sz="165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1" name="vsync-to-ui-shaft"/>
          <p:cNvSpPr>
            <a:spLocks noGrp="1"/>
          </p:cNvSpPr>
          <p:nvPr/>
        </p:nvSpPr>
        <p:spPr>
          <a:xfrm>
            <a:off x="2381250" y="2695575"/>
            <a:ext cx="135255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vsync-to-ui-head"/>
          <p:cNvSpPr>
            <a:spLocks noGrp="1"/>
          </p:cNvSpPr>
          <p:nvPr/>
        </p:nvSpPr>
        <p:spPr>
          <a:xfrm rot="5400000">
            <a:off x="3714750" y="2638425"/>
            <a:ext cx="133350" cy="1333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budget-vertical"/>
          <p:cNvSpPr>
            <a:spLocks noGrp="1"/>
          </p:cNvSpPr>
          <p:nvPr/>
        </p:nvSpPr>
        <p:spPr>
          <a:xfrm>
            <a:off x="2771775" y="2933700"/>
            <a:ext cx="19050" cy="22860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budget-arrow-up-shaft"/>
          <p:cNvSpPr>
            <a:spLocks noGrp="1"/>
          </p:cNvSpPr>
          <p:nvPr/>
        </p:nvSpPr>
        <p:spPr>
          <a:xfrm>
            <a:off x="2780824" y="3038475"/>
            <a:ext cx="953" cy="218122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budget-arrow-up-head"/>
          <p:cNvSpPr>
            <a:spLocks noGrp="1"/>
          </p:cNvSpPr>
          <p:nvPr/>
        </p:nvSpPr>
        <p:spPr>
          <a:xfrm>
            <a:off x="2714625" y="2933700"/>
            <a:ext cx="133350" cy="1333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udget-arrow-down-shaft"/>
          <p:cNvSpPr>
            <a:spLocks noGrp="1"/>
          </p:cNvSpPr>
          <p:nvPr/>
        </p:nvSpPr>
        <p:spPr>
          <a:xfrm>
            <a:off x="2780824" y="2943225"/>
            <a:ext cx="953" cy="218122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budget-arrow-down-head"/>
          <p:cNvSpPr>
            <a:spLocks noGrp="1"/>
          </p:cNvSpPr>
          <p:nvPr/>
        </p:nvSpPr>
        <p:spPr>
          <a:xfrm rot="10800000">
            <a:off x="2714625" y="5105400"/>
            <a:ext cx="133350" cy="1333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budget-16"/>
          <p:cNvSpPr>
            <a:spLocks noGrp="1"/>
          </p:cNvSpPr>
          <p:nvPr/>
        </p:nvSpPr>
        <p:spPr>
          <a:xfrm>
            <a:off x="2038350" y="39243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1">
                <a:solidFill>
                  <a:srgbClr val="E22C2C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E22C2C"/>
                </a:solidFill>
                <a:latin typeface="Aptos Display"/>
                <a:ea typeface="Aptos Display"/>
                <a:cs typeface="Aptos Display"/>
              </a:rPr>
              <a:t>16.6ms</a:t>
            </a:r>
            <a:endParaRPr sz="2100" b="1">
              <a:solidFill>
                <a:srgbClr val="E22C2C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9" name="frame-period-arrow-shaft"/>
          <p:cNvSpPr>
            <a:spLocks noGrp="1"/>
          </p:cNvSpPr>
          <p:nvPr/>
        </p:nvSpPr>
        <p:spPr>
          <a:xfrm>
            <a:off x="2381250" y="5667375"/>
            <a:ext cx="57150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frame-period-arrow-head"/>
          <p:cNvSpPr>
            <a:spLocks noGrp="1"/>
          </p:cNvSpPr>
          <p:nvPr/>
        </p:nvSpPr>
        <p:spPr>
          <a:xfrm rot="5400000">
            <a:off x="8077200" y="5610225"/>
            <a:ext cx="133350" cy="1333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ui-title"/>
          <p:cNvSpPr>
            <a:spLocks noGrp="1"/>
          </p:cNvSpPr>
          <p:nvPr/>
        </p:nvSpPr>
        <p:spPr>
          <a:xfrm>
            <a:off x="4076700" y="2171700"/>
            <a:ext cx="21717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9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UI Thread</a:t>
            </a:r>
            <a:endParaRPr sz="195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2" name="ui-lane-top"/>
          <p:cNvSpPr>
            <a:spLocks noGrp="1"/>
          </p:cNvSpPr>
          <p:nvPr/>
        </p:nvSpPr>
        <p:spPr>
          <a:xfrm>
            <a:off x="3790950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3790950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ui-lane-top"/>
          <p:cNvSpPr>
            <a:spLocks noGrp="1"/>
          </p:cNvSpPr>
          <p:nvPr/>
        </p:nvSpPr>
        <p:spPr>
          <a:xfrm>
            <a:off x="3990975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3990975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ui-lane-top"/>
          <p:cNvSpPr>
            <a:spLocks noGrp="1"/>
          </p:cNvSpPr>
          <p:nvPr/>
        </p:nvSpPr>
        <p:spPr>
          <a:xfrm>
            <a:off x="4191000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4191000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ui-lane-top"/>
          <p:cNvSpPr>
            <a:spLocks noGrp="1"/>
          </p:cNvSpPr>
          <p:nvPr/>
        </p:nvSpPr>
        <p:spPr>
          <a:xfrm>
            <a:off x="4391025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391025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ui-lane-top"/>
          <p:cNvSpPr>
            <a:spLocks noGrp="1"/>
          </p:cNvSpPr>
          <p:nvPr/>
        </p:nvSpPr>
        <p:spPr>
          <a:xfrm>
            <a:off x="4591050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4591050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ui-lane-top"/>
          <p:cNvSpPr>
            <a:spLocks noGrp="1"/>
          </p:cNvSpPr>
          <p:nvPr/>
        </p:nvSpPr>
        <p:spPr>
          <a:xfrm>
            <a:off x="4791075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791075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ui-lane-top"/>
          <p:cNvSpPr>
            <a:spLocks noGrp="1"/>
          </p:cNvSpPr>
          <p:nvPr/>
        </p:nvSpPr>
        <p:spPr>
          <a:xfrm>
            <a:off x="4991100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4991100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ui-lane-top"/>
          <p:cNvSpPr>
            <a:spLocks noGrp="1"/>
          </p:cNvSpPr>
          <p:nvPr/>
        </p:nvSpPr>
        <p:spPr>
          <a:xfrm>
            <a:off x="5191125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5191125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ui-lane-top"/>
          <p:cNvSpPr>
            <a:spLocks noGrp="1"/>
          </p:cNvSpPr>
          <p:nvPr/>
        </p:nvSpPr>
        <p:spPr>
          <a:xfrm>
            <a:off x="5391150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391150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ui-lane-top"/>
          <p:cNvSpPr>
            <a:spLocks noGrp="1"/>
          </p:cNvSpPr>
          <p:nvPr/>
        </p:nvSpPr>
        <p:spPr>
          <a:xfrm>
            <a:off x="5591175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5591175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ui-lane-top"/>
          <p:cNvSpPr>
            <a:spLocks noGrp="1"/>
          </p:cNvSpPr>
          <p:nvPr/>
        </p:nvSpPr>
        <p:spPr>
          <a:xfrm>
            <a:off x="5791200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5791200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ui-lane-top"/>
          <p:cNvSpPr>
            <a:spLocks noGrp="1"/>
          </p:cNvSpPr>
          <p:nvPr/>
        </p:nvSpPr>
        <p:spPr>
          <a:xfrm>
            <a:off x="5991225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5991225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ui-lane-top"/>
          <p:cNvSpPr>
            <a:spLocks noGrp="1"/>
          </p:cNvSpPr>
          <p:nvPr/>
        </p:nvSpPr>
        <p:spPr>
          <a:xfrm>
            <a:off x="6191250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6191250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ui-lane-top"/>
          <p:cNvSpPr>
            <a:spLocks noGrp="1"/>
          </p:cNvSpPr>
          <p:nvPr/>
        </p:nvSpPr>
        <p:spPr>
          <a:xfrm>
            <a:off x="6391275" y="25527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6391275" y="5314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3790950" y="25527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6534150" y="25527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3790950" y="27527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6534150" y="27527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/>
          <p:cNvSpPr>
            <a:spLocks noGrp="1"/>
          </p:cNvSpPr>
          <p:nvPr/>
        </p:nvSpPr>
        <p:spPr>
          <a:xfrm>
            <a:off x="3790950" y="29527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6534150" y="29527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3790950" y="31527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6534150" y="31527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矩形 57"/>
          <p:cNvSpPr>
            <a:spLocks noGrp="1"/>
          </p:cNvSpPr>
          <p:nvPr/>
        </p:nvSpPr>
        <p:spPr>
          <a:xfrm>
            <a:off x="3790950" y="33528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6534150" y="33528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/>
        </p:nvSpPr>
        <p:spPr>
          <a:xfrm>
            <a:off x="3790950" y="35528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6534150" y="35528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矩形 61"/>
          <p:cNvSpPr>
            <a:spLocks noGrp="1"/>
          </p:cNvSpPr>
          <p:nvPr/>
        </p:nvSpPr>
        <p:spPr>
          <a:xfrm>
            <a:off x="3790950" y="37528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6534150" y="37528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/>
        </p:nvSpPr>
        <p:spPr>
          <a:xfrm>
            <a:off x="3790950" y="39528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6534150" y="39528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矩形 65"/>
          <p:cNvSpPr>
            <a:spLocks noGrp="1"/>
          </p:cNvSpPr>
          <p:nvPr/>
        </p:nvSpPr>
        <p:spPr>
          <a:xfrm>
            <a:off x="3790950" y="41529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6534150" y="41529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3790950" y="43529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6534150" y="43529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3790950" y="45529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1" name="矩形 70"/>
          <p:cNvSpPr>
            <a:spLocks noGrp="1"/>
          </p:cNvSpPr>
          <p:nvPr/>
        </p:nvSpPr>
        <p:spPr>
          <a:xfrm>
            <a:off x="6534150" y="45529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3790950" y="47529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6534150" y="47529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4" name="矩形 73"/>
          <p:cNvSpPr>
            <a:spLocks noGrp="1"/>
          </p:cNvSpPr>
          <p:nvPr/>
        </p:nvSpPr>
        <p:spPr>
          <a:xfrm>
            <a:off x="3790950" y="49530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5" name="矩形 74"/>
          <p:cNvSpPr>
            <a:spLocks noGrp="1"/>
          </p:cNvSpPr>
          <p:nvPr/>
        </p:nvSpPr>
        <p:spPr>
          <a:xfrm>
            <a:off x="6534150" y="49530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6" name="矩形 75"/>
          <p:cNvSpPr>
            <a:spLocks noGrp="1"/>
          </p:cNvSpPr>
          <p:nvPr/>
        </p:nvSpPr>
        <p:spPr>
          <a:xfrm>
            <a:off x="3790950" y="51530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/>
        </p:nvSpPr>
        <p:spPr>
          <a:xfrm>
            <a:off x="6534150" y="51530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8" name="ui-lane-label"/>
          <p:cNvSpPr>
            <a:spLocks noGrp="1"/>
          </p:cNvSpPr>
          <p:nvPr/>
        </p:nvSpPr>
        <p:spPr>
          <a:xfrm>
            <a:off x="3962400" y="4972050"/>
            <a:ext cx="24193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CPU</a:t>
            </a:r>
            <a:endParaRPr sz="1650" b="1">
              <a:solidFill>
                <a:srgbClr val="11111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9" name="ui-stage-1"/>
          <p:cNvSpPr>
            <a:spLocks noGrp="1"/>
          </p:cNvSpPr>
          <p:nvPr/>
        </p:nvSpPr>
        <p:spPr>
          <a:xfrm>
            <a:off x="4095750" y="2743200"/>
            <a:ext cx="2152650" cy="285750"/>
          </a:xfrm>
          <a:prstGeom prst="rect">
            <a:avLst/>
          </a:prstGeom>
          <a:solidFill>
            <a:srgbClr val="4F9BD8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input/输入处理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0" name="ui-stage-2"/>
          <p:cNvSpPr>
            <a:spLocks noGrp="1"/>
          </p:cNvSpPr>
          <p:nvPr/>
        </p:nvSpPr>
        <p:spPr>
          <a:xfrm>
            <a:off x="4095750" y="3105150"/>
            <a:ext cx="2152650" cy="285750"/>
          </a:xfrm>
          <a:prstGeom prst="rect">
            <a:avLst/>
          </a:prstGeom>
          <a:solidFill>
            <a:srgbClr val="4F9BD8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Animation/动画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1" name="ui-stage-3"/>
          <p:cNvSpPr>
            <a:spLocks noGrp="1"/>
          </p:cNvSpPr>
          <p:nvPr/>
        </p:nvSpPr>
        <p:spPr>
          <a:xfrm>
            <a:off x="4095750" y="3467100"/>
            <a:ext cx="2152650" cy="285750"/>
          </a:xfrm>
          <a:prstGeom prst="rect">
            <a:avLst/>
          </a:prstGeom>
          <a:solidFill>
            <a:srgbClr val="4F9BD8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measure/测量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2" name="ui-stage-4"/>
          <p:cNvSpPr>
            <a:spLocks noGrp="1"/>
          </p:cNvSpPr>
          <p:nvPr/>
        </p:nvSpPr>
        <p:spPr>
          <a:xfrm>
            <a:off x="4095750" y="3829050"/>
            <a:ext cx="2152650" cy="285750"/>
          </a:xfrm>
          <a:prstGeom prst="rect">
            <a:avLst/>
          </a:prstGeom>
          <a:solidFill>
            <a:srgbClr val="4F9BD8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layout/布局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3" name="ui-stage-5"/>
          <p:cNvSpPr>
            <a:spLocks noGrp="1"/>
          </p:cNvSpPr>
          <p:nvPr/>
        </p:nvSpPr>
        <p:spPr>
          <a:xfrm>
            <a:off x="4095750" y="4191000"/>
            <a:ext cx="2152650" cy="285750"/>
          </a:xfrm>
          <a:prstGeom prst="rect">
            <a:avLst/>
          </a:prstGeom>
          <a:solidFill>
            <a:srgbClr val="4F9BD8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draw/绘制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4" name="ui-stage-6"/>
          <p:cNvSpPr>
            <a:spLocks noGrp="1"/>
          </p:cNvSpPr>
          <p:nvPr/>
        </p:nvSpPr>
        <p:spPr>
          <a:xfrm>
            <a:off x="4095750" y="4552950"/>
            <a:ext cx="2152650" cy="285750"/>
          </a:xfrm>
          <a:prstGeom prst="rect">
            <a:avLst/>
          </a:prstGeom>
          <a:solidFill>
            <a:srgbClr val="4F9BD8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sync/同步</a:t>
            </a:r>
            <a:endParaRPr sz="12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5" name="rt-title"/>
          <p:cNvSpPr>
            <a:spLocks noGrp="1"/>
          </p:cNvSpPr>
          <p:nvPr/>
        </p:nvSpPr>
        <p:spPr>
          <a:xfrm>
            <a:off x="7124700" y="2171700"/>
            <a:ext cx="247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RenderThread</a:t>
            </a:r>
            <a:endParaRPr sz="1875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6" name="gpu-lane-top"/>
          <p:cNvSpPr>
            <a:spLocks noGrp="1"/>
          </p:cNvSpPr>
          <p:nvPr/>
        </p:nvSpPr>
        <p:spPr>
          <a:xfrm>
            <a:off x="6762750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7" name="矩形 86"/>
          <p:cNvSpPr>
            <a:spLocks noGrp="1"/>
          </p:cNvSpPr>
          <p:nvPr/>
        </p:nvSpPr>
        <p:spPr>
          <a:xfrm>
            <a:off x="6762750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gpu-lane-top"/>
          <p:cNvSpPr>
            <a:spLocks noGrp="1"/>
          </p:cNvSpPr>
          <p:nvPr/>
        </p:nvSpPr>
        <p:spPr>
          <a:xfrm>
            <a:off x="6962775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6962775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0" name="gpu-lane-top"/>
          <p:cNvSpPr>
            <a:spLocks noGrp="1"/>
          </p:cNvSpPr>
          <p:nvPr/>
        </p:nvSpPr>
        <p:spPr>
          <a:xfrm>
            <a:off x="7162800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1" name="矩形 90"/>
          <p:cNvSpPr>
            <a:spLocks noGrp="1"/>
          </p:cNvSpPr>
          <p:nvPr/>
        </p:nvSpPr>
        <p:spPr>
          <a:xfrm>
            <a:off x="7162800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2" name="gpu-lane-top"/>
          <p:cNvSpPr>
            <a:spLocks noGrp="1"/>
          </p:cNvSpPr>
          <p:nvPr/>
        </p:nvSpPr>
        <p:spPr>
          <a:xfrm>
            <a:off x="7362825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7362825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gpu-lane-top"/>
          <p:cNvSpPr>
            <a:spLocks noGrp="1"/>
          </p:cNvSpPr>
          <p:nvPr/>
        </p:nvSpPr>
        <p:spPr>
          <a:xfrm>
            <a:off x="7562850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5" name="矩形 94"/>
          <p:cNvSpPr>
            <a:spLocks noGrp="1"/>
          </p:cNvSpPr>
          <p:nvPr/>
        </p:nvSpPr>
        <p:spPr>
          <a:xfrm>
            <a:off x="7562850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gpu-lane-top"/>
          <p:cNvSpPr>
            <a:spLocks noGrp="1"/>
          </p:cNvSpPr>
          <p:nvPr/>
        </p:nvSpPr>
        <p:spPr>
          <a:xfrm>
            <a:off x="7762875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7" name="矩形 96"/>
          <p:cNvSpPr>
            <a:spLocks noGrp="1"/>
          </p:cNvSpPr>
          <p:nvPr/>
        </p:nvSpPr>
        <p:spPr>
          <a:xfrm>
            <a:off x="7762875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8" name="gpu-lane-top"/>
          <p:cNvSpPr>
            <a:spLocks noGrp="1"/>
          </p:cNvSpPr>
          <p:nvPr/>
        </p:nvSpPr>
        <p:spPr>
          <a:xfrm>
            <a:off x="7962900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9" name="矩形 98"/>
          <p:cNvSpPr>
            <a:spLocks noGrp="1"/>
          </p:cNvSpPr>
          <p:nvPr/>
        </p:nvSpPr>
        <p:spPr>
          <a:xfrm>
            <a:off x="7962900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0" name="gpu-lane-top"/>
          <p:cNvSpPr>
            <a:spLocks noGrp="1"/>
          </p:cNvSpPr>
          <p:nvPr/>
        </p:nvSpPr>
        <p:spPr>
          <a:xfrm>
            <a:off x="8162925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1" name="矩形 100"/>
          <p:cNvSpPr>
            <a:spLocks noGrp="1"/>
          </p:cNvSpPr>
          <p:nvPr/>
        </p:nvSpPr>
        <p:spPr>
          <a:xfrm>
            <a:off x="8162925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2" name="gpu-lane-top"/>
          <p:cNvSpPr>
            <a:spLocks noGrp="1"/>
          </p:cNvSpPr>
          <p:nvPr/>
        </p:nvSpPr>
        <p:spPr>
          <a:xfrm>
            <a:off x="8362950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3" name="矩形 102"/>
          <p:cNvSpPr>
            <a:spLocks noGrp="1"/>
          </p:cNvSpPr>
          <p:nvPr/>
        </p:nvSpPr>
        <p:spPr>
          <a:xfrm>
            <a:off x="8362950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4" name="gpu-lane-top"/>
          <p:cNvSpPr>
            <a:spLocks noGrp="1"/>
          </p:cNvSpPr>
          <p:nvPr/>
        </p:nvSpPr>
        <p:spPr>
          <a:xfrm>
            <a:off x="8562975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5" name="矩形 104"/>
          <p:cNvSpPr>
            <a:spLocks noGrp="1"/>
          </p:cNvSpPr>
          <p:nvPr/>
        </p:nvSpPr>
        <p:spPr>
          <a:xfrm>
            <a:off x="8562975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6" name="gpu-lane-top"/>
          <p:cNvSpPr>
            <a:spLocks noGrp="1"/>
          </p:cNvSpPr>
          <p:nvPr/>
        </p:nvSpPr>
        <p:spPr>
          <a:xfrm>
            <a:off x="8763000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8763000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8" name="gpu-lane-top"/>
          <p:cNvSpPr>
            <a:spLocks noGrp="1"/>
          </p:cNvSpPr>
          <p:nvPr/>
        </p:nvSpPr>
        <p:spPr>
          <a:xfrm>
            <a:off x="8963025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8963025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0" name="gpu-lane-top"/>
          <p:cNvSpPr>
            <a:spLocks noGrp="1"/>
          </p:cNvSpPr>
          <p:nvPr/>
        </p:nvSpPr>
        <p:spPr>
          <a:xfrm>
            <a:off x="9163050" y="36385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9163050" y="548640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6762750" y="36385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3" name="矩形 112"/>
          <p:cNvSpPr>
            <a:spLocks noGrp="1"/>
          </p:cNvSpPr>
          <p:nvPr/>
        </p:nvSpPr>
        <p:spPr>
          <a:xfrm>
            <a:off x="9334500" y="36385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4" name="矩形 113"/>
          <p:cNvSpPr>
            <a:spLocks noGrp="1"/>
          </p:cNvSpPr>
          <p:nvPr/>
        </p:nvSpPr>
        <p:spPr>
          <a:xfrm>
            <a:off x="6762750" y="38385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5" name="矩形 114"/>
          <p:cNvSpPr>
            <a:spLocks noGrp="1"/>
          </p:cNvSpPr>
          <p:nvPr/>
        </p:nvSpPr>
        <p:spPr>
          <a:xfrm>
            <a:off x="9334500" y="38385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6" name="矩形 115"/>
          <p:cNvSpPr>
            <a:spLocks noGrp="1"/>
          </p:cNvSpPr>
          <p:nvPr/>
        </p:nvSpPr>
        <p:spPr>
          <a:xfrm>
            <a:off x="6762750" y="40386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7" name="矩形 116"/>
          <p:cNvSpPr>
            <a:spLocks noGrp="1"/>
          </p:cNvSpPr>
          <p:nvPr/>
        </p:nvSpPr>
        <p:spPr>
          <a:xfrm>
            <a:off x="9334500" y="40386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8" name="矩形 117"/>
          <p:cNvSpPr>
            <a:spLocks noGrp="1"/>
          </p:cNvSpPr>
          <p:nvPr/>
        </p:nvSpPr>
        <p:spPr>
          <a:xfrm>
            <a:off x="6762750" y="42386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9334500" y="42386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矩形 119"/>
          <p:cNvSpPr>
            <a:spLocks noGrp="1"/>
          </p:cNvSpPr>
          <p:nvPr/>
        </p:nvSpPr>
        <p:spPr>
          <a:xfrm>
            <a:off x="6762750" y="44386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1" name="矩形 120"/>
          <p:cNvSpPr>
            <a:spLocks noGrp="1"/>
          </p:cNvSpPr>
          <p:nvPr/>
        </p:nvSpPr>
        <p:spPr>
          <a:xfrm>
            <a:off x="9334500" y="44386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2" name="矩形 121"/>
          <p:cNvSpPr>
            <a:spLocks noGrp="1"/>
          </p:cNvSpPr>
          <p:nvPr/>
        </p:nvSpPr>
        <p:spPr>
          <a:xfrm>
            <a:off x="6762750" y="46386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3" name="矩形 122"/>
          <p:cNvSpPr>
            <a:spLocks noGrp="1"/>
          </p:cNvSpPr>
          <p:nvPr/>
        </p:nvSpPr>
        <p:spPr>
          <a:xfrm>
            <a:off x="9334500" y="46386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4" name="矩形 123"/>
          <p:cNvSpPr>
            <a:spLocks noGrp="1"/>
          </p:cNvSpPr>
          <p:nvPr/>
        </p:nvSpPr>
        <p:spPr>
          <a:xfrm>
            <a:off x="6762750" y="48387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5" name="矩形 124"/>
          <p:cNvSpPr>
            <a:spLocks noGrp="1"/>
          </p:cNvSpPr>
          <p:nvPr/>
        </p:nvSpPr>
        <p:spPr>
          <a:xfrm>
            <a:off x="9334500" y="48387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6" name="矩形 125"/>
          <p:cNvSpPr>
            <a:spLocks noGrp="1"/>
          </p:cNvSpPr>
          <p:nvPr/>
        </p:nvSpPr>
        <p:spPr>
          <a:xfrm>
            <a:off x="6762750" y="50387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7" name="矩形 126"/>
          <p:cNvSpPr>
            <a:spLocks noGrp="1"/>
          </p:cNvSpPr>
          <p:nvPr/>
        </p:nvSpPr>
        <p:spPr>
          <a:xfrm>
            <a:off x="9334500" y="50387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8" name="矩形 127"/>
          <p:cNvSpPr>
            <a:spLocks noGrp="1"/>
          </p:cNvSpPr>
          <p:nvPr/>
        </p:nvSpPr>
        <p:spPr>
          <a:xfrm>
            <a:off x="6762750" y="52387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9334500" y="52387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0" name="矩形 129"/>
          <p:cNvSpPr>
            <a:spLocks noGrp="1"/>
          </p:cNvSpPr>
          <p:nvPr/>
        </p:nvSpPr>
        <p:spPr>
          <a:xfrm>
            <a:off x="6762750" y="5438775"/>
            <a:ext cx="19050" cy="666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1" name="矩形 130"/>
          <p:cNvSpPr>
            <a:spLocks noGrp="1"/>
          </p:cNvSpPr>
          <p:nvPr/>
        </p:nvSpPr>
        <p:spPr>
          <a:xfrm>
            <a:off x="9334500" y="5438775"/>
            <a:ext cx="19050" cy="66675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2" name="gpu-lane-label"/>
          <p:cNvSpPr>
            <a:spLocks noGrp="1"/>
          </p:cNvSpPr>
          <p:nvPr/>
        </p:nvSpPr>
        <p:spPr>
          <a:xfrm>
            <a:off x="6934200" y="3695700"/>
            <a:ext cx="1524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GPU</a:t>
            </a:r>
            <a:endParaRPr sz="12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33" name="gpu-stage-1"/>
          <p:cNvSpPr>
            <a:spLocks noGrp="1"/>
          </p:cNvSpPr>
          <p:nvPr/>
        </p:nvSpPr>
        <p:spPr>
          <a:xfrm>
            <a:off x="7029450" y="3943350"/>
            <a:ext cx="1981200" cy="238125"/>
          </a:xfrm>
          <a:prstGeom prst="rect">
            <a:avLst/>
          </a:prstGeom>
          <a:solidFill>
            <a:srgbClr val="66AE3C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sync/同步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4" name="gpu-stage-2"/>
          <p:cNvSpPr>
            <a:spLocks noGrp="1"/>
          </p:cNvSpPr>
          <p:nvPr/>
        </p:nvSpPr>
        <p:spPr>
          <a:xfrm>
            <a:off x="7029450" y="4238625"/>
            <a:ext cx="1981200" cy="238125"/>
          </a:xfrm>
          <a:prstGeom prst="rect">
            <a:avLst/>
          </a:prstGeom>
          <a:solidFill>
            <a:srgbClr val="66AE3C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execute/执行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5" name="gpu-stage-3"/>
          <p:cNvSpPr>
            <a:spLocks noGrp="1"/>
          </p:cNvSpPr>
          <p:nvPr/>
        </p:nvSpPr>
        <p:spPr>
          <a:xfrm>
            <a:off x="7029450" y="4533900"/>
            <a:ext cx="1981200" cy="238125"/>
          </a:xfrm>
          <a:prstGeom prst="rect">
            <a:avLst/>
          </a:prstGeom>
          <a:solidFill>
            <a:srgbClr val="66AE3C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9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get buffer/获取缓存区</a:t>
            </a:r>
            <a:endParaRPr sz="94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6" name="gpu-stage-4"/>
          <p:cNvSpPr>
            <a:spLocks noGrp="1"/>
          </p:cNvSpPr>
          <p:nvPr/>
        </p:nvSpPr>
        <p:spPr>
          <a:xfrm>
            <a:off x="7029450" y="4829175"/>
            <a:ext cx="1981200" cy="238125"/>
          </a:xfrm>
          <a:prstGeom prst="rect">
            <a:avLst/>
          </a:prstGeom>
          <a:solidFill>
            <a:srgbClr val="66AE3C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9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issue/命令问题</a:t>
            </a:r>
            <a:endParaRPr sz="94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7" name="gpu-stage-5"/>
          <p:cNvSpPr>
            <a:spLocks noGrp="1"/>
          </p:cNvSpPr>
          <p:nvPr/>
        </p:nvSpPr>
        <p:spPr>
          <a:xfrm>
            <a:off x="7029450" y="5124450"/>
            <a:ext cx="1981200" cy="238125"/>
          </a:xfrm>
          <a:prstGeom prst="rect">
            <a:avLst/>
          </a:prstGeom>
          <a:solidFill>
            <a:srgbClr val="66AE3C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94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4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swap buffer/交换缓存区</a:t>
            </a:r>
            <a:endParaRPr sz="94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8" name="ui-to-gpu-shaft"/>
          <p:cNvSpPr>
            <a:spLocks noGrp="1"/>
          </p:cNvSpPr>
          <p:nvPr/>
        </p:nvSpPr>
        <p:spPr>
          <a:xfrm>
            <a:off x="6248400" y="4533900"/>
            <a:ext cx="6858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9" name="ui-to-gpu-head"/>
          <p:cNvSpPr>
            <a:spLocks noGrp="1"/>
          </p:cNvSpPr>
          <p:nvPr/>
        </p:nvSpPr>
        <p:spPr>
          <a:xfrm rot="5400000">
            <a:off x="6915150" y="4476750"/>
            <a:ext cx="133350" cy="1333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0" name="graphics-title"/>
          <p:cNvSpPr>
            <a:spLocks noGrp="1"/>
          </p:cNvSpPr>
          <p:nvPr/>
        </p:nvSpPr>
        <p:spPr>
          <a:xfrm>
            <a:off x="9886950" y="21717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Graphics</a:t>
            </a:r>
            <a:endParaRPr sz="1875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1" name="sf-lane-top"/>
          <p:cNvSpPr>
            <a:spLocks noGrp="1"/>
          </p:cNvSpPr>
          <p:nvPr/>
        </p:nvSpPr>
        <p:spPr>
          <a:xfrm>
            <a:off x="9696450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2" name="矩形 141"/>
          <p:cNvSpPr>
            <a:spLocks noGrp="1"/>
          </p:cNvSpPr>
          <p:nvPr/>
        </p:nvSpPr>
        <p:spPr>
          <a:xfrm>
            <a:off x="9696450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3" name="sf-lane-top"/>
          <p:cNvSpPr>
            <a:spLocks noGrp="1"/>
          </p:cNvSpPr>
          <p:nvPr/>
        </p:nvSpPr>
        <p:spPr>
          <a:xfrm>
            <a:off x="9896475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4" name="矩形 143"/>
          <p:cNvSpPr>
            <a:spLocks noGrp="1"/>
          </p:cNvSpPr>
          <p:nvPr/>
        </p:nvSpPr>
        <p:spPr>
          <a:xfrm>
            <a:off x="9896475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5" name="sf-lane-top"/>
          <p:cNvSpPr>
            <a:spLocks noGrp="1"/>
          </p:cNvSpPr>
          <p:nvPr/>
        </p:nvSpPr>
        <p:spPr>
          <a:xfrm>
            <a:off x="10096500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6" name="矩形 145"/>
          <p:cNvSpPr>
            <a:spLocks noGrp="1"/>
          </p:cNvSpPr>
          <p:nvPr/>
        </p:nvSpPr>
        <p:spPr>
          <a:xfrm>
            <a:off x="10096500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7" name="sf-lane-top"/>
          <p:cNvSpPr>
            <a:spLocks noGrp="1"/>
          </p:cNvSpPr>
          <p:nvPr/>
        </p:nvSpPr>
        <p:spPr>
          <a:xfrm>
            <a:off x="10296525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8" name="矩形 147"/>
          <p:cNvSpPr>
            <a:spLocks noGrp="1"/>
          </p:cNvSpPr>
          <p:nvPr/>
        </p:nvSpPr>
        <p:spPr>
          <a:xfrm>
            <a:off x="10296525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9" name="sf-lane-top"/>
          <p:cNvSpPr>
            <a:spLocks noGrp="1"/>
          </p:cNvSpPr>
          <p:nvPr/>
        </p:nvSpPr>
        <p:spPr>
          <a:xfrm>
            <a:off x="10496550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0" name="矩形 149"/>
          <p:cNvSpPr>
            <a:spLocks noGrp="1"/>
          </p:cNvSpPr>
          <p:nvPr/>
        </p:nvSpPr>
        <p:spPr>
          <a:xfrm>
            <a:off x="10496550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1" name="sf-lane-top"/>
          <p:cNvSpPr>
            <a:spLocks noGrp="1"/>
          </p:cNvSpPr>
          <p:nvPr/>
        </p:nvSpPr>
        <p:spPr>
          <a:xfrm>
            <a:off x="10696575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2" name="矩形 151"/>
          <p:cNvSpPr>
            <a:spLocks noGrp="1"/>
          </p:cNvSpPr>
          <p:nvPr/>
        </p:nvSpPr>
        <p:spPr>
          <a:xfrm>
            <a:off x="10696575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3" name="sf-lane-top"/>
          <p:cNvSpPr>
            <a:spLocks noGrp="1"/>
          </p:cNvSpPr>
          <p:nvPr/>
        </p:nvSpPr>
        <p:spPr>
          <a:xfrm>
            <a:off x="10896600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4" name="矩形 153"/>
          <p:cNvSpPr>
            <a:spLocks noGrp="1"/>
          </p:cNvSpPr>
          <p:nvPr/>
        </p:nvSpPr>
        <p:spPr>
          <a:xfrm>
            <a:off x="10896600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5" name="sf-lane-top"/>
          <p:cNvSpPr>
            <a:spLocks noGrp="1"/>
          </p:cNvSpPr>
          <p:nvPr/>
        </p:nvSpPr>
        <p:spPr>
          <a:xfrm>
            <a:off x="11096625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6" name="矩形 155"/>
          <p:cNvSpPr>
            <a:spLocks noGrp="1"/>
          </p:cNvSpPr>
          <p:nvPr/>
        </p:nvSpPr>
        <p:spPr>
          <a:xfrm>
            <a:off x="11096625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7" name="sf-lane-top"/>
          <p:cNvSpPr>
            <a:spLocks noGrp="1"/>
          </p:cNvSpPr>
          <p:nvPr/>
        </p:nvSpPr>
        <p:spPr>
          <a:xfrm>
            <a:off x="11296650" y="4171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8" name="矩形 157"/>
          <p:cNvSpPr>
            <a:spLocks noGrp="1"/>
          </p:cNvSpPr>
          <p:nvPr/>
        </p:nvSpPr>
        <p:spPr>
          <a:xfrm>
            <a:off x="11296650" y="5695950"/>
            <a:ext cx="1143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9" name="sf-lane-top"/>
          <p:cNvSpPr>
            <a:spLocks noGrp="1"/>
          </p:cNvSpPr>
          <p:nvPr/>
        </p:nvSpPr>
        <p:spPr>
          <a:xfrm>
            <a:off x="11496675" y="4171950"/>
            <a:ext cx="9525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0" name="矩形 159"/>
          <p:cNvSpPr>
            <a:spLocks noGrp="1"/>
          </p:cNvSpPr>
          <p:nvPr/>
        </p:nvSpPr>
        <p:spPr>
          <a:xfrm>
            <a:off x="11496675" y="5695950"/>
            <a:ext cx="9525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1" name="矩形 160"/>
          <p:cNvSpPr>
            <a:spLocks noGrp="1"/>
          </p:cNvSpPr>
          <p:nvPr/>
        </p:nvSpPr>
        <p:spPr>
          <a:xfrm>
            <a:off x="9696450" y="41719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2" name="矩形 161"/>
          <p:cNvSpPr>
            <a:spLocks noGrp="1"/>
          </p:cNvSpPr>
          <p:nvPr/>
        </p:nvSpPr>
        <p:spPr>
          <a:xfrm>
            <a:off x="11487150" y="41719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3" name="矩形 162"/>
          <p:cNvSpPr>
            <a:spLocks noGrp="1"/>
          </p:cNvSpPr>
          <p:nvPr/>
        </p:nvSpPr>
        <p:spPr>
          <a:xfrm>
            <a:off x="9696450" y="43719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4" name="矩形 163"/>
          <p:cNvSpPr>
            <a:spLocks noGrp="1"/>
          </p:cNvSpPr>
          <p:nvPr/>
        </p:nvSpPr>
        <p:spPr>
          <a:xfrm>
            <a:off x="11487150" y="43719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5" name="矩形 164"/>
          <p:cNvSpPr>
            <a:spLocks noGrp="1"/>
          </p:cNvSpPr>
          <p:nvPr/>
        </p:nvSpPr>
        <p:spPr>
          <a:xfrm>
            <a:off x="9696450" y="45720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6" name="矩形 165"/>
          <p:cNvSpPr>
            <a:spLocks noGrp="1"/>
          </p:cNvSpPr>
          <p:nvPr/>
        </p:nvSpPr>
        <p:spPr>
          <a:xfrm>
            <a:off x="11487150" y="45720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7" name="矩形 166"/>
          <p:cNvSpPr>
            <a:spLocks noGrp="1"/>
          </p:cNvSpPr>
          <p:nvPr/>
        </p:nvSpPr>
        <p:spPr>
          <a:xfrm>
            <a:off x="9696450" y="47720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8" name="矩形 167"/>
          <p:cNvSpPr>
            <a:spLocks noGrp="1"/>
          </p:cNvSpPr>
          <p:nvPr/>
        </p:nvSpPr>
        <p:spPr>
          <a:xfrm>
            <a:off x="11487150" y="47720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9" name="矩形 168"/>
          <p:cNvSpPr>
            <a:spLocks noGrp="1"/>
          </p:cNvSpPr>
          <p:nvPr/>
        </p:nvSpPr>
        <p:spPr>
          <a:xfrm>
            <a:off x="9696450" y="49720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0" name="矩形 169"/>
          <p:cNvSpPr>
            <a:spLocks noGrp="1"/>
          </p:cNvSpPr>
          <p:nvPr/>
        </p:nvSpPr>
        <p:spPr>
          <a:xfrm>
            <a:off x="11487150" y="497205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1" name="矩形 170"/>
          <p:cNvSpPr>
            <a:spLocks noGrp="1"/>
          </p:cNvSpPr>
          <p:nvPr/>
        </p:nvSpPr>
        <p:spPr>
          <a:xfrm>
            <a:off x="9696450" y="51720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2" name="矩形 171"/>
          <p:cNvSpPr>
            <a:spLocks noGrp="1"/>
          </p:cNvSpPr>
          <p:nvPr/>
        </p:nvSpPr>
        <p:spPr>
          <a:xfrm>
            <a:off x="11487150" y="517207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3" name="矩形 172"/>
          <p:cNvSpPr>
            <a:spLocks noGrp="1"/>
          </p:cNvSpPr>
          <p:nvPr/>
        </p:nvSpPr>
        <p:spPr>
          <a:xfrm>
            <a:off x="9696450" y="53721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4" name="矩形 173"/>
          <p:cNvSpPr>
            <a:spLocks noGrp="1"/>
          </p:cNvSpPr>
          <p:nvPr/>
        </p:nvSpPr>
        <p:spPr>
          <a:xfrm>
            <a:off x="11487150" y="5372100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5" name="矩形 174"/>
          <p:cNvSpPr>
            <a:spLocks noGrp="1"/>
          </p:cNvSpPr>
          <p:nvPr/>
        </p:nvSpPr>
        <p:spPr>
          <a:xfrm>
            <a:off x="9696450" y="55721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6" name="矩形 175"/>
          <p:cNvSpPr>
            <a:spLocks noGrp="1"/>
          </p:cNvSpPr>
          <p:nvPr/>
        </p:nvSpPr>
        <p:spPr>
          <a:xfrm>
            <a:off x="11487150" y="5572125"/>
            <a:ext cx="19050" cy="1143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7" name="sf-lane-label"/>
          <p:cNvSpPr>
            <a:spLocks noGrp="1"/>
          </p:cNvSpPr>
          <p:nvPr/>
        </p:nvSpPr>
        <p:spPr>
          <a:xfrm>
            <a:off x="9867900" y="4248150"/>
            <a:ext cx="15049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SurfaceFlinger/HWC</a:t>
            </a:r>
            <a:endParaRPr sz="1125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78" name="sf-get-buffer"/>
          <p:cNvSpPr>
            <a:spLocks noGrp="1"/>
          </p:cNvSpPr>
          <p:nvPr/>
        </p:nvSpPr>
        <p:spPr>
          <a:xfrm>
            <a:off x="9906000" y="4533900"/>
            <a:ext cx="1371600" cy="257175"/>
          </a:xfrm>
          <a:prstGeom prst="rect">
            <a:avLst/>
          </a:prstGeom>
          <a:solidFill>
            <a:srgbClr val="F4B27E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get buffer/获取缓存区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9" name="sf-swap"/>
          <p:cNvSpPr>
            <a:spLocks noGrp="1"/>
          </p:cNvSpPr>
          <p:nvPr/>
        </p:nvSpPr>
        <p:spPr>
          <a:xfrm>
            <a:off x="9906000" y="5105400"/>
            <a:ext cx="1371600" cy="323850"/>
          </a:xfrm>
          <a:prstGeom prst="rect">
            <a:avLst/>
          </a:prstGeom>
          <a:solidFill>
            <a:srgbClr val="F4B27E"/>
          </a:solidFill>
          <a:ln w="9525">
            <a:solidFill>
              <a:srgbClr val="FFFFFF"/>
            </a:solidFill>
            <a:prstDash val="solid"/>
          </a:ln>
        </p:spPr>
        <p:txBody>
          <a:bodyPr lIns="114300" tIns="76200" rIns="114300" bIns="76200" anchor="ctr"/>
          <a:lstStyle/>
          <a:p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swap buffer/交换缓存区</a:t>
            </a:r>
            <a:endParaRPr sz="9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0" name="sf-compose"/>
          <p:cNvSpPr>
            <a:spLocks noGrp="1"/>
          </p:cNvSpPr>
          <p:nvPr/>
        </p:nvSpPr>
        <p:spPr>
          <a:xfrm>
            <a:off x="9906000" y="5467350"/>
            <a:ext cx="1371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975" b="1">
                <a:solidFill>
                  <a:srgbClr val="C7793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7793F"/>
                </a:solidFill>
                <a:latin typeface="Aptos"/>
                <a:ea typeface="Aptos"/>
                <a:cs typeface="Aptos"/>
              </a:rPr>
              <a:t>compose/合成</a:t>
            </a:r>
            <a:endParaRPr sz="975" b="1">
              <a:solidFill>
                <a:srgbClr val="C7793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1" name="gpu-get-to-sf-shaft"/>
          <p:cNvSpPr>
            <a:spLocks noGrp="1"/>
          </p:cNvSpPr>
          <p:nvPr/>
        </p:nvSpPr>
        <p:spPr>
          <a:xfrm>
            <a:off x="9010650" y="4619625"/>
            <a:ext cx="8001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2" name="gpu-get-to-sf-head"/>
          <p:cNvSpPr>
            <a:spLocks noGrp="1"/>
          </p:cNvSpPr>
          <p:nvPr/>
        </p:nvSpPr>
        <p:spPr>
          <a:xfrm rot="5400000">
            <a:off x="9791700" y="4562475"/>
            <a:ext cx="133350" cy="1333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3" name="gpu-swap-to-sf-shaft"/>
          <p:cNvSpPr>
            <a:spLocks noGrp="1"/>
          </p:cNvSpPr>
          <p:nvPr/>
        </p:nvSpPr>
        <p:spPr>
          <a:xfrm>
            <a:off x="9010650" y="5257800"/>
            <a:ext cx="800100" cy="1905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4" name="gpu-swap-to-sf-head"/>
          <p:cNvSpPr>
            <a:spLocks noGrp="1"/>
          </p:cNvSpPr>
          <p:nvPr/>
        </p:nvSpPr>
        <p:spPr>
          <a:xfrm rot="5400000">
            <a:off x="9791700" y="5200650"/>
            <a:ext cx="133350" cy="133350"/>
          </a:xfrm>
          <a:prstGeom prst="triangle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5" name="diagnosis-tag"/>
          <p:cNvSpPr>
            <a:spLocks noGrp="1"/>
          </p:cNvSpPr>
          <p:nvPr/>
        </p:nvSpPr>
        <p:spPr>
          <a:xfrm>
            <a:off x="7181850" y="2933700"/>
            <a:ext cx="2400300" cy="304800"/>
          </a:xfrm>
          <a:prstGeom prst="rect">
            <a:avLst/>
          </a:prstGeom>
          <a:solidFill>
            <a:srgbClr val="FCE8E6"/>
          </a:solidFill>
          <a:ln w="9525">
            <a:solidFill>
              <a:srgbClr val="E22C2C"/>
            </a:solidFill>
            <a:prstDash val="solid"/>
          </a:ln>
        </p:spPr>
        <p:txBody>
          <a:bodyPr lIns="76200" tIns="38100" rIns="76200" bIns="38100" anchor="ctr"/>
          <a:lstStyle/>
          <a:p>
            <a:pPr algn="ctr">
              <a:defRPr sz="1050" b="1">
                <a:solidFill>
                  <a:srgbClr val="E22C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22C2C"/>
                </a:solidFill>
                <a:latin typeface="Aptos"/>
                <a:ea typeface="Aptos"/>
                <a:cs typeface="Aptos"/>
              </a:rPr>
              <a:t>卡顿定位：</a:t>
            </a:r>
            <a:r>
              <a:rPr lang="zh-CN" sz="1050" b="1">
                <a:solidFill>
                  <a:srgbClr val="E22C2C"/>
                </a:solidFill>
                <a:latin typeface="Aptos"/>
                <a:ea typeface="Aptos"/>
                <a:cs typeface="Aptos"/>
              </a:rPr>
              <a:t>看各个阶段耗时是否</a:t>
            </a:r>
            <a:r>
              <a:rPr lang="zh-CN" sz="1050" b="1">
                <a:solidFill>
                  <a:srgbClr val="E22C2C"/>
                </a:solidFill>
                <a:latin typeface="Aptos"/>
                <a:ea typeface="Aptos"/>
                <a:cs typeface="Aptos"/>
              </a:rPr>
              <a:t>正常</a:t>
            </a:r>
            <a:endParaRPr lang="zh-CN" sz="1050" b="1">
              <a:solidFill>
                <a:srgbClr val="E22C2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分析卡顿</a:t>
            </a:r>
            <a:r>
              <a:rPr 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问题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圆角矩形 1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>
                <a:sym typeface="+mn-ea"/>
              </a:rPr>
              <a:t>分析卡顿问题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Perfetto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基础和案例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分享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文本框 7"/>
          <p:cNvSpPr txBox="1"/>
          <p:nvPr/>
        </p:nvSpPr>
        <p:spPr>
          <a:xfrm>
            <a:off x="793750" y="1804035"/>
            <a:ext cx="10394315" cy="4824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20000"/>
              </a:lnSpc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Perfetto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是什么？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>
              <a:lnSpc>
                <a:spcPct val="120000"/>
              </a:lnSpc>
            </a:pP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Perfetto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Google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开源的跨平台系统级性能追踪与分析工具。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>
              <a:lnSpc>
                <a:spcPct val="120000"/>
              </a:lnSpc>
              <a:buFont typeface="Arial" panose="020B0604020202090204" pitchFamily="34" charset="0"/>
              <a:buNone/>
            </a:pP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Perfetto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提供上帝视角，可以看到整个系统的运行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过程。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Perfetto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已经全面取代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Systrace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sym typeface="+mn-ea"/>
              </a:rPr>
              <a:t>。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Android Profiler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是基于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Perfetto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实现的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Perfetto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官网：</a:t>
            </a: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1" action="ppaction://hlinkfile"/>
              </a:rPr>
              <a:t>https://perfetto.dev/docs/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014075" y="431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top-rule"/>
          <p:cNvSpPr>
            <a:spLocks noGrp="1"/>
          </p:cNvSpPr>
          <p:nvPr/>
        </p:nvSpPr>
        <p:spPr>
          <a:xfrm>
            <a:off x="647700" y="666750"/>
            <a:ext cx="10896600" cy="9525"/>
          </a:xfrm>
          <a:prstGeom prst="rect">
            <a:avLst/>
          </a:prstGeom>
          <a:solidFill>
            <a:srgbClr val="DA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>
                <a:sym typeface="+mn-ea"/>
              </a:rPr>
              <a:t>分析卡顿问题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2.1 Perfetto </a:t>
            </a: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Trace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抓取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文本框 8"/>
          <p:cNvSpPr txBox="1"/>
          <p:nvPr/>
        </p:nvSpPr>
        <p:spPr>
          <a:xfrm>
            <a:off x="647700" y="1676400"/>
            <a:ext cx="10574020" cy="49955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1.</a:t>
            </a: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获取配置，保存</a:t>
            </a: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config.txtpb</a:t>
            </a: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2.配置写入手机 </a:t>
            </a: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adb push config.txtpb /data/misc/perfetto-configs/config.txtpb </a:t>
            </a: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3.开启录制</a:t>
            </a: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adb shell -t perfetto --txt -c /data/misc/perfetto-configs/config.txtpb  -o /data/misc/perfetto-traces/trace.perfetto-trace</a:t>
            </a: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4.crtl + c </a:t>
            </a: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停止录制</a:t>
            </a:r>
            <a:endParaRPr lang="zh-CN" altLang="en-US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zh-CN" altLang="en-US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5.从手机导出</a:t>
            </a: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trace：adb  pull /data/misc/perfetto-traces/trace.perfetto-trace</a:t>
            </a: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6.</a:t>
            </a: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进入</a:t>
            </a: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perfetto</a:t>
            </a: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网页</a:t>
            </a:r>
            <a:r>
              <a:rPr lang="en-US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1" action="ppaction://hlinkfile"/>
              </a:rPr>
              <a:t>https://ui.perfetto.dev/</a:t>
            </a:r>
            <a:r>
              <a:rPr lang="zh-CN" altLang="en-US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打开</a:t>
            </a:r>
            <a:r>
              <a:rPr lang="en-US" altLang="zh-CN" b="0" i="0">
                <a:solidFill>
                  <a:srgbClr val="333333"/>
                </a:solidFill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trace</a:t>
            </a: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0" indent="0" algn="l" fontAlgn="base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</a:pPr>
            <a:endParaRPr lang="en-US" altLang="zh-CN" b="0" i="0">
              <a:solidFill>
                <a:srgbClr val="333333"/>
              </a:solidFill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10" name="top-rule"/>
          <p:cNvSpPr>
            <a:spLocks noGrp="1"/>
          </p:cNvSpPr>
          <p:nvPr/>
        </p:nvSpPr>
        <p:spPr>
          <a:xfrm>
            <a:off x="647700" y="666750"/>
            <a:ext cx="10896600" cy="9525"/>
          </a:xfrm>
          <a:prstGeom prst="rect">
            <a:avLst/>
          </a:prstGeom>
          <a:solidFill>
            <a:srgbClr val="DA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11014075" y="431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>
                <a:sym typeface="+mn-ea"/>
              </a:rPr>
              <a:t>分析卡顿问题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2.2 Perfetto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面板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介绍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r="8225"/>
          <a:stretch>
            <a:fillRect/>
          </a:stretch>
        </p:blipFill>
        <p:spPr>
          <a:xfrm>
            <a:off x="709930" y="1980565"/>
            <a:ext cx="11073765" cy="37731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09600" y="5861685"/>
            <a:ext cx="9384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一般</a:t>
            </a:r>
            <a:r>
              <a:rPr lang="en-US" altLang="zh-CN"/>
              <a:t>CPU0-3</a:t>
            </a:r>
            <a:r>
              <a:rPr lang="zh-CN" altLang="en-US"/>
              <a:t>为小核、</a:t>
            </a:r>
            <a:r>
              <a:rPr lang="en-US" altLang="zh-CN"/>
              <a:t>CPU4-6</a:t>
            </a:r>
            <a:r>
              <a:rPr lang="zh-CN" altLang="en-US"/>
              <a:t>为大核，</a:t>
            </a:r>
            <a:r>
              <a:rPr lang="en-US" altLang="zh-CN"/>
              <a:t>CPU7</a:t>
            </a:r>
            <a:r>
              <a:rPr lang="zh-CN" altLang="en-US"/>
              <a:t>为超大</a:t>
            </a:r>
            <a:r>
              <a:rPr lang="zh-CN" altLang="en-US"/>
              <a:t>核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47700" y="1569085"/>
            <a:ext cx="1525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CPU</a:t>
            </a:r>
            <a:r>
              <a:rPr lang="zh-CN" altLang="en-US" b="1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：</a:t>
            </a:r>
            <a:endParaRPr lang="zh-CN" altLang="en-US" b="1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8" name="top-rule"/>
          <p:cNvSpPr>
            <a:spLocks noGrp="1"/>
          </p:cNvSpPr>
          <p:nvPr/>
        </p:nvSpPr>
        <p:spPr>
          <a:xfrm>
            <a:off x="647700" y="666750"/>
            <a:ext cx="10896600" cy="9525"/>
          </a:xfrm>
          <a:prstGeom prst="rect">
            <a:avLst/>
          </a:prstGeom>
          <a:solidFill>
            <a:srgbClr val="DA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>
                <a:sym typeface="+mn-ea"/>
              </a:rPr>
              <a:t>分析卡顿问题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09600" y="848360"/>
            <a:ext cx="1525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PingFang SC" panose="020B0400000000000000" charset="-122"/>
                <a:ea typeface="PingFang SC" panose="020B0400000000000000" charset="-122"/>
              </a:rPr>
              <a:t>主面板：</a:t>
            </a:r>
            <a:endParaRPr lang="zh-CN" altLang="en-US">
              <a:latin typeface="PingFang SC" panose="020B0400000000000000" charset="-122"/>
              <a:ea typeface="PingFang SC" panose="020B04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21765"/>
            <a:ext cx="11101070" cy="50450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178810" y="1213485"/>
            <a:ext cx="288925" cy="127000"/>
          </a:xfrm>
          <a:prstGeom prst="rect">
            <a:avLst/>
          </a:prstGeom>
          <a:solidFill>
            <a:schemeClr val="bg1"/>
          </a:solidFill>
          <a:ln w="19050" cap="flat" cmpd="sng">
            <a:noFill/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945765" y="4363720"/>
            <a:ext cx="166370" cy="2101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>
                <a:sym typeface="+mn-ea"/>
              </a:rPr>
              <a:t>分析卡顿问题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8" name="top-rule"/>
          <p:cNvSpPr>
            <a:spLocks noGrp="1"/>
          </p:cNvSpPr>
          <p:nvPr/>
        </p:nvSpPr>
        <p:spPr>
          <a:xfrm>
            <a:off x="647700" y="666750"/>
            <a:ext cx="10896600" cy="9525"/>
          </a:xfrm>
          <a:prstGeom prst="rect">
            <a:avLst/>
          </a:prstGeom>
          <a:solidFill>
            <a:srgbClr val="DADCE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86535"/>
            <a:ext cx="11177905" cy="510984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647700" y="936625"/>
            <a:ext cx="15252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PingFang SC" panose="020B0400000000000000" charset="-122"/>
                <a:ea typeface="PingFang SC" panose="020B0400000000000000" charset="-122"/>
              </a:rPr>
              <a:t>信息区域：</a:t>
            </a:r>
            <a:endParaRPr lang="zh-CN" altLang="en-US"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t>分析卡顿问题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2.3 Frame Timeline</a:t>
            </a:r>
            <a:r>
              <a: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颜色</a:t>
            </a:r>
            <a:r>
              <a: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信息</a:t>
            </a:r>
            <a:endParaRPr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底部小标签"/>
          <p:cNvSpPr>
            <a:spLocks noGrp="1"/>
          </p:cNvSpPr>
          <p:nvPr/>
        </p:nvSpPr>
        <p:spPr>
          <a:xfrm>
            <a:off x="742950" y="6038850"/>
            <a:ext cx="2476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975" b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1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Perfetto Frame Timeline</a:t>
            </a:r>
            <a:endParaRPr sz="975" b="1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底部图例-绿色"/>
          <p:cNvSpPr>
            <a:spLocks noGrp="1"/>
          </p:cNvSpPr>
          <p:nvPr/>
        </p:nvSpPr>
        <p:spPr>
          <a:xfrm>
            <a:off x="3600450" y="6086475"/>
            <a:ext cx="400050" cy="1143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 w="0">
            <a:noFill/>
          </a:ln>
        </p:spPr>
      </p:sp>
      <p:sp>
        <p:nvSpPr>
          <p:cNvPr id="54" name="底部图例-浅绿色"/>
          <p:cNvSpPr>
            <a:spLocks noGrp="1"/>
          </p:cNvSpPr>
          <p:nvPr/>
        </p:nvSpPr>
        <p:spPr>
          <a:xfrm>
            <a:off x="4133850" y="6086475"/>
            <a:ext cx="400050" cy="114300"/>
          </a:xfrm>
          <a:prstGeom prst="roundRect">
            <a:avLst>
              <a:gd name="adj" fmla="val 50000"/>
            </a:avLst>
          </a:prstGeom>
          <a:solidFill>
            <a:srgbClr val="A8DAB5"/>
          </a:solidFill>
          <a:ln w="0">
            <a:noFill/>
          </a:ln>
        </p:spPr>
      </p:sp>
      <p:sp>
        <p:nvSpPr>
          <p:cNvPr id="55" name="底部图例-红色"/>
          <p:cNvSpPr>
            <a:spLocks noGrp="1"/>
          </p:cNvSpPr>
          <p:nvPr/>
        </p:nvSpPr>
        <p:spPr>
          <a:xfrm>
            <a:off x="4667250" y="6086475"/>
            <a:ext cx="400050" cy="1143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 w="0">
            <a:noFill/>
          </a:ln>
        </p:spPr>
      </p:sp>
      <p:sp>
        <p:nvSpPr>
          <p:cNvPr id="56" name="底部图例-黄色"/>
          <p:cNvSpPr>
            <a:spLocks noGrp="1"/>
          </p:cNvSpPr>
          <p:nvPr/>
        </p:nvSpPr>
        <p:spPr>
          <a:xfrm>
            <a:off x="5200650" y="6086475"/>
            <a:ext cx="400050" cy="1143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 w="0">
            <a:noFill/>
          </a:ln>
        </p:spPr>
      </p:sp>
      <p:sp>
        <p:nvSpPr>
          <p:cNvPr id="57" name="底部图例-蓝色"/>
          <p:cNvSpPr>
            <a:spLocks noGrp="1"/>
          </p:cNvSpPr>
          <p:nvPr/>
        </p:nvSpPr>
        <p:spPr>
          <a:xfrm>
            <a:off x="5734050" y="6086475"/>
            <a:ext cx="400050" cy="1143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 w="0">
            <a:noFill/>
          </a:ln>
        </p:spPr>
      </p:sp>
      <p:sp>
        <p:nvSpPr>
          <p:cNvPr id="58" name="底部说明"/>
          <p:cNvSpPr>
            <a:spLocks noGrp="1"/>
          </p:cNvSpPr>
          <p:nvPr/>
        </p:nvSpPr>
        <p:spPr>
          <a:xfrm>
            <a:off x="6324600" y="6038850"/>
            <a:ext cx="5619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/>
          <a:lstStyle/>
          <a:p>
            <a:pPr algn="l">
              <a:def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40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先看颜色定位异常类型，再回到具体 Frame / Jank type / SurfaceFlinger 轨道确认根因</a:t>
            </a:r>
            <a:endParaRPr sz="940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grpSp>
        <p:nvGrpSpPr>
          <p:cNvPr id="8" name="组合 1"/>
          <p:cNvGrpSpPr/>
          <p:nvPr/>
        </p:nvGrpSpPr>
        <p:grpSpPr>
          <a:xfrm>
            <a:off x="628650" y="1752600"/>
            <a:ext cx="10439400" cy="4191000"/>
            <a:chOff x="876300" y="1752600"/>
            <a:chExt cx="10439400" cy="4191000"/>
          </a:xfrm>
        </p:grpSpPr>
        <p:sp>
          <p:nvSpPr>
            <p:cNvPr id="9" name="Frame Timeline 颜色说明面板"/>
            <p:cNvSpPr>
              <a:spLocks noGrp="1"/>
            </p:cNvSpPr>
            <p:nvPr/>
          </p:nvSpPr>
          <p:spPr>
            <a:xfrm>
              <a:off x="876300" y="1752600"/>
              <a:ext cx="10439400" cy="419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6DEE8"/>
              </a:solidFill>
            </a:ln>
          </p:spPr>
        </p:sp>
        <p:sp>
          <p:nvSpPr>
            <p:cNvPr id="10" name="面板标题底色"/>
            <p:cNvSpPr>
              <a:spLocks noGrp="1"/>
            </p:cNvSpPr>
            <p:nvPr/>
          </p:nvSpPr>
          <p:spPr>
            <a:xfrm>
              <a:off x="876300" y="1752600"/>
              <a:ext cx="10439400" cy="514350"/>
            </a:xfrm>
            <a:prstGeom prst="rect">
              <a:avLst/>
            </a:prstGeom>
            <a:solidFill>
              <a:srgbClr val="F3F6FA"/>
            </a:solidFill>
            <a:ln w="0">
              <a:noFill/>
            </a:ln>
          </p:spPr>
        </p:sp>
        <p:sp>
          <p:nvSpPr>
            <p:cNvPr id="11" name="说明标题"/>
            <p:cNvSpPr>
              <a:spLocks noGrp="1"/>
            </p:cNvSpPr>
            <p:nvPr/>
          </p:nvSpPr>
          <p:spPr>
            <a:xfrm>
              <a:off x="1123950" y="1885950"/>
              <a:ext cx="53340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275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75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FrameTimeline 的颜色大致可以这样读：</a:t>
              </a:r>
              <a:endParaRPr sz="1275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12" name="表格外框"/>
            <p:cNvSpPr>
              <a:spLocks noGrp="1"/>
            </p:cNvSpPr>
            <p:nvPr/>
          </p:nvSpPr>
          <p:spPr>
            <a:xfrm>
              <a:off x="1123950" y="2457450"/>
              <a:ext cx="9944100" cy="2781300"/>
            </a:xfrm>
            <a:prstGeom prst="rect">
              <a:avLst/>
            </a:prstGeom>
            <a:noFill/>
            <a:ln w="9525">
              <a:solidFill>
                <a:srgbClr val="D6DEE8"/>
              </a:solidFill>
            </a:ln>
          </p:spPr>
        </p:sp>
        <p:sp>
          <p:nvSpPr>
            <p:cNvPr id="13" name="表头背景"/>
            <p:cNvSpPr>
              <a:spLocks noGrp="1"/>
            </p:cNvSpPr>
            <p:nvPr/>
          </p:nvSpPr>
          <p:spPr>
            <a:xfrm>
              <a:off x="1123950" y="2457450"/>
              <a:ext cx="9944100" cy="400050"/>
            </a:xfrm>
            <a:prstGeom prst="rect">
              <a:avLst/>
            </a:prstGeom>
            <a:solidFill>
              <a:srgbClr val="EEF2F7"/>
            </a:solidFill>
            <a:ln w="0">
              <a:noFill/>
            </a:ln>
          </p:spPr>
        </p:sp>
        <p:sp>
          <p:nvSpPr>
            <p:cNvPr id="14" name="表头颜色"/>
            <p:cNvSpPr>
              <a:spLocks noGrp="1"/>
            </p:cNvSpPr>
            <p:nvPr/>
          </p:nvSpPr>
          <p:spPr>
            <a:xfrm>
              <a:off x="1123950" y="2524125"/>
              <a:ext cx="209550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>
                <a:def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颜色</a:t>
              </a:r>
              <a:endPara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59" name="表头含义"/>
            <p:cNvSpPr>
              <a:spLocks noGrp="1"/>
            </p:cNvSpPr>
            <p:nvPr/>
          </p:nvSpPr>
          <p:spPr>
            <a:xfrm>
              <a:off x="3219450" y="2524125"/>
              <a:ext cx="7848600" cy="2476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ctr">
                <a:def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含义</a:t>
              </a:r>
              <a:endPara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0" name="表格分隔线"/>
            <p:cNvSpPr>
              <a:spLocks noGrp="1"/>
            </p:cNvSpPr>
            <p:nvPr/>
          </p:nvSpPr>
          <p:spPr>
            <a:xfrm>
              <a:off x="1123950" y="2857500"/>
              <a:ext cx="9944100" cy="9525"/>
            </a:xfrm>
            <a:prstGeom prst="rect">
              <a:avLst/>
            </a:prstGeom>
            <a:solidFill>
              <a:srgbClr val="D6DEE8"/>
            </a:solidFill>
            <a:ln w="0">
              <a:noFill/>
            </a:ln>
          </p:spPr>
        </p:sp>
        <p:sp>
          <p:nvSpPr>
            <p:cNvPr id="61" name="表格竖线"/>
            <p:cNvSpPr>
              <a:spLocks noGrp="1"/>
            </p:cNvSpPr>
            <p:nvPr/>
          </p:nvSpPr>
          <p:spPr>
            <a:xfrm>
              <a:off x="3219450" y="2457450"/>
              <a:ext cx="9525" cy="2781300"/>
            </a:xfrm>
            <a:prstGeom prst="rect">
              <a:avLst/>
            </a:prstGeom>
            <a:solidFill>
              <a:srgbClr val="D6DEE8"/>
            </a:solidFill>
            <a:ln w="0">
              <a:noFill/>
            </a:ln>
          </p:spPr>
        </p:sp>
        <p:sp>
          <p:nvSpPr>
            <p:cNvPr id="62" name="行底色-绿色"/>
            <p:cNvSpPr>
              <a:spLocks noGrp="1"/>
            </p:cNvSpPr>
            <p:nvPr/>
          </p:nvSpPr>
          <p:spPr>
            <a:xfrm>
              <a:off x="1123950" y="2857500"/>
              <a:ext cx="9944100" cy="47625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63" name="表格分隔线"/>
            <p:cNvSpPr>
              <a:spLocks noGrp="1"/>
            </p:cNvSpPr>
            <p:nvPr/>
          </p:nvSpPr>
          <p:spPr>
            <a:xfrm>
              <a:off x="1123950" y="3333750"/>
              <a:ext cx="9944100" cy="9525"/>
            </a:xfrm>
            <a:prstGeom prst="rect">
              <a:avLst/>
            </a:prstGeom>
            <a:solidFill>
              <a:srgbClr val="D6DEE8"/>
            </a:solidFill>
            <a:ln w="0">
              <a:noFill/>
            </a:ln>
          </p:spPr>
        </p:sp>
        <p:sp>
          <p:nvSpPr>
            <p:cNvPr id="64" name="FrameTimeline 色块-绿色"/>
            <p:cNvSpPr>
              <a:spLocks noGrp="1"/>
            </p:cNvSpPr>
            <p:nvPr/>
          </p:nvSpPr>
          <p:spPr>
            <a:xfrm>
              <a:off x="1314450" y="2981325"/>
              <a:ext cx="704850" cy="228600"/>
            </a:xfrm>
            <a:prstGeom prst="roundRect">
              <a:avLst>
                <a:gd name="adj" fmla="val 20833"/>
              </a:avLst>
            </a:prstGeom>
            <a:solidFill>
              <a:srgbClr val="34A853"/>
            </a:solidFill>
            <a:ln w="11430">
              <a:solidFill>
                <a:srgbClr val="FFFFFF"/>
              </a:solidFill>
            </a:ln>
          </p:spPr>
        </p:sp>
        <p:sp>
          <p:nvSpPr>
            <p:cNvPr id="65" name="颜色名-绿色"/>
            <p:cNvSpPr>
              <a:spLocks noGrp="1"/>
            </p:cNvSpPr>
            <p:nvPr/>
          </p:nvSpPr>
          <p:spPr>
            <a:xfrm>
              <a:off x="2152650" y="2962275"/>
              <a:ext cx="7810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绿色</a:t>
              </a:r>
              <a:endPara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6" name="含义-绿色"/>
            <p:cNvSpPr>
              <a:spLocks noGrp="1"/>
            </p:cNvSpPr>
            <p:nvPr/>
          </p:nvSpPr>
          <p:spPr>
            <a:xfrm>
              <a:off x="3467100" y="2962275"/>
              <a:ext cx="73533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好帧</a:t>
              </a:r>
              <a:endParaRPr sz="1050" b="0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67" name="行底色-浅绿色"/>
            <p:cNvSpPr>
              <a:spLocks noGrp="1"/>
            </p:cNvSpPr>
            <p:nvPr/>
          </p:nvSpPr>
          <p:spPr>
            <a:xfrm>
              <a:off x="1123950" y="3333750"/>
              <a:ext cx="9944100" cy="476250"/>
            </a:xfrm>
            <a:prstGeom prst="rect">
              <a:avLst/>
            </a:prstGeom>
            <a:solidFill>
              <a:srgbClr val="F7FAFD"/>
            </a:solidFill>
            <a:ln w="0">
              <a:noFill/>
            </a:ln>
          </p:spPr>
        </p:sp>
        <p:sp>
          <p:nvSpPr>
            <p:cNvPr id="68" name="表格分隔线"/>
            <p:cNvSpPr>
              <a:spLocks noGrp="1"/>
            </p:cNvSpPr>
            <p:nvPr/>
          </p:nvSpPr>
          <p:spPr>
            <a:xfrm>
              <a:off x="1123950" y="3810000"/>
              <a:ext cx="9944100" cy="9525"/>
            </a:xfrm>
            <a:prstGeom prst="rect">
              <a:avLst/>
            </a:prstGeom>
            <a:solidFill>
              <a:srgbClr val="D6DEE8"/>
            </a:solidFill>
            <a:ln w="0">
              <a:noFill/>
            </a:ln>
          </p:spPr>
        </p:sp>
        <p:sp>
          <p:nvSpPr>
            <p:cNvPr id="69" name="FrameTimeline 色块-浅绿色"/>
            <p:cNvSpPr>
              <a:spLocks noGrp="1"/>
            </p:cNvSpPr>
            <p:nvPr/>
          </p:nvSpPr>
          <p:spPr>
            <a:xfrm>
              <a:off x="1314450" y="3457575"/>
              <a:ext cx="704850" cy="228600"/>
            </a:xfrm>
            <a:prstGeom prst="roundRect">
              <a:avLst>
                <a:gd name="adj" fmla="val 20833"/>
              </a:avLst>
            </a:prstGeom>
            <a:solidFill>
              <a:srgbClr val="A8DAB5"/>
            </a:solidFill>
            <a:ln w="11430">
              <a:solidFill>
                <a:srgbClr val="FFFFFF"/>
              </a:solidFill>
            </a:ln>
          </p:spPr>
        </p:sp>
        <p:sp>
          <p:nvSpPr>
            <p:cNvPr id="70" name="颜色名-浅绿色"/>
            <p:cNvSpPr>
              <a:spLocks noGrp="1"/>
            </p:cNvSpPr>
            <p:nvPr/>
          </p:nvSpPr>
          <p:spPr>
            <a:xfrm>
              <a:off x="2152650" y="3438525"/>
              <a:ext cx="7810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浅绿色</a:t>
              </a:r>
              <a:endPara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71" name="含义-浅绿色"/>
            <p:cNvSpPr>
              <a:spLocks noGrp="1"/>
            </p:cNvSpPr>
            <p:nvPr/>
          </p:nvSpPr>
          <p:spPr>
            <a:xfrm>
              <a:off x="3467100" y="3438525"/>
              <a:ext cx="73533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帧率平稳但延迟偏高</a:t>
              </a:r>
              <a:endParaRPr sz="1050" b="0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72" name="行底色-红色"/>
            <p:cNvSpPr>
              <a:spLocks noGrp="1"/>
            </p:cNvSpPr>
            <p:nvPr/>
          </p:nvSpPr>
          <p:spPr>
            <a:xfrm>
              <a:off x="1123950" y="3810000"/>
              <a:ext cx="9944100" cy="47625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73" name="表格分隔线"/>
            <p:cNvSpPr>
              <a:spLocks noGrp="1"/>
            </p:cNvSpPr>
            <p:nvPr/>
          </p:nvSpPr>
          <p:spPr>
            <a:xfrm>
              <a:off x="1123950" y="4286250"/>
              <a:ext cx="9944100" cy="9525"/>
            </a:xfrm>
            <a:prstGeom prst="rect">
              <a:avLst/>
            </a:prstGeom>
            <a:solidFill>
              <a:srgbClr val="D6DEE8"/>
            </a:solidFill>
            <a:ln w="0">
              <a:noFill/>
            </a:ln>
          </p:spPr>
        </p:sp>
        <p:sp>
          <p:nvSpPr>
            <p:cNvPr id="74" name="FrameTimeline 色块-红色"/>
            <p:cNvSpPr>
              <a:spLocks noGrp="1"/>
            </p:cNvSpPr>
            <p:nvPr/>
          </p:nvSpPr>
          <p:spPr>
            <a:xfrm>
              <a:off x="1314450" y="3933825"/>
              <a:ext cx="704850" cy="228600"/>
            </a:xfrm>
            <a:prstGeom prst="roundRect">
              <a:avLst>
                <a:gd name="adj" fmla="val 20833"/>
              </a:avLst>
            </a:prstGeom>
            <a:solidFill>
              <a:srgbClr val="EA4335"/>
            </a:solidFill>
            <a:ln w="11430">
              <a:solidFill>
                <a:srgbClr val="FFFFFF"/>
              </a:solidFill>
            </a:ln>
          </p:spPr>
        </p:sp>
        <p:sp>
          <p:nvSpPr>
            <p:cNvPr id="75" name="颜色名-红色"/>
            <p:cNvSpPr>
              <a:spLocks noGrp="1"/>
            </p:cNvSpPr>
            <p:nvPr/>
          </p:nvSpPr>
          <p:spPr>
            <a:xfrm>
              <a:off x="2152650" y="3914775"/>
              <a:ext cx="7810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红色</a:t>
              </a:r>
              <a:endPara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76" name="含义-红色"/>
            <p:cNvSpPr>
              <a:spLocks noGrp="1"/>
            </p:cNvSpPr>
            <p:nvPr/>
          </p:nvSpPr>
          <p:spPr>
            <a:xfrm>
              <a:off x="3467100" y="3914775"/>
              <a:ext cx="73533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该</a:t>
              </a:r>
              <a:r>
                <a:rPr lang="zh-CN"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帧</a:t>
              </a:r>
              <a:r>
                <a: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被认为是 jank </a:t>
              </a:r>
              <a:endParaRPr sz="1050" b="0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77" name="行底色-黄色"/>
            <p:cNvSpPr>
              <a:spLocks noGrp="1"/>
            </p:cNvSpPr>
            <p:nvPr/>
          </p:nvSpPr>
          <p:spPr>
            <a:xfrm>
              <a:off x="1123950" y="4286250"/>
              <a:ext cx="9944100" cy="476250"/>
            </a:xfrm>
            <a:prstGeom prst="rect">
              <a:avLst/>
            </a:prstGeom>
            <a:solidFill>
              <a:srgbClr val="F7FAFD"/>
            </a:solidFill>
            <a:ln w="0">
              <a:noFill/>
            </a:ln>
          </p:spPr>
        </p:sp>
        <p:sp>
          <p:nvSpPr>
            <p:cNvPr id="78" name="表格分隔线"/>
            <p:cNvSpPr>
              <a:spLocks noGrp="1"/>
            </p:cNvSpPr>
            <p:nvPr/>
          </p:nvSpPr>
          <p:spPr>
            <a:xfrm>
              <a:off x="1123950" y="4762500"/>
              <a:ext cx="9944100" cy="9525"/>
            </a:xfrm>
            <a:prstGeom prst="rect">
              <a:avLst/>
            </a:prstGeom>
            <a:solidFill>
              <a:srgbClr val="D6DEE8"/>
            </a:solidFill>
            <a:ln w="0">
              <a:noFill/>
            </a:ln>
          </p:spPr>
        </p:sp>
        <p:sp>
          <p:nvSpPr>
            <p:cNvPr id="79" name="FrameTimeline 色块-黄色"/>
            <p:cNvSpPr>
              <a:spLocks noGrp="1"/>
            </p:cNvSpPr>
            <p:nvPr/>
          </p:nvSpPr>
          <p:spPr>
            <a:xfrm>
              <a:off x="1314450" y="4410075"/>
              <a:ext cx="704850" cy="228600"/>
            </a:xfrm>
            <a:prstGeom prst="roundRect">
              <a:avLst>
                <a:gd name="adj" fmla="val 20833"/>
              </a:avLst>
            </a:prstGeom>
            <a:solidFill>
              <a:srgbClr val="FBBC04"/>
            </a:solidFill>
            <a:ln w="11430">
              <a:solidFill>
                <a:srgbClr val="FFFFFF"/>
              </a:solidFill>
            </a:ln>
          </p:spPr>
        </p:sp>
        <p:sp>
          <p:nvSpPr>
            <p:cNvPr id="80" name="颜色名-黄色"/>
            <p:cNvSpPr>
              <a:spLocks noGrp="1"/>
            </p:cNvSpPr>
            <p:nvPr/>
          </p:nvSpPr>
          <p:spPr>
            <a:xfrm>
              <a:off x="2152650" y="4391025"/>
              <a:ext cx="7810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黄色</a:t>
              </a:r>
              <a:endPara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81" name="含义-黄色"/>
            <p:cNvSpPr>
              <a:spLocks noGrp="1"/>
            </p:cNvSpPr>
            <p:nvPr/>
          </p:nvSpPr>
          <p:spPr>
            <a:xfrm>
              <a:off x="3467100" y="4391025"/>
              <a:ext cx="73533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App 帧 jank，但原因更偏 SurfaceFlinger</a:t>
              </a:r>
              <a:endParaRPr sz="1050" b="0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82" name="行底色-蓝色"/>
            <p:cNvSpPr>
              <a:spLocks noGrp="1"/>
            </p:cNvSpPr>
            <p:nvPr/>
          </p:nvSpPr>
          <p:spPr>
            <a:xfrm>
              <a:off x="1123950" y="4762500"/>
              <a:ext cx="9944100" cy="476250"/>
            </a:xfrm>
            <a:prstGeom prst="rect">
              <a:avLst/>
            </a:prstGeom>
            <a:solidFill>
              <a:srgbClr val="FFFFFF"/>
            </a:solidFill>
            <a:ln w="0">
              <a:noFill/>
            </a:ln>
          </p:spPr>
        </p:sp>
        <p:sp>
          <p:nvSpPr>
            <p:cNvPr id="83" name="表格分隔线"/>
            <p:cNvSpPr>
              <a:spLocks noGrp="1"/>
            </p:cNvSpPr>
            <p:nvPr/>
          </p:nvSpPr>
          <p:spPr>
            <a:xfrm>
              <a:off x="1123950" y="5238750"/>
              <a:ext cx="9944100" cy="9525"/>
            </a:xfrm>
            <a:prstGeom prst="rect">
              <a:avLst/>
            </a:prstGeom>
            <a:solidFill>
              <a:srgbClr val="D6DEE8"/>
            </a:solidFill>
            <a:ln w="0">
              <a:noFill/>
            </a:ln>
          </p:spPr>
        </p:sp>
        <p:sp>
          <p:nvSpPr>
            <p:cNvPr id="84" name="FrameTimeline 色块-蓝色"/>
            <p:cNvSpPr>
              <a:spLocks noGrp="1"/>
            </p:cNvSpPr>
            <p:nvPr/>
          </p:nvSpPr>
          <p:spPr>
            <a:xfrm>
              <a:off x="1314450" y="4886325"/>
              <a:ext cx="704850" cy="228600"/>
            </a:xfrm>
            <a:prstGeom prst="roundRect">
              <a:avLst>
                <a:gd name="adj" fmla="val 20833"/>
              </a:avLst>
            </a:prstGeom>
            <a:solidFill>
              <a:srgbClr val="4285F4"/>
            </a:solidFill>
            <a:ln w="11430">
              <a:solidFill>
                <a:srgbClr val="FFFFFF"/>
              </a:solidFill>
            </a:ln>
          </p:spPr>
        </p:sp>
        <p:sp>
          <p:nvSpPr>
            <p:cNvPr id="85" name="颜色名-蓝色"/>
            <p:cNvSpPr>
              <a:spLocks noGrp="1"/>
            </p:cNvSpPr>
            <p:nvPr/>
          </p:nvSpPr>
          <p:spPr>
            <a:xfrm>
              <a:off x="2152650" y="4867275"/>
              <a:ext cx="78105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蓝色</a:t>
              </a:r>
              <a:endParaRPr sz="105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86" name="含义-蓝色"/>
            <p:cNvSpPr>
              <a:spLocks noGrp="1"/>
            </p:cNvSpPr>
            <p:nvPr/>
          </p:nvSpPr>
          <p:spPr>
            <a:xfrm>
              <a:off x="3467100" y="4867275"/>
              <a:ext cx="73533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050" b="0">
                  <a:solidFill>
                    <a:srgbClr val="374151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dropped frame 或状态更新没有及时推给 RenderThread</a:t>
              </a:r>
              <a:endParaRPr sz="1050" b="0">
                <a:solidFill>
                  <a:srgbClr val="37415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  <p:sp>
          <p:nvSpPr>
            <p:cNvPr id="87" name="提醒左侧强调线"/>
            <p:cNvSpPr>
              <a:spLocks noGrp="1"/>
            </p:cNvSpPr>
            <p:nvPr/>
          </p:nvSpPr>
          <p:spPr>
            <a:xfrm>
              <a:off x="1123950" y="5467350"/>
              <a:ext cx="47625" cy="361950"/>
            </a:xfrm>
            <a:prstGeom prst="rect">
              <a:avLst/>
            </a:prstGeom>
            <a:solidFill>
              <a:srgbClr val="2F80ED"/>
            </a:solidFill>
            <a:ln w="0">
              <a:noFill/>
            </a:ln>
          </p:spPr>
        </p:sp>
        <p:sp>
          <p:nvSpPr>
            <p:cNvPr id="88" name="颜色提醒"/>
            <p:cNvSpPr>
              <a:spLocks noGrp="1"/>
            </p:cNvSpPr>
            <p:nvPr/>
          </p:nvSpPr>
          <p:spPr>
            <a:xfrm>
              <a:off x="1295400" y="5486400"/>
              <a:ext cx="960120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ctr"/>
            <a:lstStyle/>
            <a:p>
              <a:pPr algn="l">
                <a:defRPr sz="12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defRPr>
              </a:pPr>
              <a:r>
                <a:rPr sz="1200" b="1">
                  <a:solidFill>
                    <a:srgbClr val="111827"/>
                  </a:solidFill>
                  <a:latin typeface="PingFang SC" panose="020B0400000000000000" charset="-122"/>
                  <a:ea typeface="PingFang SC" panose="020B0400000000000000" charset="-122"/>
                  <a:cs typeface="PingFang SC" panose="020B0400000000000000" charset="-122"/>
                </a:rPr>
                <a:t>颜色是入口，不是结论。结论要结合底部字段和上下游轨道。</a:t>
              </a:r>
              <a:endParaRPr sz="1200" b="1">
                <a:solidFill>
                  <a:srgbClr val="111827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08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2.4 Jank Type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常见分类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>
                <a:sym typeface="+mn-ea"/>
              </a:rPr>
              <a:t>分析卡顿问题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graphicFrame>
        <p:nvGraphicFramePr>
          <p:cNvPr id="20" name="表格 19"/>
          <p:cNvGraphicFramePr/>
          <p:nvPr/>
        </p:nvGraphicFramePr>
        <p:xfrm>
          <a:off x="609600" y="2146300"/>
          <a:ext cx="10668000" cy="3676650"/>
        </p:xfrm>
        <a:graphic>
          <a:graphicData uri="http://schemas.openxmlformats.org/drawingml/2006/table">
            <a:tbl>
              <a:tblPr/>
              <a:tblGrid>
                <a:gridCol w="952500"/>
                <a:gridCol w="2190750"/>
                <a:gridCol w="4826635"/>
                <a:gridCol w="2698115"/>
              </a:tblGrid>
              <a:tr h="476250"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667085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类型</a:t>
                      </a:r>
                      <a:endParaRPr sz="900" b="1">
                        <a:solidFill>
                          <a:srgbClr val="667085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>
                          <a:solidFill>
                            <a:srgbClr val="667085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名称</a:t>
                      </a:r>
                      <a:endParaRPr lang="zh-CN" sz="900" b="1">
                        <a:solidFill>
                          <a:srgbClr val="667085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900" b="1">
                          <a:solidFill>
                            <a:srgbClr val="667085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含义</a:t>
                      </a:r>
                      <a:endParaRPr sz="900" b="1">
                        <a:solidFill>
                          <a:srgbClr val="667085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sz="900" b="1">
                          <a:solidFill>
                            <a:srgbClr val="667085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责任</a:t>
                      </a:r>
                      <a:r>
                        <a:rPr lang="zh-CN" sz="900" b="1">
                          <a:solidFill>
                            <a:srgbClr val="667085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方</a:t>
                      </a:r>
                      <a:endParaRPr lang="zh-CN" sz="900" b="1">
                        <a:solidFill>
                          <a:srgbClr val="667085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9FAFB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2563EB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TYPE 1</a:t>
                      </a:r>
                      <a:endParaRPr sz="975" b="1">
                        <a:solidFill>
                          <a:srgbClr val="2563EB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101828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App Deadline Missed</a:t>
                      </a:r>
                      <a:endParaRPr sz="1125" b="1">
                        <a:solidFill>
                          <a:srgbClr val="101828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App </a:t>
                      </a:r>
                      <a:r>
                        <a:rPr lang="zh-CN" alt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自身渲染超时(</a:t>
                      </a:r>
                      <a:r>
                        <a:rPr lang="en-US" altLang="zh-CN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UI/RenderThread </a:t>
                      </a:r>
                      <a:r>
                        <a:rPr lang="zh-CN" alt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太慢)</a:t>
                      </a:r>
                      <a:endParaRPr lang="zh-CN" altLang="en-US" sz="975" b="0">
                        <a:solidFill>
                          <a:srgbClr val="475467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App</a:t>
                      </a:r>
                      <a:endParaRPr lang="en-US" sz="975" b="0">
                        <a:solidFill>
                          <a:srgbClr val="475467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6D28D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TYPE 2</a:t>
                      </a:r>
                      <a:endParaRPr sz="975" b="1">
                        <a:solidFill>
                          <a:srgbClr val="6D28D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25" b="1">
                          <a:solidFill>
                            <a:srgbClr val="101828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Buffer Stuffing</a:t>
                      </a:r>
                      <a:endParaRPr sz="1125" b="1">
                        <a:solidFill>
                          <a:srgbClr val="101828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zh-CN" alt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缓冲区堆积(队列里积压了过多已渲染帧) </a:t>
                      </a:r>
                      <a:endParaRPr lang="zh-CN" altLang="en-US" sz="975" b="0">
                        <a:solidFill>
                          <a:srgbClr val="475467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App</a:t>
                      </a:r>
                      <a:endParaRPr lang="en-US" sz="975" b="0">
                        <a:solidFill>
                          <a:srgbClr val="475467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BE123C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TYPE 3</a:t>
                      </a:r>
                      <a:endParaRPr sz="975" b="1">
                        <a:solidFill>
                          <a:srgbClr val="BE123C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125" b="1">
                          <a:solidFill>
                            <a:srgbClr val="101828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SurfaceFlinger CPU Deadline Missed</a:t>
                      </a:r>
                      <a:endParaRPr lang="en-US" altLang="zh-CN" sz="1125" b="1">
                        <a:solidFill>
                          <a:srgbClr val="101828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 SurfaceFlinger </a:t>
                      </a:r>
                      <a:r>
                        <a:rPr lang="zh-CN" alt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在 </a:t>
                      </a:r>
                      <a:r>
                        <a:rPr lang="en-US" altLang="zh-CN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CPU </a:t>
                      </a:r>
                      <a:r>
                        <a:rPr lang="zh-CN" alt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侧合成超时</a:t>
                      </a:r>
                      <a:endParaRPr lang="zh-CN" altLang="en-US" sz="975" b="0">
                        <a:solidFill>
                          <a:srgbClr val="475467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Surface</a:t>
                      </a:r>
                      <a:r>
                        <a:rPr 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Flinger</a:t>
                      </a:r>
                      <a:endParaRPr lang="en-US" sz="975" b="0">
                        <a:solidFill>
                          <a:srgbClr val="475467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wrap="square"/>
                    <a:lstStyle/>
                    <a:p>
                      <a:pPr algn="ctr"/>
                      <a:r>
                        <a:rPr sz="975" b="1">
                          <a:solidFill>
                            <a:srgbClr val="B4530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TYPE 4</a:t>
                      </a:r>
                      <a:endParaRPr sz="975" b="1">
                        <a:solidFill>
                          <a:srgbClr val="B4530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1125" b="1">
                          <a:solidFill>
                            <a:srgbClr val="101828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SurfaceFlinger GPU Deadline Missed</a:t>
                      </a:r>
                      <a:endParaRPr lang="en-US" altLang="zh-CN" sz="1125" b="1">
                        <a:solidFill>
                          <a:srgbClr val="101828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altLang="zh-CN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SurfaceFlinger </a:t>
                      </a:r>
                      <a:r>
                        <a:rPr lang="zh-CN" alt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在 </a:t>
                      </a:r>
                      <a:r>
                        <a:rPr lang="en-US" altLang="zh-CN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GPU </a:t>
                      </a:r>
                      <a:r>
                        <a:rPr lang="zh-CN" altLang="en-US" sz="975" b="0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侧合成超时</a:t>
                      </a:r>
                      <a:endParaRPr lang="zh-CN" altLang="en-US" sz="975" b="0">
                        <a:solidFill>
                          <a:srgbClr val="475467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lang="en-US" sz="975">
                          <a:solidFill>
                            <a:srgbClr val="475467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  <a:sym typeface="+mn-ea"/>
                        </a:rPr>
                        <a:t>SurfaceFlinger</a:t>
                      </a:r>
                      <a:endParaRPr sz="975" b="0">
                        <a:solidFill>
                          <a:srgbClr val="475467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95250" marR="95250" marT="57150" marB="5715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3400">
                <a:tc gridSpan="4">
                  <a:txBody>
                    <a:bodyPr wrap="square"/>
                    <a:lstStyle/>
                    <a:p>
                      <a:pPr algn="l"/>
                      <a:r>
                        <a:rPr sz="940" b="1">
                          <a:solidFill>
                            <a:srgbClr val="B45309"/>
                          </a:solidFill>
                          <a:latin typeface="PingFang SC" panose="020B0400000000000000" charset="-122"/>
                          <a:ea typeface="PingFang SC" panose="020B0400000000000000" charset="-122"/>
                          <a:cs typeface="PingFang SC" panose="020B0400000000000000" charset="-122"/>
                        </a:rPr>
                        <a:t>注意：`Jank Type` 可以组合出现，不是单选。比如 `App Deadline Missed + Buffer Stuffing` 表示 App 侧已经错过 deadline，同时 buffer 队列又堆积，延迟可能继续放大。</a:t>
                      </a:r>
                      <a:endParaRPr sz="940" b="1">
                        <a:solidFill>
                          <a:srgbClr val="B45309"/>
                        </a:solidFill>
                        <a:latin typeface="PingFang SC" panose="020B0400000000000000" charset="-122"/>
                        <a:ea typeface="PingFang SC" panose="020B0400000000000000" charset="-122"/>
                        <a:cs typeface="PingFang SC" panose="020B0400000000000000" charset="-122"/>
                      </a:endParaRPr>
                    </a:p>
                  </a:txBody>
                  <a:tcPr marL="133350" marR="133350" marT="76200" marB="76200" anchor="ctr"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7ED"/>
                    </a:solidFill>
                  </a:tcPr>
                </a:tc>
                <a:tc hMerge="1">
                  <a:tcPr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7ED"/>
                    </a:solidFill>
                  </a:tcPr>
                </a:tc>
                <a:tc hMerge="1">
                  <a:tcPr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7ED"/>
                    </a:solidFill>
                  </a:tcPr>
                </a:tc>
                <a:tc hMerge="1">
                  <a:tcPr>
                    <a:lnL w="9525">
                      <a:solidFill>
                        <a:srgbClr val="E4E7EC"/>
                      </a:solidFill>
                      <a:prstDash val="solid"/>
                    </a:lnL>
                    <a:lnR w="9525">
                      <a:solidFill>
                        <a:srgbClr val="E4E7EC"/>
                      </a:solidFill>
                      <a:prstDash val="solid"/>
                    </a:lnR>
                    <a:lnT w="9525">
                      <a:solidFill>
                        <a:srgbClr val="E4E7EC"/>
                      </a:solidFill>
                      <a:prstDash val="solid"/>
                    </a:lnT>
                    <a:lnB w="9525">
                      <a:solidFill>
                        <a:srgbClr val="E4E7EC"/>
                      </a:solidFill>
                      <a:prstDash val="solid"/>
                    </a:lnB>
                    <a:solidFill>
                      <a:srgbClr val="FFF7ED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609600" y="1585595"/>
            <a:ext cx="7733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点击某个</a:t>
            </a:r>
            <a:r>
              <a:rPr lang="en-US" altLang="zh-CN"/>
              <a:t>jank</a:t>
            </a:r>
            <a:r>
              <a:rPr lang="zh-CN" altLang="en-US"/>
              <a:t>的</a:t>
            </a:r>
            <a:r>
              <a:rPr lang="en-US" altLang="zh-CN"/>
              <a:t>slice，</a:t>
            </a:r>
            <a:r>
              <a:rPr lang="zh-CN" altLang="en-US"/>
              <a:t>会显示具体的</a:t>
            </a:r>
            <a:r>
              <a:rPr lang="en-US" altLang="zh-CN"/>
              <a:t>jank</a:t>
            </a:r>
            <a:r>
              <a:rPr lang="zh-CN" altLang="en-US"/>
              <a:t>类型</a:t>
            </a:r>
            <a:r>
              <a:rPr lang="en-US" altLang="zh-CN"/>
              <a:t>，</a:t>
            </a:r>
            <a:r>
              <a:rPr lang="zh-CN" altLang="en-US"/>
              <a:t>如下</a:t>
            </a:r>
            <a:r>
              <a:rPr lang="en-US" altLang="zh-CN"/>
              <a:t>：</a:t>
            </a:r>
            <a:endParaRPr lang="en-US" altLang="zh-CN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卡顿的</a:t>
            </a:r>
            <a:r>
              <a:rPr 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本质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09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2.5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典型案例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t="1325"/>
          <a:stretch>
            <a:fillRect/>
          </a:stretch>
        </p:blipFill>
        <p:spPr>
          <a:xfrm>
            <a:off x="609600" y="1804670"/>
            <a:ext cx="10958830" cy="46812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4205" y="4886960"/>
            <a:ext cx="3872865" cy="1898015"/>
          </a:xfrm>
          <a:prstGeom prst="rect">
            <a:avLst/>
          </a:prstGeom>
        </p:spPr>
      </p:pic>
      <p:sp>
        <p:nvSpPr>
          <p:cNvPr id="12" name="cover-chain-note"/>
          <p:cNvSpPr>
            <a:spLocks noGrp="1"/>
          </p:cNvSpPr>
          <p:nvPr/>
        </p:nvSpPr>
        <p:spPr>
          <a:xfrm>
            <a:off x="694690" y="1506220"/>
            <a:ext cx="5334000" cy="298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lang="zh-CN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以下是</a:t>
            </a:r>
            <a:r>
              <a:rPr lang="en-US" altLang="zh-CN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perfetto</a:t>
            </a:r>
            <a:r>
              <a:rPr lang="zh-CN" altLang="en-US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中</a:t>
            </a:r>
            <a:r>
              <a:rPr lang="en-US" altLang="zh-CN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inflate</a:t>
            </a:r>
            <a:r>
              <a:rPr lang="zh-CN" altLang="en-US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耗时过长的</a:t>
            </a:r>
            <a:r>
              <a:rPr lang="zh-CN" altLang="en-US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例子：</a:t>
            </a:r>
            <a:endParaRPr lang="zh-CN" altLang="en-US" sz="1350" b="0">
              <a:solidFill>
                <a:srgbClr val="5F63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卡顿的</a:t>
            </a:r>
            <a:r>
              <a:rPr 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本质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进行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Trace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插桩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536575" y="1343025"/>
            <a:ext cx="10277475" cy="699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某些</a:t>
            </a:r>
            <a:r>
              <a:rPr lang="en-US" altLang="zh-CN"/>
              <a:t>Trace</a:t>
            </a:r>
            <a:r>
              <a:rPr lang="zh-CN" altLang="en-US"/>
              <a:t>没有系统打点</a:t>
            </a:r>
            <a:r>
              <a:rPr lang="en-US" altLang="zh-CN"/>
              <a:t>，</a:t>
            </a:r>
            <a:r>
              <a:rPr lang="zh-CN" altLang="en-US"/>
              <a:t>需要手动加入</a:t>
            </a:r>
            <a:r>
              <a:rPr lang="en-US" altLang="zh-CN"/>
              <a:t>Trace</a:t>
            </a:r>
            <a:r>
              <a:rPr lang="zh-CN" altLang="en-US"/>
              <a:t>打点</a:t>
            </a:r>
            <a:r>
              <a:rPr lang="en-US" altLang="zh-CN"/>
              <a:t>，</a:t>
            </a:r>
            <a:r>
              <a:rPr lang="zh-CN" altLang="en-US"/>
              <a:t>也可以使用一些插</a:t>
            </a:r>
            <a:r>
              <a:rPr lang="zh-CN" altLang="en-US"/>
              <a:t>桩框架</a:t>
            </a:r>
            <a:r>
              <a:rPr lang="en-US" altLang="zh-CN"/>
              <a:t>。</a:t>
            </a:r>
            <a:endParaRPr lang="zh-CN" altLang="en-US"/>
          </a:p>
          <a:p>
            <a:r>
              <a:rPr lang="en-US" altLang="en-US">
                <a:hlinkClick r:id="rId1" action="ppaction://hlinkfile"/>
              </a:rPr>
              <a:t>https://github.com/Gracker/TraceFix/blob/master/README_zh.md</a:t>
            </a:r>
            <a:endParaRPr lang="en-US" altLang="en-US"/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rcRect t="8307"/>
          <a:stretch>
            <a:fillRect/>
          </a:stretch>
        </p:blipFill>
        <p:spPr>
          <a:xfrm>
            <a:off x="536575" y="2089785"/>
            <a:ext cx="10277475" cy="466788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卡顿的</a:t>
            </a:r>
            <a:r>
              <a:rPr 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本质</a:t>
            </a:r>
            <a:endParaRPr lang="zh-CN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11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文本框 10"/>
          <p:cNvSpPr txBox="1"/>
          <p:nvPr/>
        </p:nvSpPr>
        <p:spPr>
          <a:xfrm>
            <a:off x="3048000" y="324485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endParaRPr lang="zh-CN" altLang="en-US"/>
          </a:p>
        </p:txBody>
      </p:sp>
      <p:sp>
        <p:nvSpPr>
          <p:cNvPr id="12" name="cover-chain-note"/>
          <p:cNvSpPr>
            <a:spLocks noGrp="1"/>
          </p:cNvSpPr>
          <p:nvPr/>
        </p:nvSpPr>
        <p:spPr>
          <a:xfrm>
            <a:off x="609600" y="846455"/>
            <a:ext cx="5334000" cy="298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368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以下</a:t>
            </a:r>
            <a:r>
              <a:rPr lang="en-US" altLang="zh-CN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RenderThread</a:t>
            </a:r>
            <a:r>
              <a:rPr lang="zh-CN" altLang="en-US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耗时过长例子</a:t>
            </a:r>
            <a:r>
              <a:rPr lang="en-US" altLang="zh-CN" sz="1350" b="0">
                <a:solidFill>
                  <a:srgbClr val="5F6368"/>
                </a:solidFill>
                <a:latin typeface="Aptos"/>
                <a:ea typeface="Aptos"/>
                <a:cs typeface="Aptos"/>
              </a:rPr>
              <a:t>：</a:t>
            </a:r>
            <a:endParaRPr lang="en-US" altLang="zh-CN" sz="1350" b="0">
              <a:solidFill>
                <a:srgbClr val="5F636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65300" y="16160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85" y="1314450"/>
            <a:ext cx="8590915" cy="533146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ection-number"/>
          <p:cNvSpPr>
            <a:spLocks noGrp="1"/>
          </p:cNvSpPr>
          <p:nvPr/>
        </p:nvSpPr>
        <p:spPr>
          <a:xfrm>
            <a:off x="1500000" y="2710000"/>
            <a:ext cx="1880000" cy="7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en-US" sz="6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03</a:t>
            </a:r>
            <a:endParaRPr lang="zh-CN" altLang="en-US" sz="62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number-rule"/>
          <p:cNvSpPr>
            <a:spLocks noGrp="1"/>
          </p:cNvSpPr>
          <p:nvPr/>
        </p:nvSpPr>
        <p:spPr>
          <a:xfrm>
            <a:off x="1500000" y="3620000"/>
            <a:ext cx="1770000" cy="160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section-title"/>
          <p:cNvSpPr>
            <a:spLocks noGrp="1"/>
          </p:cNvSpPr>
          <p:nvPr/>
        </p:nvSpPr>
        <p:spPr>
          <a:xfrm>
            <a:off x="3900000" y="2670000"/>
            <a:ext cx="7200000" cy="82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altLang="en-US" sz="5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利用AI进行诊断</a:t>
            </a:r>
            <a:endParaRPr lang="zh-CN" altLang="en-US" sz="50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section-subtitle"/>
          <p:cNvSpPr>
            <a:spLocks noGrp="1"/>
          </p:cNvSpPr>
          <p:nvPr/>
        </p:nvSpPr>
        <p:spPr>
          <a:xfrm>
            <a:off x="3900000" y="3500000"/>
            <a:ext cx="7200000" cy="34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2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sz="1650">
                <a:sym typeface="+mn-ea"/>
              </a:rPr>
              <a:t>使用</a:t>
            </a:r>
            <a:r>
              <a:rPr lang="en-US" altLang="zh-CN" sz="1650">
                <a:sym typeface="+mn-ea"/>
              </a:rPr>
              <a:t>SmartPerfetto</a:t>
            </a:r>
            <a:r>
              <a:rPr lang="zh-CN" altLang="en-US" sz="1650">
                <a:ea typeface="宋体" charset="0"/>
                <a:sym typeface="+mn-ea"/>
              </a:rPr>
              <a:t>、</a:t>
            </a:r>
            <a:r>
              <a:rPr lang="en-US" altLang="zh-CN" sz="1650">
                <a:sym typeface="+mn-ea"/>
              </a:rPr>
              <a:t>android cli</a:t>
            </a:r>
            <a:r>
              <a:rPr lang="zh-CN" altLang="en-US" sz="1650">
                <a:sym typeface="+mn-ea"/>
              </a:rPr>
              <a:t>辅助分析</a:t>
            </a:r>
            <a:endParaRPr lang="zh-CN" altLang="en-US" sz="165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利用</a:t>
            </a:r>
            <a:r>
              <a:rPr lang="en-US" altLang="zh-CN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r>
              <a:rPr lang="zh-CN" altLang="en-US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进行</a:t>
            </a:r>
            <a:r>
              <a:rPr lang="zh-CN" altLang="en-US"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诊断</a:t>
            </a:r>
            <a:endParaRPr lang="zh-CN" altLang="en-US"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一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Smart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Perfetto</a:t>
            </a:r>
            <a:endParaRPr lang="en-US" altLang="zh-CN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文本框 7"/>
          <p:cNvSpPr txBox="1"/>
          <p:nvPr/>
        </p:nvSpPr>
        <p:spPr>
          <a:xfrm>
            <a:off x="609600" y="1746250"/>
            <a:ext cx="11304905" cy="48812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项目地址：</a:t>
            </a: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1" action="ppaction://hlinkfile"/>
              </a:rPr>
              <a:t>https://github.com/Gracker/SmartPerfetto/blob/main/README.zh-CN.md</a:t>
            </a: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hlinkClick r:id="rId2" action="ppaction://hlinkfile"/>
            </a:endParaRPr>
          </a:p>
          <a:p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接入步骤：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1.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安装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Docker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。</a:t>
            </a: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3" action="ppaction://hlinkfile"/>
              </a:rPr>
              <a:t>https://www.docker.com/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2.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下载源码。运行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git clone https://github.com/Gracker/SmartPerfetto.git，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然后运行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cd SmartPerfetto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3.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运行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cp .env.example .env，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编辑 .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env，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解注释一个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provider block，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先替换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API key/token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4.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拉取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Docker Hub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镜像。运行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docker compose -f docker-compose.hub.yml pull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5.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启动容器。运行 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docker compose -f docker-compose.hub.yml up -d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6.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打开前端页面：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http://localhost:10000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457200" lvl="1" indent="457200"/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>
                <a:sym typeface="+mn-ea"/>
              </a:rPr>
              <a:t>利用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进行诊断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1.1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perfetto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里面使用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AI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分析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1495" y="1676400"/>
            <a:ext cx="10668000" cy="510032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>
                <a:sym typeface="+mn-ea"/>
              </a:rPr>
              <a:t>利用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进行诊断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1.2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查看分析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报告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760" y="1793875"/>
            <a:ext cx="6476365" cy="481838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" y="1793875"/>
            <a:ext cx="4813935" cy="493839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>
                <a:sym typeface="+mn-ea"/>
              </a:rPr>
              <a:t>利用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进行诊断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</a:t>
            </a: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1.3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其他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6735" y="2595245"/>
            <a:ext cx="11098530" cy="359600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46735" y="1784985"/>
            <a:ext cx="3917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比如：选中某个</a:t>
            </a:r>
            <a:r>
              <a:rPr lang="en-US" altLang="zh-CN"/>
              <a:t>Slice</a:t>
            </a:r>
            <a:r>
              <a:rPr lang="zh-CN" altLang="en-US"/>
              <a:t>分析：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>
                <a:sym typeface="+mn-ea"/>
              </a:rPr>
              <a:t>利用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进行诊断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文本框 8"/>
          <p:cNvSpPr txBox="1"/>
          <p:nvPr/>
        </p:nvSpPr>
        <p:spPr>
          <a:xfrm>
            <a:off x="609600" y="986790"/>
            <a:ext cx="3917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</a:rPr>
              <a:t>选中某个时间段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</a:rPr>
              <a:t>分析：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</a:endParaRPr>
          </a:p>
        </p:txBody>
      </p:sp>
      <p:pic>
        <p:nvPicPr>
          <p:cNvPr id="10" name="图片 9" descr="企业微信截图_20a18068-5399-46ca-9524-9ca192db1eb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98625"/>
            <a:ext cx="7032625" cy="4481195"/>
          </a:xfrm>
          <a:prstGeom prst="rect">
            <a:avLst/>
          </a:prstGeom>
        </p:spPr>
      </p:pic>
      <p:pic>
        <p:nvPicPr>
          <p:cNvPr id="11" name="图片 10" descr="企业微信截图_c87eb8ad-1e09-40f8-b092-a70e2443930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250" y="1530985"/>
            <a:ext cx="3694430" cy="484695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7857490" y="902970"/>
            <a:ext cx="39179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对比某个</a:t>
            </a: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trace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：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>
                <a:sym typeface="+mn-ea"/>
              </a:rPr>
              <a:t>利用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进行诊断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二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使用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android cli</a:t>
            </a:r>
            <a:endParaRPr lang="en-US" altLang="zh-CN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682625" y="1916430"/>
            <a:ext cx="10311765" cy="4300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lvl="0" indent="0" algn="just" fontAlgn="auto">
              <a:lnSpc>
                <a:spcPct val="150000"/>
              </a:lnSpc>
              <a:buNone/>
            </a:pPr>
            <a:r>
              <a:rPr lang="zh-CN" altLang="en-US" sz="2000" kern="0" dirty="0">
                <a:solidFill>
                  <a:schemeClr val="tx1"/>
                </a:solidFill>
                <a:uFillTx/>
                <a:latin typeface="微软雅黑" charset="-122"/>
                <a:cs typeface="+mn-ea"/>
                <a:sym typeface="+mn-ea"/>
              </a:rPr>
              <a:t>接入步骤:</a:t>
            </a:r>
            <a:endParaRPr lang="zh-CN" altLang="en-US" sz="2000" kern="0" dirty="0">
              <a:solidFill>
                <a:schemeClr val="tx1"/>
              </a:solidFill>
              <a:uFillTx/>
              <a:latin typeface="微软雅黑" charset="-122"/>
              <a:cs typeface="+mn-ea"/>
              <a:sym typeface="+mn-ea"/>
            </a:endParaRPr>
          </a:p>
          <a:p>
            <a:pPr marL="457200" lvl="1" indent="0" algn="just" fontAlgn="auto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tx1"/>
                </a:solidFill>
                <a:sym typeface="+mn-ea"/>
              </a:rPr>
              <a:t>1.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安装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android cli </a:t>
            </a:r>
            <a:endParaRPr lang="en-US" altLang="zh-CN" sz="2000">
              <a:solidFill>
                <a:schemeClr val="tx1"/>
              </a:solidFill>
              <a:sym typeface="+mn-ea"/>
            </a:endParaRPr>
          </a:p>
          <a:p>
            <a:pPr marL="457200" lvl="1" indent="0" algn="just" fontAlgn="auto">
              <a:lnSpc>
                <a:spcPct val="150000"/>
              </a:lnSpc>
              <a:buNone/>
            </a:pPr>
            <a:r>
              <a:rPr lang="en-US" altLang="zh-CN" sz="2000">
                <a:ea typeface="宋体" charset="0"/>
                <a:sym typeface="+mn-ea"/>
                <a:hlinkClick r:id="rId2" action="ppaction://hlinkfile"/>
              </a:rPr>
              <a:t>https://developer.android.com/tools/agents?hl=zh-cn</a:t>
            </a:r>
            <a:endParaRPr lang="en-US" altLang="zh-CN" sz="2000">
              <a:sym typeface="+mn-ea"/>
            </a:endParaRPr>
          </a:p>
          <a:p>
            <a:pPr marL="457200" lvl="1" indent="0" algn="just" fontAlgn="auto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tx1"/>
                </a:solidFill>
                <a:sym typeface="+mn-ea"/>
              </a:rPr>
              <a:t>2.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下载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skills</a:t>
            </a:r>
            <a:endParaRPr lang="en-US" altLang="zh-CN" sz="2000">
              <a:solidFill>
                <a:schemeClr val="tx1"/>
              </a:solidFill>
              <a:sym typeface="+mn-ea"/>
            </a:endParaRPr>
          </a:p>
          <a:p>
            <a:pPr marL="457200" lvl="1" indent="0" algn="just" fontAlgn="auto">
              <a:lnSpc>
                <a:spcPct val="150000"/>
              </a:lnSpc>
              <a:buNone/>
            </a:pPr>
            <a:r>
              <a:rPr lang="en-US" altLang="zh-CN" sz="2000">
                <a:ea typeface="宋体" charset="0"/>
                <a:sym typeface="+mn-ea"/>
              </a:rPr>
              <a:t>android skills add --skill perfetto-sql</a:t>
            </a:r>
            <a:r>
              <a:rPr lang="zh-CN" altLang="en-US" sz="2000">
                <a:ea typeface="宋体" charset="0"/>
                <a:sym typeface="+mn-ea"/>
              </a:rPr>
              <a:t>（</a:t>
            </a:r>
            <a:r>
              <a:rPr lang="en-US" altLang="zh-CN" sz="2000">
                <a:ea typeface="宋体" charset="0"/>
                <a:sym typeface="+mn-ea"/>
              </a:rPr>
              <a:t>SQL</a:t>
            </a:r>
            <a:r>
              <a:rPr lang="zh-CN" altLang="en-US" sz="2000">
                <a:ea typeface="宋体" charset="0"/>
                <a:sym typeface="+mn-ea"/>
              </a:rPr>
              <a:t>查询）</a:t>
            </a:r>
            <a:endParaRPr lang="zh-CN" altLang="en-US" sz="2000">
              <a:ea typeface="宋体" charset="0"/>
              <a:sym typeface="+mn-ea"/>
            </a:endParaRPr>
          </a:p>
          <a:p>
            <a:pPr marL="457200" lvl="1" indent="0" algn="just" fontAlgn="auto">
              <a:lnSpc>
                <a:spcPct val="150000"/>
              </a:lnSpc>
              <a:buNone/>
            </a:pPr>
            <a:r>
              <a:rPr lang="en-US" altLang="zh-CN" sz="2000">
                <a:ea typeface="宋体" charset="0"/>
                <a:sym typeface="+mn-ea"/>
              </a:rPr>
              <a:t>android skills add --skill perfetto-sql</a:t>
            </a:r>
            <a:r>
              <a:rPr lang="zh-CN" altLang="en-US" sz="2000">
                <a:ea typeface="宋体" charset="0"/>
                <a:sym typeface="+mn-ea"/>
              </a:rPr>
              <a:t>（性能分析）</a:t>
            </a:r>
            <a:endParaRPr lang="zh-CN" altLang="en-US" sz="2000">
              <a:ea typeface="宋体" charset="0"/>
              <a:sym typeface="+mn-ea"/>
            </a:endParaRPr>
          </a:p>
          <a:p>
            <a:pPr marL="457200" lvl="1" indent="0" algn="just" fontAlgn="auto">
              <a:lnSpc>
                <a:spcPct val="150000"/>
              </a:lnSpc>
              <a:buNone/>
            </a:pPr>
            <a:r>
              <a:rPr lang="en-US" altLang="zh-CN" sz="2000">
                <a:solidFill>
                  <a:schemeClr val="tx1"/>
                </a:solidFill>
                <a:sym typeface="+mn-ea"/>
              </a:rPr>
              <a:t>3.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同步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skills</a:t>
            </a:r>
            <a:r>
              <a:rPr lang="zh-CN" altLang="en-US" sz="2000">
                <a:solidFill>
                  <a:schemeClr val="tx1"/>
                </a:solidFill>
                <a:sym typeface="+mn-ea"/>
              </a:rPr>
              <a:t>到</a:t>
            </a:r>
            <a:r>
              <a:rPr lang="en-US" altLang="zh-CN" sz="2000">
                <a:solidFill>
                  <a:schemeClr val="tx1"/>
                </a:solidFill>
                <a:sym typeface="+mn-ea"/>
              </a:rPr>
              <a:t>Agent（Codex）</a:t>
            </a:r>
            <a:endParaRPr lang="en-US" altLang="zh-CN" sz="2000">
              <a:solidFill>
                <a:schemeClr val="tx1"/>
              </a:solidFill>
              <a:sym typeface="+mn-ea"/>
            </a:endParaRPr>
          </a:p>
          <a:p>
            <a:pPr marL="457200" lvl="1" indent="0" algn="just" fontAlgn="auto">
              <a:lnSpc>
                <a:spcPct val="150000"/>
              </a:lnSpc>
              <a:buNone/>
            </a:pPr>
            <a:r>
              <a:rPr lang="en-US" altLang="zh-CN" sz="2000">
                <a:sym typeface="+mn-ea"/>
              </a:rPr>
              <a:t>android skills add --agent=codex --all</a:t>
            </a:r>
            <a:endParaRPr lang="en-US" altLang="zh-CN" sz="2000"/>
          </a:p>
          <a:p>
            <a:pPr marL="1250315" indent="0">
              <a:lnSpc>
                <a:spcPct val="150000"/>
              </a:lnSpc>
            </a:pPr>
            <a:endParaRPr lang="en-US" altLang="zh-CN" sz="2000" kern="0" dirty="0">
              <a:solidFill>
                <a:schemeClr val="tx1"/>
              </a:solidFill>
              <a:uFillTx/>
              <a:latin typeface="微软雅黑" charset="-122"/>
              <a:cs typeface="+mn-ea"/>
              <a:sym typeface="+mn-ea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323850"/>
            <a:ext cx="28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67085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zh-CN" altLang="en-US">
                <a:sym typeface="+mn-ea"/>
              </a:rPr>
              <a:t>利用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进行诊断</a:t>
            </a:r>
            <a:endParaRPr sz="1125" b="0">
              <a:solidFill>
                <a:srgbClr val="667085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07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628650"/>
            <a:ext cx="10668000" cy="14288"/>
          </a:xfrm>
          <a:prstGeom prst="rect">
            <a:avLst/>
          </a:prstGeom>
          <a:solidFill>
            <a:srgbClr val="D0D5D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885825"/>
            <a:ext cx="647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2.1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在</a:t>
            </a:r>
            <a:r>
              <a:rPr lang="en-US" altLang="zh-CN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Codex 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里面进行</a:t>
            </a:r>
            <a:r>
              <a:rPr lang="zh-CN" altLang="en-US" sz="2700" b="1">
                <a:solidFill>
                  <a:srgbClr val="101828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提问</a:t>
            </a:r>
            <a:endParaRPr lang="zh-CN" altLang="en-US" sz="2700" b="1">
              <a:solidFill>
                <a:srgbClr val="101828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609600" y="1438275"/>
            <a:ext cx="495300" cy="38100"/>
          </a:xfrm>
          <a:prstGeom prst="roundRect">
            <a:avLst>
              <a:gd name="adj" fmla="val 50000"/>
            </a:avLst>
          </a:prstGeom>
          <a:solidFill>
            <a:srgbClr val="1570E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515" y="1676400"/>
            <a:ext cx="5322570" cy="499618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4735" y="1676400"/>
            <a:ext cx="5644515" cy="4996180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section-number"/>
          <p:cNvSpPr>
            <a:spLocks noGrp="1"/>
          </p:cNvSpPr>
          <p:nvPr/>
        </p:nvSpPr>
        <p:spPr>
          <a:xfrm>
            <a:off x="1500000" y="2710000"/>
            <a:ext cx="1880000" cy="76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en-US" sz="62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04</a:t>
            </a:r>
            <a:endParaRPr lang="zh-CN" altLang="en-US" sz="62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number-rule"/>
          <p:cNvSpPr>
            <a:spLocks noGrp="1"/>
          </p:cNvSpPr>
          <p:nvPr/>
        </p:nvSpPr>
        <p:spPr>
          <a:xfrm>
            <a:off x="1500000" y="3620000"/>
            <a:ext cx="1770000" cy="16000"/>
          </a:xfrm>
          <a:prstGeom prst="rect">
            <a:avLst/>
          </a:prstGeom>
          <a:solidFill>
            <a:srgbClr val="11111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5" name="section-title"/>
          <p:cNvSpPr>
            <a:spLocks noGrp="1"/>
          </p:cNvSpPr>
          <p:nvPr/>
        </p:nvSpPr>
        <p:spPr>
          <a:xfrm>
            <a:off x="3900000" y="2670000"/>
            <a:ext cx="7200000" cy="82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5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altLang="en-US" sz="50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常见卡顿案例</a:t>
            </a:r>
            <a:endParaRPr lang="zh-CN" altLang="en-US" sz="50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section-subtitle"/>
          <p:cNvSpPr>
            <a:spLocks noGrp="1"/>
          </p:cNvSpPr>
          <p:nvPr/>
        </p:nvSpPr>
        <p:spPr>
          <a:xfrm>
            <a:off x="3900000" y="3500000"/>
            <a:ext cx="7200000" cy="340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57575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6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主线程 IO、</a:t>
            </a:r>
            <a:r>
              <a:rPr lang="en-US" altLang="zh-CN" sz="16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I</a:t>
            </a:r>
            <a:r>
              <a:rPr lang="zh-CN" altLang="en-US" sz="1650" b="0">
                <a:solidFill>
                  <a:srgbClr val="575757"/>
                </a:solidFill>
                <a:latin typeface="Aptos"/>
                <a:ea typeface="Aptos"/>
                <a:cs typeface="Aptos"/>
              </a:rPr>
              <a:t>nflate耗时、内存问题</a:t>
            </a:r>
            <a:endParaRPr lang="zh-CN" altLang="en-US" sz="1650" b="0">
              <a:solidFill>
                <a:srgbClr val="57575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609600" y="3238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常见卡顿案例</a:t>
            </a:r>
            <a:endParaRPr sz="1125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09600" y="679133"/>
            <a:ext cx="10972800" cy="13335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ase-label"/>
          <p:cNvSpPr>
            <a:spLocks noGrp="1"/>
          </p:cNvSpPr>
          <p:nvPr/>
        </p:nvSpPr>
        <p:spPr>
          <a:xfrm>
            <a:off x="609600" y="933450"/>
            <a:ext cx="876300" cy="2857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01</a:t>
            </a:r>
            <a:endParaRPr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se-title"/>
          <p:cNvSpPr>
            <a:spLocks noGrp="1"/>
          </p:cNvSpPr>
          <p:nvPr/>
        </p:nvSpPr>
        <p:spPr>
          <a:xfrm>
            <a:off x="1676400" y="857250"/>
            <a:ext cx="590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过度</a:t>
            </a: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绘制</a:t>
            </a:r>
            <a:endParaRPr sz="2925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case-claim"/>
          <p:cNvSpPr>
            <a:spLocks noGrp="1"/>
          </p:cNvSpPr>
          <p:nvPr/>
        </p:nvSpPr>
        <p:spPr>
          <a:xfrm>
            <a:off x="1676400" y="13906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同一个像素点，在一帧内被多次</a:t>
            </a:r>
            <a:r>
              <a:rPr lang="zh-CN" altLang="en-US" sz="135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重复绘制</a:t>
            </a:r>
            <a:endParaRPr lang="zh-CN" altLang="en-US" sz="1350" b="0">
              <a:solidFill>
                <a:srgbClr val="FF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case-accent-rule"/>
          <p:cNvSpPr>
            <a:spLocks noGrp="1"/>
          </p:cNvSpPr>
          <p:nvPr/>
        </p:nvSpPr>
        <p:spPr>
          <a:xfrm>
            <a:off x="609600" y="1835944"/>
            <a:ext cx="10972800" cy="23813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mage-frame"/>
          <p:cNvSpPr>
            <a:spLocks noGrp="1"/>
          </p:cNvSpPr>
          <p:nvPr/>
        </p:nvSpPr>
        <p:spPr>
          <a:xfrm>
            <a:off x="552450" y="2019300"/>
            <a:ext cx="7143750" cy="3771900"/>
          </a:xfrm>
          <a:prstGeom prst="rect">
            <a:avLst/>
          </a:prstGeom>
          <a:solidFill>
            <a:srgbClr val="F7FAFC"/>
          </a:solidFill>
          <a:ln w="9525">
            <a:solidFill>
              <a:srgbClr val="D7DEE8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6915150" cy="3448050"/>
          </a:xfrm>
          <a:prstGeom prst="rect">
            <a:avLst/>
          </a:prstGeom>
        </p:spPr>
      </p:pic>
      <p:sp>
        <p:nvSpPr>
          <p:cNvPr id="12" name="solution-panel"/>
          <p:cNvSpPr>
            <a:spLocks noGrp="1"/>
          </p:cNvSpPr>
          <p:nvPr/>
        </p:nvSpPr>
        <p:spPr>
          <a:xfrm>
            <a:off x="7905750" y="2019300"/>
            <a:ext cx="3676650" cy="3771900"/>
          </a:xfrm>
          <a:prstGeom prst="rect">
            <a:avLst/>
          </a:prstGeom>
          <a:solidFill>
            <a:srgbClr val="EAF2FF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3" name="solution-title"/>
          <p:cNvSpPr>
            <a:spLocks noGrp="1"/>
          </p:cNvSpPr>
          <p:nvPr/>
        </p:nvSpPr>
        <p:spPr>
          <a:xfrm>
            <a:off x="8172450" y="23241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解决方案</a:t>
            </a:r>
            <a:endParaRPr sz="2800" b="1">
              <a:solidFill>
                <a:srgbClr val="2563E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solution-index-0"/>
          <p:cNvSpPr>
            <a:spLocks noGrp="1"/>
          </p:cNvSpPr>
          <p:nvPr/>
        </p:nvSpPr>
        <p:spPr>
          <a:xfrm>
            <a:off x="8172450" y="2933700"/>
            <a:ext cx="323850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olution-0"/>
          <p:cNvSpPr>
            <a:spLocks noGrp="1"/>
          </p:cNvSpPr>
          <p:nvPr/>
        </p:nvSpPr>
        <p:spPr>
          <a:xfrm>
            <a:off x="8610600" y="28860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移除多余背景</a:t>
            </a:r>
            <a:endParaRPr lang="zh-CN" altLang="en-US"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olution-index-1"/>
          <p:cNvSpPr>
            <a:spLocks noGrp="1"/>
          </p:cNvSpPr>
          <p:nvPr/>
        </p:nvSpPr>
        <p:spPr>
          <a:xfrm>
            <a:off x="8172450" y="3771900"/>
            <a:ext cx="323850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olution-1"/>
          <p:cNvSpPr>
            <a:spLocks noGrp="1"/>
          </p:cNvSpPr>
          <p:nvPr/>
        </p:nvSpPr>
        <p:spPr>
          <a:xfrm>
            <a:off x="8610600" y="37242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减少布局层级 &amp; 无效布局嵌套</a:t>
            </a:r>
            <a:endParaRPr lang="zh-CN" altLang="en-US"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olution-index-2"/>
          <p:cNvSpPr>
            <a:spLocks noGrp="1"/>
          </p:cNvSpPr>
          <p:nvPr/>
        </p:nvSpPr>
        <p:spPr>
          <a:xfrm>
            <a:off x="8172450" y="4610100"/>
            <a:ext cx="323850" cy="323850"/>
          </a:xfrm>
          <a:prstGeom prst="rect">
            <a:avLst/>
          </a:prstGeom>
          <a:solidFill>
            <a:srgbClr val="2563E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olution-2"/>
          <p:cNvSpPr>
            <a:spLocks noGrp="1"/>
          </p:cNvSpPr>
          <p:nvPr/>
        </p:nvSpPr>
        <p:spPr>
          <a:xfrm>
            <a:off x="8610600" y="4562475"/>
            <a:ext cx="2686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隐藏视图优先用 </a:t>
            </a:r>
            <a:r>
              <a:rPr lang="en-US" altLang="zh-CN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View.GONE</a:t>
            </a:r>
            <a:endParaRPr lang="en-US" altLang="zh-CN"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609600" y="3238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常见卡顿案例</a:t>
            </a:r>
            <a:endParaRPr sz="1125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09600" y="679133"/>
            <a:ext cx="10972800" cy="13335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ase-label"/>
          <p:cNvSpPr>
            <a:spLocks noGrp="1"/>
          </p:cNvSpPr>
          <p:nvPr/>
        </p:nvSpPr>
        <p:spPr>
          <a:xfrm>
            <a:off x="609600" y="933450"/>
            <a:ext cx="876300" cy="2857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</a:t>
            </a:r>
            <a:r>
              <a:rPr lang="en-US"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lang="en-US"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se-title"/>
          <p:cNvSpPr>
            <a:spLocks noGrp="1"/>
          </p:cNvSpPr>
          <p:nvPr/>
        </p:nvSpPr>
        <p:spPr>
          <a:xfrm>
            <a:off x="1676400" y="857250"/>
            <a:ext cx="590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慢函数</a:t>
            </a:r>
            <a:endParaRPr sz="2925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case-claim"/>
          <p:cNvSpPr>
            <a:spLocks noGrp="1"/>
          </p:cNvSpPr>
          <p:nvPr/>
        </p:nvSpPr>
        <p:spPr>
          <a:xfrm>
            <a:off x="1676400" y="13906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主线程内单个</a:t>
            </a:r>
            <a:r>
              <a:rPr sz="135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函数耗时过长</a:t>
            </a: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，直接挤占 input/animation/draw 的帧预算。</a:t>
            </a:r>
            <a:endParaRPr sz="1350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case-accent-rule"/>
          <p:cNvSpPr>
            <a:spLocks noGrp="1"/>
          </p:cNvSpPr>
          <p:nvPr/>
        </p:nvSpPr>
        <p:spPr>
          <a:xfrm>
            <a:off x="609600" y="1835944"/>
            <a:ext cx="10972800" cy="23813"/>
          </a:xfrm>
          <a:prstGeom prst="rect">
            <a:avLst/>
          </a:prstGeom>
          <a:solidFill>
            <a:srgbClr val="138A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mage-frame"/>
          <p:cNvSpPr>
            <a:spLocks noGrp="1"/>
          </p:cNvSpPr>
          <p:nvPr/>
        </p:nvSpPr>
        <p:spPr>
          <a:xfrm>
            <a:off x="552450" y="2019300"/>
            <a:ext cx="7143750" cy="3771900"/>
          </a:xfrm>
          <a:prstGeom prst="rect">
            <a:avLst/>
          </a:prstGeom>
          <a:solidFill>
            <a:srgbClr val="F7FAFC"/>
          </a:solidFill>
          <a:ln w="9525">
            <a:solidFill>
              <a:srgbClr val="D7DEE8"/>
            </a:solidFill>
            <a:prstDash val="solid"/>
          </a:ln>
        </p:spPr>
      </p:sp>
      <p:sp>
        <p:nvSpPr>
          <p:cNvPr id="12" name="solution-panel"/>
          <p:cNvSpPr>
            <a:spLocks noGrp="1"/>
          </p:cNvSpPr>
          <p:nvPr/>
        </p:nvSpPr>
        <p:spPr>
          <a:xfrm>
            <a:off x="7905750" y="2019300"/>
            <a:ext cx="3676650" cy="3771900"/>
          </a:xfrm>
          <a:prstGeom prst="rect">
            <a:avLst/>
          </a:prstGeom>
          <a:solidFill>
            <a:srgbClr val="EAF7EF"/>
          </a:solidFill>
          <a:ln w="14288">
            <a:solidFill>
              <a:srgbClr val="138A51"/>
            </a:solidFill>
            <a:prstDash val="solid"/>
          </a:ln>
        </p:spPr>
      </p:sp>
      <p:sp>
        <p:nvSpPr>
          <p:cNvPr id="13" name="solution-title"/>
          <p:cNvSpPr>
            <a:spLocks noGrp="1"/>
          </p:cNvSpPr>
          <p:nvPr/>
        </p:nvSpPr>
        <p:spPr>
          <a:xfrm>
            <a:off x="8172450" y="23241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00" b="1">
                <a:solidFill>
                  <a:srgbClr val="138A51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38A51"/>
                </a:solidFill>
                <a:latin typeface="Aptos Display"/>
                <a:ea typeface="Aptos Display"/>
                <a:cs typeface="Aptos Display"/>
              </a:rPr>
              <a:t>解决方案</a:t>
            </a:r>
            <a:endParaRPr sz="2800" b="1">
              <a:solidFill>
                <a:srgbClr val="138A5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solution-index-0"/>
          <p:cNvSpPr>
            <a:spLocks noGrp="1"/>
          </p:cNvSpPr>
          <p:nvPr/>
        </p:nvSpPr>
        <p:spPr>
          <a:xfrm>
            <a:off x="8172450" y="2933700"/>
            <a:ext cx="323850" cy="323850"/>
          </a:xfrm>
          <a:prstGeom prst="rect">
            <a:avLst/>
          </a:prstGeom>
          <a:solidFill>
            <a:srgbClr val="138A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olution-0"/>
          <p:cNvSpPr>
            <a:spLocks noGrp="1"/>
          </p:cNvSpPr>
          <p:nvPr/>
        </p:nvSpPr>
        <p:spPr>
          <a:xfrm>
            <a:off x="8610600" y="28860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插桩定位耗时</a:t>
            </a:r>
            <a:r>
              <a:rPr lang="zh-CN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函数</a:t>
            </a:r>
            <a:endParaRPr lang="zh-CN"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olution-index-1"/>
          <p:cNvSpPr>
            <a:spLocks noGrp="1"/>
          </p:cNvSpPr>
          <p:nvPr/>
        </p:nvSpPr>
        <p:spPr>
          <a:xfrm>
            <a:off x="8172450" y="3771900"/>
            <a:ext cx="323850" cy="323850"/>
          </a:xfrm>
          <a:prstGeom prst="rect">
            <a:avLst/>
          </a:prstGeom>
          <a:solidFill>
            <a:srgbClr val="138A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olution-1"/>
          <p:cNvSpPr>
            <a:spLocks noGrp="1"/>
          </p:cNvSpPr>
          <p:nvPr/>
        </p:nvSpPr>
        <p:spPr>
          <a:xfrm>
            <a:off x="8610600" y="37242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>
                <a:sym typeface="+mn-ea"/>
              </a:rPr>
              <a:t>开启 </a:t>
            </a:r>
            <a:r>
              <a:rPr>
                <a:solidFill>
                  <a:srgbClr val="FF0000"/>
                </a:solidFill>
                <a:sym typeface="+mn-ea"/>
              </a:rPr>
              <a:t>StrictMode</a:t>
            </a:r>
            <a:r>
              <a:rPr>
                <a:sym typeface="+mn-ea"/>
              </a:rPr>
              <a:t> 捕捉主线程 IO</a:t>
            </a:r>
            <a:endParaRPr lang="zh-CN" altLang="en-US"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olution-index-2"/>
          <p:cNvSpPr>
            <a:spLocks noGrp="1"/>
          </p:cNvSpPr>
          <p:nvPr/>
        </p:nvSpPr>
        <p:spPr>
          <a:xfrm>
            <a:off x="8172450" y="4610100"/>
            <a:ext cx="323850" cy="323850"/>
          </a:xfrm>
          <a:prstGeom prst="rect">
            <a:avLst/>
          </a:prstGeom>
          <a:solidFill>
            <a:srgbClr val="138A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olution-2"/>
          <p:cNvSpPr>
            <a:spLocks noGrp="1"/>
          </p:cNvSpPr>
          <p:nvPr/>
        </p:nvSpPr>
        <p:spPr>
          <a:xfrm>
            <a:off x="8610600" y="4562475"/>
            <a:ext cx="2686050" cy="8686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主线程不要做大量计算</a:t>
            </a:r>
            <a:r>
              <a:rPr lang="en-US" altLang="zh-CN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，</a:t>
            </a:r>
            <a:r>
              <a:rPr lang="zh-CN">
                <a:sym typeface="+mn-ea"/>
              </a:rPr>
              <a:t>文件</a:t>
            </a:r>
            <a:r>
              <a:rPr lang="zh-CN">
                <a:sym typeface="+mn-ea"/>
              </a:rPr>
              <a:t>读写、序列化等放子线程</a:t>
            </a:r>
            <a:endParaRPr lang="zh-CN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buNone/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lang="en-US" altLang="zh-CN"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685800" y="2171700"/>
            <a:ext cx="6915150" cy="3448050"/>
          </a:xfrm>
          <a:prstGeom prst="rect">
            <a:avLst/>
          </a:prstGeom>
        </p:spPr>
      </p:pic>
      <p:sp>
        <p:nvSpPr>
          <p:cNvPr id="11" name="矩形 10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609600" y="3238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常见卡顿案例</a:t>
            </a:r>
            <a:endParaRPr sz="1125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09600" y="679133"/>
            <a:ext cx="10972800" cy="13335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ase-label"/>
          <p:cNvSpPr>
            <a:spLocks noGrp="1"/>
          </p:cNvSpPr>
          <p:nvPr/>
        </p:nvSpPr>
        <p:spPr>
          <a:xfrm>
            <a:off x="609600" y="933450"/>
            <a:ext cx="876300" cy="2857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0</a:t>
            </a:r>
            <a:r>
              <a:rPr lang="en-US"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lang="en-US"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se-title"/>
          <p:cNvSpPr>
            <a:spLocks noGrp="1"/>
          </p:cNvSpPr>
          <p:nvPr/>
        </p:nvSpPr>
        <p:spPr>
          <a:xfrm>
            <a:off x="1676400" y="857250"/>
            <a:ext cx="590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Inflate 耗时</a:t>
            </a:r>
            <a:r>
              <a:rPr lang="zh-CN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过</a:t>
            </a:r>
            <a:r>
              <a:rPr lang="zh-CN" sz="255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长</a:t>
            </a:r>
            <a:endParaRPr lang="zh-CN" sz="2550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case-claim"/>
          <p:cNvSpPr>
            <a:spLocks noGrp="1"/>
          </p:cNvSpPr>
          <p:nvPr/>
        </p:nvSpPr>
        <p:spPr>
          <a:xfrm>
            <a:off x="1676400" y="13906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XML 解析</a:t>
            </a: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、反射构造和 View 树递归 inflate 会直接拉长首帧路径</a:t>
            </a:r>
            <a:r>
              <a:rPr lang="zh-CN" sz="1350" b="0">
                <a:solidFill>
                  <a:srgbClr val="5F6875"/>
                </a:solidFill>
                <a:latin typeface="Aptos"/>
                <a:ea typeface="宋体" charset="0"/>
                <a:cs typeface="Aptos"/>
              </a:rPr>
              <a:t>，高频次的组件尽量降低</a:t>
            </a:r>
            <a:r>
              <a:rPr lang="en-US" altLang="zh-CN" sz="1350" b="0">
                <a:solidFill>
                  <a:srgbClr val="5F6875"/>
                </a:solidFill>
                <a:latin typeface="Aptos"/>
                <a:ea typeface="宋体" charset="0"/>
                <a:cs typeface="Aptos"/>
              </a:rPr>
              <a:t>inflate</a:t>
            </a:r>
            <a:r>
              <a:rPr lang="zh-CN" altLang="en-US" sz="1350" b="0">
                <a:solidFill>
                  <a:srgbClr val="5F6875"/>
                </a:solidFill>
                <a:latin typeface="Aptos"/>
                <a:ea typeface="宋体" charset="0"/>
                <a:cs typeface="Aptos"/>
              </a:rPr>
              <a:t>耗时。</a:t>
            </a:r>
            <a:endParaRPr lang="zh-CN" altLang="en-US" sz="1350" b="0">
              <a:solidFill>
                <a:srgbClr val="5F6875"/>
              </a:solidFill>
              <a:latin typeface="Aptos"/>
              <a:ea typeface="宋体" charset="0"/>
              <a:cs typeface="Aptos"/>
            </a:endParaRPr>
          </a:p>
        </p:txBody>
      </p:sp>
      <p:sp>
        <p:nvSpPr>
          <p:cNvPr id="9" name="case-accent-rule"/>
          <p:cNvSpPr>
            <a:spLocks noGrp="1"/>
          </p:cNvSpPr>
          <p:nvPr/>
        </p:nvSpPr>
        <p:spPr>
          <a:xfrm>
            <a:off x="609600" y="1835944"/>
            <a:ext cx="10972800" cy="23813"/>
          </a:xfrm>
          <a:prstGeom prst="rect">
            <a:avLst/>
          </a:prstGeom>
          <a:solidFill>
            <a:srgbClr val="047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mage-frame"/>
          <p:cNvSpPr>
            <a:spLocks noGrp="1"/>
          </p:cNvSpPr>
          <p:nvPr/>
        </p:nvSpPr>
        <p:spPr>
          <a:xfrm>
            <a:off x="552450" y="2019300"/>
            <a:ext cx="7143750" cy="3771900"/>
          </a:xfrm>
          <a:prstGeom prst="rect">
            <a:avLst/>
          </a:prstGeom>
          <a:solidFill>
            <a:srgbClr val="F7FAFC"/>
          </a:solidFill>
          <a:ln w="9525">
            <a:solidFill>
              <a:srgbClr val="D7DEE8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6915150" cy="3448050"/>
          </a:xfrm>
          <a:prstGeom prst="rect">
            <a:avLst/>
          </a:prstGeom>
        </p:spPr>
      </p:pic>
      <p:sp>
        <p:nvSpPr>
          <p:cNvPr id="12" name="solution-panel"/>
          <p:cNvSpPr>
            <a:spLocks noGrp="1"/>
          </p:cNvSpPr>
          <p:nvPr/>
        </p:nvSpPr>
        <p:spPr>
          <a:xfrm>
            <a:off x="7905750" y="2019300"/>
            <a:ext cx="3676650" cy="3771900"/>
          </a:xfrm>
          <a:prstGeom prst="rect">
            <a:avLst/>
          </a:prstGeom>
          <a:solidFill>
            <a:srgbClr val="E7F7FA"/>
          </a:solidFill>
          <a:ln w="14288">
            <a:solidFill>
              <a:srgbClr val="047C8A"/>
            </a:solidFill>
            <a:prstDash val="solid"/>
          </a:ln>
        </p:spPr>
      </p:sp>
      <p:sp>
        <p:nvSpPr>
          <p:cNvPr id="13" name="solution-title"/>
          <p:cNvSpPr>
            <a:spLocks noGrp="1"/>
          </p:cNvSpPr>
          <p:nvPr/>
        </p:nvSpPr>
        <p:spPr>
          <a:xfrm>
            <a:off x="8172450" y="23241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00" b="1">
                <a:solidFill>
                  <a:srgbClr val="047C8A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047C8A"/>
                </a:solidFill>
                <a:latin typeface="Aptos Display"/>
                <a:ea typeface="Aptos Display"/>
                <a:cs typeface="Aptos Display"/>
              </a:rPr>
              <a:t>解决方案</a:t>
            </a:r>
            <a:endParaRPr sz="2800" b="1">
              <a:solidFill>
                <a:srgbClr val="047C8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solution-index-0"/>
          <p:cNvSpPr>
            <a:spLocks noGrp="1"/>
          </p:cNvSpPr>
          <p:nvPr/>
        </p:nvSpPr>
        <p:spPr>
          <a:xfrm>
            <a:off x="8172450" y="2933700"/>
            <a:ext cx="323850" cy="323850"/>
          </a:xfrm>
          <a:prstGeom prst="rect">
            <a:avLst/>
          </a:prstGeom>
          <a:solidFill>
            <a:srgbClr val="047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olution-0"/>
          <p:cNvSpPr>
            <a:spLocks noGrp="1"/>
          </p:cNvSpPr>
          <p:nvPr/>
        </p:nvSpPr>
        <p:spPr>
          <a:xfrm>
            <a:off x="8610600" y="28860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 altLang="zh-CN" sz="1600">
                <a:sym typeface="+mn-ea"/>
              </a:rPr>
              <a:t>AsyncLayoutInflater</a:t>
            </a:r>
            <a:r>
              <a:rPr lang="en-US" sz="1600">
                <a:sym typeface="+mn-ea"/>
              </a:rPr>
              <a:t>（</a:t>
            </a:r>
            <a:r>
              <a:rPr lang="zh-CN" altLang="en-US" sz="1600">
                <a:sym typeface="+mn-ea"/>
              </a:rPr>
              <a:t>改动大</a:t>
            </a:r>
            <a:r>
              <a:rPr lang="en-US" sz="1600">
                <a:sym typeface="+mn-ea"/>
              </a:rPr>
              <a:t>）</a:t>
            </a:r>
            <a:endParaRPr lang="en-US" sz="16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endParaRPr sz="16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olution-index-1"/>
          <p:cNvSpPr>
            <a:spLocks noGrp="1"/>
          </p:cNvSpPr>
          <p:nvPr/>
        </p:nvSpPr>
        <p:spPr>
          <a:xfrm>
            <a:off x="8172450" y="3771900"/>
            <a:ext cx="323850" cy="323850"/>
          </a:xfrm>
          <a:prstGeom prst="rect">
            <a:avLst/>
          </a:prstGeom>
          <a:solidFill>
            <a:srgbClr val="047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olution-1"/>
          <p:cNvSpPr>
            <a:spLocks noGrp="1"/>
          </p:cNvSpPr>
          <p:nvPr/>
        </p:nvSpPr>
        <p:spPr>
          <a:xfrm>
            <a:off x="8610600" y="37242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ym typeface="+mn-ea"/>
              </a:rPr>
              <a:t>使用</a:t>
            </a:r>
            <a:r>
              <a:rPr lang="en-US" altLang="zh-CN" sz="1600">
                <a:sym typeface="+mn-ea"/>
              </a:rPr>
              <a:t>X2J</a:t>
            </a:r>
            <a:r>
              <a:rPr lang="zh-CN" altLang="en-US" sz="1600">
                <a:sym typeface="+mn-ea"/>
              </a:rPr>
              <a:t>框架</a:t>
            </a:r>
            <a:r>
              <a:rPr lang="en-US" altLang="zh-CN" sz="1600">
                <a:sym typeface="+mn-ea"/>
              </a:rPr>
              <a:t>（</a:t>
            </a:r>
            <a:r>
              <a:rPr lang="zh-CN" altLang="en-US" sz="1600">
                <a:sym typeface="+mn-ea"/>
              </a:rPr>
              <a:t>不成熟</a:t>
            </a:r>
            <a:r>
              <a:rPr lang="en-US" altLang="zh-CN" sz="1600">
                <a:sym typeface="+mn-ea"/>
              </a:rPr>
              <a:t>）</a:t>
            </a:r>
            <a:endParaRPr sz="16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olution-index-2"/>
          <p:cNvSpPr>
            <a:spLocks noGrp="1"/>
          </p:cNvSpPr>
          <p:nvPr/>
        </p:nvSpPr>
        <p:spPr>
          <a:xfrm>
            <a:off x="8172450" y="4610100"/>
            <a:ext cx="323850" cy="323850"/>
          </a:xfrm>
          <a:prstGeom prst="rect">
            <a:avLst/>
          </a:prstGeom>
          <a:solidFill>
            <a:srgbClr val="047C8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olution-2"/>
          <p:cNvSpPr>
            <a:spLocks noGrp="1"/>
          </p:cNvSpPr>
          <p:nvPr/>
        </p:nvSpPr>
        <p:spPr>
          <a:xfrm>
            <a:off x="8610600" y="4562475"/>
            <a:ext cx="2686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ym typeface="+mn-ea"/>
              </a:rPr>
              <a:t>使用</a:t>
            </a:r>
            <a:r>
              <a:rPr lang="en-US" altLang="zh-CN" sz="1600">
                <a:sym typeface="+mn-ea"/>
              </a:rPr>
              <a:t>Compose</a:t>
            </a:r>
            <a:r>
              <a:rPr lang="zh-CN" altLang="en-US" sz="1600">
                <a:sym typeface="+mn-ea"/>
              </a:rPr>
              <a:t>代替</a:t>
            </a:r>
            <a:r>
              <a:rPr lang="en-US" altLang="zh-CN" sz="1600">
                <a:sym typeface="+mn-ea"/>
              </a:rPr>
              <a:t>（</a:t>
            </a:r>
            <a:r>
              <a:rPr lang="zh-CN" altLang="en-US" sz="1600">
                <a:sym typeface="+mn-ea"/>
              </a:rPr>
              <a:t>推荐</a:t>
            </a:r>
            <a:r>
              <a:rPr lang="en-US" altLang="zh-CN" sz="1600">
                <a:sym typeface="+mn-ea"/>
              </a:rPr>
              <a:t>）</a:t>
            </a:r>
            <a:endParaRPr sz="16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609600" y="3238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常见卡顿案例</a:t>
            </a:r>
            <a:endParaRPr sz="1125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09600" y="679133"/>
            <a:ext cx="10972800" cy="13335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ase-label"/>
          <p:cNvSpPr>
            <a:spLocks noGrp="1"/>
          </p:cNvSpPr>
          <p:nvPr/>
        </p:nvSpPr>
        <p:spPr>
          <a:xfrm>
            <a:off x="609600" y="933450"/>
            <a:ext cx="876300" cy="2857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</a:t>
            </a:r>
            <a:r>
              <a:rPr lang="en-US"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lang="en-US"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se-title"/>
          <p:cNvSpPr>
            <a:spLocks noGrp="1"/>
          </p:cNvSpPr>
          <p:nvPr/>
        </p:nvSpPr>
        <p:spPr>
          <a:xfrm>
            <a:off x="1676400" y="857250"/>
            <a:ext cx="590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RV过度刷新</a:t>
            </a:r>
            <a:endParaRPr sz="2925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case-claim"/>
          <p:cNvSpPr>
            <a:spLocks noGrp="1"/>
          </p:cNvSpPr>
          <p:nvPr/>
        </p:nvSpPr>
        <p:spPr>
          <a:xfrm>
            <a:off x="1676400" y="13906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局部数据变化被放大成</a:t>
            </a:r>
            <a:r>
              <a:rPr sz="135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全量刷新</a:t>
            </a: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，bind/layout 脉冲直接压穿滑动帧预算</a:t>
            </a:r>
            <a:r>
              <a:rPr lang="zh-CN" sz="1350" b="0">
                <a:solidFill>
                  <a:srgbClr val="5F6875"/>
                </a:solidFill>
                <a:latin typeface="Aptos"/>
                <a:ea typeface="宋体" charset="0"/>
                <a:cs typeface="Aptos"/>
              </a:rPr>
              <a:t>，使用精细化刷新</a:t>
            </a:r>
            <a:r>
              <a:rPr lang="zh-CN" sz="1350" b="0">
                <a:solidFill>
                  <a:srgbClr val="5F6875"/>
                </a:solidFill>
                <a:latin typeface="Aptos"/>
                <a:ea typeface="宋体" charset="0"/>
                <a:cs typeface="Aptos"/>
              </a:rPr>
              <a:t>代替。</a:t>
            </a:r>
            <a:endParaRPr lang="zh-CN" sz="1350" b="0">
              <a:solidFill>
                <a:srgbClr val="5F6875"/>
              </a:solidFill>
              <a:latin typeface="Aptos"/>
              <a:ea typeface="宋体" charset="0"/>
              <a:cs typeface="Aptos"/>
            </a:endParaRPr>
          </a:p>
        </p:txBody>
      </p:sp>
      <p:sp>
        <p:nvSpPr>
          <p:cNvPr id="9" name="case-accent-rule"/>
          <p:cNvSpPr>
            <a:spLocks noGrp="1"/>
          </p:cNvSpPr>
          <p:nvPr/>
        </p:nvSpPr>
        <p:spPr>
          <a:xfrm>
            <a:off x="609600" y="1835944"/>
            <a:ext cx="10972800" cy="23813"/>
          </a:xfrm>
          <a:prstGeom prst="rect">
            <a:avLst/>
          </a:prstGeom>
          <a:solidFill>
            <a:srgbClr val="138A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mage-frame"/>
          <p:cNvSpPr>
            <a:spLocks noGrp="1"/>
          </p:cNvSpPr>
          <p:nvPr/>
        </p:nvSpPr>
        <p:spPr>
          <a:xfrm>
            <a:off x="552450" y="2019300"/>
            <a:ext cx="7143750" cy="3771900"/>
          </a:xfrm>
          <a:prstGeom prst="rect">
            <a:avLst/>
          </a:prstGeom>
          <a:solidFill>
            <a:srgbClr val="F7FAFC"/>
          </a:solidFill>
          <a:ln w="9525">
            <a:solidFill>
              <a:srgbClr val="D7DEE8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6915150" cy="3448050"/>
          </a:xfrm>
          <a:prstGeom prst="rect">
            <a:avLst/>
          </a:prstGeom>
        </p:spPr>
      </p:pic>
      <p:sp>
        <p:nvSpPr>
          <p:cNvPr id="12" name="solution-panel"/>
          <p:cNvSpPr>
            <a:spLocks noGrp="1"/>
          </p:cNvSpPr>
          <p:nvPr/>
        </p:nvSpPr>
        <p:spPr>
          <a:xfrm>
            <a:off x="7905750" y="2019300"/>
            <a:ext cx="3676650" cy="3771900"/>
          </a:xfrm>
          <a:prstGeom prst="rect">
            <a:avLst/>
          </a:prstGeom>
          <a:solidFill>
            <a:srgbClr val="EAF7EF"/>
          </a:solidFill>
          <a:ln w="14288">
            <a:solidFill>
              <a:srgbClr val="138A51"/>
            </a:solidFill>
            <a:prstDash val="solid"/>
          </a:ln>
        </p:spPr>
      </p:sp>
      <p:sp>
        <p:nvSpPr>
          <p:cNvPr id="13" name="solution-title"/>
          <p:cNvSpPr>
            <a:spLocks noGrp="1"/>
          </p:cNvSpPr>
          <p:nvPr/>
        </p:nvSpPr>
        <p:spPr>
          <a:xfrm>
            <a:off x="8172450" y="23241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00" b="1">
                <a:solidFill>
                  <a:srgbClr val="138A51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138A51"/>
                </a:solidFill>
                <a:latin typeface="Aptos Display"/>
                <a:ea typeface="Aptos Display"/>
                <a:cs typeface="Aptos Display"/>
              </a:rPr>
              <a:t>解决方案</a:t>
            </a:r>
            <a:endParaRPr sz="2800" b="1">
              <a:solidFill>
                <a:srgbClr val="138A5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solution-index-0"/>
          <p:cNvSpPr>
            <a:spLocks noGrp="1"/>
          </p:cNvSpPr>
          <p:nvPr/>
        </p:nvSpPr>
        <p:spPr>
          <a:xfrm>
            <a:off x="8172450" y="2933700"/>
            <a:ext cx="323850" cy="323850"/>
          </a:xfrm>
          <a:prstGeom prst="rect">
            <a:avLst/>
          </a:prstGeom>
          <a:solidFill>
            <a:srgbClr val="138A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olution-0"/>
          <p:cNvSpPr>
            <a:spLocks noGrp="1"/>
          </p:cNvSpPr>
          <p:nvPr/>
        </p:nvSpPr>
        <p:spPr>
          <a:xfrm>
            <a:off x="8610600" y="28860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 ListAdapter / DiffUtil 做最小变更集</a:t>
            </a:r>
            <a:endParaRPr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olution-index-1"/>
          <p:cNvSpPr>
            <a:spLocks noGrp="1"/>
          </p:cNvSpPr>
          <p:nvPr/>
        </p:nvSpPr>
        <p:spPr>
          <a:xfrm>
            <a:off x="8172450" y="3771900"/>
            <a:ext cx="323850" cy="323850"/>
          </a:xfrm>
          <a:prstGeom prst="rect">
            <a:avLst/>
          </a:prstGeom>
          <a:solidFill>
            <a:srgbClr val="138A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olution-1"/>
          <p:cNvSpPr>
            <a:spLocks noGrp="1"/>
          </p:cNvSpPr>
          <p:nvPr/>
        </p:nvSpPr>
        <p:spPr>
          <a:xfrm>
            <a:off x="8610600" y="37242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使用 payload 局部更新，避免整行重绑</a:t>
            </a:r>
            <a:endParaRPr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olution-index-2"/>
          <p:cNvSpPr>
            <a:spLocks noGrp="1"/>
          </p:cNvSpPr>
          <p:nvPr/>
        </p:nvSpPr>
        <p:spPr>
          <a:xfrm>
            <a:off x="8172450" y="4610100"/>
            <a:ext cx="323850" cy="323850"/>
          </a:xfrm>
          <a:prstGeom prst="rect">
            <a:avLst/>
          </a:prstGeom>
          <a:solidFill>
            <a:srgbClr val="138A5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olution-2"/>
          <p:cNvSpPr>
            <a:spLocks noGrp="1"/>
          </p:cNvSpPr>
          <p:nvPr/>
        </p:nvSpPr>
        <p:spPr>
          <a:xfrm>
            <a:off x="8610600" y="4562475"/>
            <a:ext cx="2686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把重活移出 onBind</a:t>
            </a:r>
            <a:endParaRPr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609600" y="3238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常见卡顿案例</a:t>
            </a:r>
            <a:endParaRPr sz="1125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09600" y="679133"/>
            <a:ext cx="10972800" cy="13335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ase-label"/>
          <p:cNvSpPr>
            <a:spLocks noGrp="1"/>
          </p:cNvSpPr>
          <p:nvPr/>
        </p:nvSpPr>
        <p:spPr>
          <a:xfrm>
            <a:off x="609600" y="933450"/>
            <a:ext cx="876300" cy="2857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0</a:t>
            </a:r>
            <a:r>
              <a:rPr lang="en-US"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lang="en-US"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se-title"/>
          <p:cNvSpPr>
            <a:spLocks noGrp="1"/>
          </p:cNvSpPr>
          <p:nvPr/>
        </p:nvSpPr>
        <p:spPr>
          <a:xfrm>
            <a:off x="1676400" y="857250"/>
            <a:ext cx="590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Flow状态污染</a:t>
            </a:r>
            <a:endParaRPr sz="2925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case-claim"/>
          <p:cNvSpPr>
            <a:spLocks noGrp="1"/>
          </p:cNvSpPr>
          <p:nvPr/>
        </p:nvSpPr>
        <p:spPr>
          <a:xfrm>
            <a:off x="1676400" y="13906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lang="zh-CN"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上</a:t>
            </a:r>
            <a:r>
              <a:rPr lang="zh-CN"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游数据被污染</a:t>
            </a:r>
            <a:r>
              <a:rPr lang="en-US" altLang="zh-CN"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，</a:t>
            </a: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重复状态或</a:t>
            </a:r>
            <a:r>
              <a:rPr lang="zh-CN"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无关联</a:t>
            </a: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事件推回 UI，诱发</a:t>
            </a:r>
            <a:r>
              <a:rPr sz="135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重复刷新</a:t>
            </a: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。</a:t>
            </a:r>
            <a:endParaRPr sz="1350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case-accent-rule"/>
          <p:cNvSpPr>
            <a:spLocks noGrp="1"/>
          </p:cNvSpPr>
          <p:nvPr/>
        </p:nvSpPr>
        <p:spPr>
          <a:xfrm>
            <a:off x="609600" y="1835944"/>
            <a:ext cx="10972800" cy="23813"/>
          </a:xfrm>
          <a:prstGeom prst="rect">
            <a:avLst/>
          </a:prstGeom>
          <a:solidFill>
            <a:srgbClr val="6D4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mage-frame"/>
          <p:cNvSpPr>
            <a:spLocks noGrp="1"/>
          </p:cNvSpPr>
          <p:nvPr/>
        </p:nvSpPr>
        <p:spPr>
          <a:xfrm>
            <a:off x="552450" y="2019300"/>
            <a:ext cx="7143750" cy="3771900"/>
          </a:xfrm>
          <a:prstGeom prst="rect">
            <a:avLst/>
          </a:prstGeom>
          <a:solidFill>
            <a:srgbClr val="F7FAFC"/>
          </a:solidFill>
          <a:ln w="9525">
            <a:solidFill>
              <a:srgbClr val="D7DEE8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6915150" cy="3448050"/>
          </a:xfrm>
          <a:prstGeom prst="rect">
            <a:avLst/>
          </a:prstGeom>
        </p:spPr>
      </p:pic>
      <p:sp>
        <p:nvSpPr>
          <p:cNvPr id="12" name="solution-panel"/>
          <p:cNvSpPr>
            <a:spLocks noGrp="1"/>
          </p:cNvSpPr>
          <p:nvPr/>
        </p:nvSpPr>
        <p:spPr>
          <a:xfrm>
            <a:off x="7905750" y="2019300"/>
            <a:ext cx="3676650" cy="3771900"/>
          </a:xfrm>
          <a:prstGeom prst="rect">
            <a:avLst/>
          </a:prstGeom>
          <a:solidFill>
            <a:srgbClr val="F0EEFF"/>
          </a:solidFill>
          <a:ln w="14288">
            <a:solidFill>
              <a:srgbClr val="6D4AFF"/>
            </a:solidFill>
            <a:prstDash val="solid"/>
          </a:ln>
        </p:spPr>
      </p:sp>
      <p:sp>
        <p:nvSpPr>
          <p:cNvPr id="13" name="solution-title"/>
          <p:cNvSpPr>
            <a:spLocks noGrp="1"/>
          </p:cNvSpPr>
          <p:nvPr/>
        </p:nvSpPr>
        <p:spPr>
          <a:xfrm>
            <a:off x="8172450" y="23241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00" b="1">
                <a:solidFill>
                  <a:srgbClr val="6D4AFF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6D4AFF"/>
                </a:solidFill>
                <a:latin typeface="Aptos Display"/>
                <a:ea typeface="Aptos Display"/>
                <a:cs typeface="Aptos Display"/>
              </a:rPr>
              <a:t>解决方案</a:t>
            </a:r>
            <a:endParaRPr sz="2800" b="1">
              <a:solidFill>
                <a:srgbClr val="6D4A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solution-index-0"/>
          <p:cNvSpPr>
            <a:spLocks noGrp="1"/>
          </p:cNvSpPr>
          <p:nvPr/>
        </p:nvSpPr>
        <p:spPr>
          <a:xfrm>
            <a:off x="8172450" y="2933700"/>
            <a:ext cx="323850" cy="323850"/>
          </a:xfrm>
          <a:prstGeom prst="rect">
            <a:avLst/>
          </a:prstGeom>
          <a:solidFill>
            <a:srgbClr val="6D4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olution-0"/>
          <p:cNvSpPr>
            <a:spLocks noGrp="1"/>
          </p:cNvSpPr>
          <p:nvPr/>
        </p:nvSpPr>
        <p:spPr>
          <a:xfrm>
            <a:off x="8610600" y="2886075"/>
            <a:ext cx="2686050" cy="56451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按页面隔离 UiState，避免跨页面共享可变状态</a:t>
            </a:r>
            <a:endParaRPr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olution-index-1"/>
          <p:cNvSpPr>
            <a:spLocks noGrp="1"/>
          </p:cNvSpPr>
          <p:nvPr/>
        </p:nvSpPr>
        <p:spPr>
          <a:xfrm>
            <a:off x="8172450" y="3771900"/>
            <a:ext cx="323850" cy="323850"/>
          </a:xfrm>
          <a:prstGeom prst="rect">
            <a:avLst/>
          </a:prstGeom>
          <a:solidFill>
            <a:srgbClr val="6D4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olution-1"/>
          <p:cNvSpPr>
            <a:spLocks noGrp="1"/>
          </p:cNvSpPr>
          <p:nvPr/>
        </p:nvSpPr>
        <p:spPr>
          <a:xfrm>
            <a:off x="8610600" y="37242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distinctUntilChanged 降低重复</a:t>
            </a:r>
            <a:r>
              <a:rPr lang="en-US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collect</a:t>
            </a:r>
            <a:r>
              <a:rPr lang="zh-CN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消费</a:t>
            </a:r>
            <a:endParaRPr lang="zh-CN"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olution-index-2"/>
          <p:cNvSpPr>
            <a:spLocks noGrp="1"/>
          </p:cNvSpPr>
          <p:nvPr/>
        </p:nvSpPr>
        <p:spPr>
          <a:xfrm>
            <a:off x="8172450" y="4610100"/>
            <a:ext cx="323850" cy="323850"/>
          </a:xfrm>
          <a:prstGeom prst="rect">
            <a:avLst/>
          </a:prstGeom>
          <a:solidFill>
            <a:srgbClr val="6D4A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olution-2"/>
          <p:cNvSpPr>
            <a:spLocks noGrp="1"/>
          </p:cNvSpPr>
          <p:nvPr/>
        </p:nvSpPr>
        <p:spPr>
          <a:xfrm>
            <a:off x="8610600" y="4562475"/>
            <a:ext cx="2686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>
                <a:sym typeface="+mn-ea"/>
              </a:rPr>
              <a:t>下游使用</a:t>
            </a:r>
            <a:r>
              <a:rPr lang="en-US" altLang="zh-CN">
                <a:sym typeface="+mn-ea"/>
              </a:rPr>
              <a:t>map</a:t>
            </a:r>
            <a:r>
              <a:rPr lang="zh-CN" altLang="en-US">
                <a:sym typeface="+mn-ea"/>
              </a:rPr>
              <a:t>对</a:t>
            </a:r>
            <a:r>
              <a:rPr lang="en-US" altLang="zh-CN">
                <a:sym typeface="+mn-ea"/>
              </a:rPr>
              <a:t>flow</a:t>
            </a:r>
            <a:r>
              <a:rPr lang="zh-CN" altLang="en-US">
                <a:sym typeface="+mn-ea"/>
              </a:rPr>
              <a:t>转换</a:t>
            </a:r>
            <a:endParaRPr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ection"/>
          <p:cNvSpPr>
            <a:spLocks noGrp="1"/>
          </p:cNvSpPr>
          <p:nvPr/>
        </p:nvSpPr>
        <p:spPr>
          <a:xfrm>
            <a:off x="609600" y="3238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常见卡顿案例</a:t>
            </a:r>
            <a:endParaRPr sz="1125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top-rule"/>
          <p:cNvSpPr>
            <a:spLocks noGrp="1"/>
          </p:cNvSpPr>
          <p:nvPr/>
        </p:nvSpPr>
        <p:spPr>
          <a:xfrm>
            <a:off x="609600" y="679133"/>
            <a:ext cx="10972800" cy="13335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case-label"/>
          <p:cNvSpPr>
            <a:spLocks noGrp="1"/>
          </p:cNvSpPr>
          <p:nvPr/>
        </p:nvSpPr>
        <p:spPr>
          <a:xfrm>
            <a:off x="609600" y="933450"/>
            <a:ext cx="876300" cy="28575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CASE 0</a:t>
            </a:r>
            <a:r>
              <a:rPr lang="en-US"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lang="en-US" sz="105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case-title"/>
          <p:cNvSpPr>
            <a:spLocks noGrp="1"/>
          </p:cNvSpPr>
          <p:nvPr/>
        </p:nvSpPr>
        <p:spPr>
          <a:xfrm>
            <a:off x="1676400" y="857250"/>
            <a:ext cx="5905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高频GC</a:t>
            </a:r>
            <a:endParaRPr lang="en-US" sz="2925" b="1">
              <a:solidFill>
                <a:srgbClr val="111827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8" name="case-claim"/>
          <p:cNvSpPr>
            <a:spLocks noGrp="1"/>
          </p:cNvSpPr>
          <p:nvPr/>
        </p:nvSpPr>
        <p:spPr>
          <a:xfrm>
            <a:off x="1676400" y="13906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lang="zh-CN"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内存</a:t>
            </a:r>
            <a:r>
              <a:rPr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速率过高会触发 GC 暂停，主线程与渲染线程都可能被切断执行窗口</a:t>
            </a:r>
            <a:r>
              <a:rPr lang="zh-CN" sz="1350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造成</a:t>
            </a:r>
            <a:r>
              <a:rPr lang="zh-CN" sz="135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长时间卡顿</a:t>
            </a:r>
            <a:endParaRPr lang="zh-CN" sz="1350" b="0">
              <a:solidFill>
                <a:srgbClr val="FF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case-accent-rule"/>
          <p:cNvSpPr>
            <a:spLocks noGrp="1"/>
          </p:cNvSpPr>
          <p:nvPr/>
        </p:nvSpPr>
        <p:spPr>
          <a:xfrm>
            <a:off x="609600" y="1835944"/>
            <a:ext cx="10972800" cy="23813"/>
          </a:xfrm>
          <a:prstGeom prst="rect">
            <a:avLst/>
          </a:prstGeom>
          <a:solidFill>
            <a:srgbClr val="D938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image-frame"/>
          <p:cNvSpPr>
            <a:spLocks noGrp="1"/>
          </p:cNvSpPr>
          <p:nvPr/>
        </p:nvSpPr>
        <p:spPr>
          <a:xfrm>
            <a:off x="552450" y="2019300"/>
            <a:ext cx="7143750" cy="3771900"/>
          </a:xfrm>
          <a:prstGeom prst="rect">
            <a:avLst/>
          </a:prstGeom>
          <a:solidFill>
            <a:srgbClr val="F7FAFC"/>
          </a:solidFill>
          <a:ln w="9525">
            <a:solidFill>
              <a:srgbClr val="D7DEE8"/>
            </a:solidFill>
            <a:prstDash val="solid"/>
          </a:ln>
        </p:spPr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71700"/>
            <a:ext cx="6915150" cy="3448050"/>
          </a:xfrm>
          <a:prstGeom prst="rect">
            <a:avLst/>
          </a:prstGeom>
        </p:spPr>
      </p:pic>
      <p:sp>
        <p:nvSpPr>
          <p:cNvPr id="12" name="solution-panel"/>
          <p:cNvSpPr>
            <a:spLocks noGrp="1"/>
          </p:cNvSpPr>
          <p:nvPr/>
        </p:nvSpPr>
        <p:spPr>
          <a:xfrm>
            <a:off x="7905750" y="2019300"/>
            <a:ext cx="3676650" cy="3771900"/>
          </a:xfrm>
          <a:prstGeom prst="rect">
            <a:avLst/>
          </a:prstGeom>
          <a:solidFill>
            <a:srgbClr val="FDEDEC"/>
          </a:solidFill>
          <a:ln w="14288">
            <a:solidFill>
              <a:srgbClr val="D9382E"/>
            </a:solidFill>
            <a:prstDash val="solid"/>
          </a:ln>
        </p:spPr>
      </p:sp>
      <p:sp>
        <p:nvSpPr>
          <p:cNvPr id="13" name="solution-title"/>
          <p:cNvSpPr>
            <a:spLocks noGrp="1"/>
          </p:cNvSpPr>
          <p:nvPr/>
        </p:nvSpPr>
        <p:spPr>
          <a:xfrm>
            <a:off x="8172450" y="2324100"/>
            <a:ext cx="1428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00" b="1">
                <a:solidFill>
                  <a:srgbClr val="D9382E"/>
                </a:solidFill>
                <a:latin typeface="Aptos Display"/>
                <a:ea typeface="Aptos Display"/>
                <a:cs typeface="Aptos Display"/>
              </a:defRPr>
            </a:pPr>
            <a:r>
              <a:rPr sz="2800" b="1">
                <a:solidFill>
                  <a:srgbClr val="D9382E"/>
                </a:solidFill>
                <a:latin typeface="Aptos Display"/>
                <a:ea typeface="Aptos Display"/>
                <a:cs typeface="Aptos Display"/>
              </a:rPr>
              <a:t>解决方案</a:t>
            </a:r>
            <a:endParaRPr sz="2800" b="1">
              <a:solidFill>
                <a:srgbClr val="D9382E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4" name="solution-index-0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8172450" y="2933700"/>
            <a:ext cx="323850" cy="323850"/>
          </a:xfrm>
          <a:prstGeom prst="rect">
            <a:avLst/>
          </a:prstGeom>
          <a:solidFill>
            <a:srgbClr val="D938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solution-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8610600" y="28860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en-US">
                <a:sym typeface="+mn-ea"/>
              </a:rPr>
              <a:t>Bitmap </a:t>
            </a:r>
            <a:r>
              <a:rPr lang="zh-CN" altLang="en-US">
                <a:sym typeface="+mn-ea"/>
              </a:rPr>
              <a:t>降采样</a:t>
            </a:r>
            <a:r>
              <a:rPr lang="en-US" altLang="zh-CN">
                <a:sym typeface="+mn-ea"/>
              </a:rPr>
              <a:t>、Glide</a:t>
            </a:r>
            <a:r>
              <a:rPr lang="zh-CN" altLang="en-US">
                <a:sym typeface="+mn-ea"/>
              </a:rPr>
              <a:t>分桶</a:t>
            </a:r>
            <a:r>
              <a:rPr lang="zh-CN" altLang="en-US">
                <a:sym typeface="+mn-ea"/>
              </a:rPr>
              <a:t>设计</a:t>
            </a:r>
            <a:endParaRPr lang="zh-CN" altLang="en-US">
              <a:sym typeface="+mn-ea"/>
            </a:endParaRPr>
          </a:p>
        </p:txBody>
      </p:sp>
      <p:sp>
        <p:nvSpPr>
          <p:cNvPr id="16" name="solution-index-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8172450" y="3771900"/>
            <a:ext cx="323850" cy="323850"/>
          </a:xfrm>
          <a:prstGeom prst="rect">
            <a:avLst/>
          </a:prstGeom>
          <a:solidFill>
            <a:srgbClr val="D938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solution-1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8610600" y="3724275"/>
            <a:ext cx="26860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altLang="en-US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监听</a:t>
            </a:r>
            <a:r>
              <a:rPr lang="en-US" altLang="zh-CN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onTrimMemory</a:t>
            </a:r>
            <a:r>
              <a:rPr lang="zh-CN" altLang="en-US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释放</a:t>
            </a:r>
            <a:r>
              <a:rPr lang="zh-CN" altLang="en-US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缓存</a:t>
            </a:r>
            <a:endParaRPr lang="zh-CN" altLang="en-US" sz="2000" b="0">
              <a:solidFill>
                <a:srgbClr val="11182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olution-index-2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8172450" y="4610100"/>
            <a:ext cx="323850" cy="323850"/>
          </a:xfrm>
          <a:prstGeom prst="rect">
            <a:avLst/>
          </a:prstGeom>
          <a:solidFill>
            <a:srgbClr val="D9382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28575" rIns="76200" bIns="28575" anchor="ctr"/>
          <a:lstStyle/>
          <a:p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800" b="1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solution-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8610600" y="4562475"/>
            <a:ext cx="2686050" cy="609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00" b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lang="zh-CN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排查</a:t>
            </a:r>
            <a:r>
              <a:rPr lang="zh-CN" sz="200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内存泄漏</a:t>
            </a:r>
            <a:r>
              <a:rPr lang="zh-CN" sz="2000" b="0">
                <a:solidFill>
                  <a:srgbClr val="111827"/>
                </a:solidFill>
                <a:latin typeface="Aptos"/>
                <a:ea typeface="Aptos"/>
                <a:cs typeface="Aptos"/>
              </a:rPr>
              <a:t>或</a:t>
            </a:r>
            <a:r>
              <a:rPr lang="zh-CN" sz="2000" b="0">
                <a:solidFill>
                  <a:srgbClr val="FF0000"/>
                </a:solidFill>
                <a:latin typeface="Aptos"/>
                <a:ea typeface="Aptos"/>
                <a:cs typeface="Aptos"/>
              </a:rPr>
              <a:t>内存抖动</a:t>
            </a:r>
            <a:endParaRPr lang="zh-CN" sz="2000" b="0">
              <a:solidFill>
                <a:srgbClr val="FF000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10887075" y="304800"/>
            <a:ext cx="4381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lang="en-US" sz="1050" b="1">
                <a:solidFill>
                  <a:srgbClr val="98A2B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lang="en-US" sz="1050" b="1">
              <a:solidFill>
                <a:srgbClr val="98A2B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background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3" name="thanks-title"/>
          <p:cNvSpPr>
            <a:spLocks noGrp="1"/>
          </p:cNvSpPr>
          <p:nvPr/>
        </p:nvSpPr>
        <p:spPr>
          <a:xfrm>
            <a:off x="609600" y="929640"/>
            <a:ext cx="10972800" cy="94996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66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zh-CN" sz="6600" b="1">
                <a:solidFill>
                  <a:srgbClr val="111111"/>
                </a:solidFill>
                <a:latin typeface="Aptos Display"/>
                <a:ea typeface="Aptos Display"/>
                <a:cs typeface="Aptos Display"/>
              </a:rPr>
              <a:t>Thanks</a:t>
            </a:r>
            <a:endParaRPr lang="en-US" altLang="zh-CN" sz="6600" b="1">
              <a:solidFill>
                <a:srgbClr val="111111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9600" y="2116455"/>
            <a:ext cx="10573385" cy="47504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参考：</a:t>
            </a:r>
            <a:endParaRPr lang="zh-CN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zh-CN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Android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性能优化：</a:t>
            </a: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1" action="ppaction://hlinkfile"/>
              </a:rPr>
              <a:t>https://androidperformance.com/2018/05/07/Android-performance-optimization-skills-and-tools/</a:t>
            </a: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hlinkClick r:id="rId1" action="ppaction://hlinkfile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Perfetto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使用：</a:t>
            </a: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2" action="ppaction://hlinkfile"/>
              </a:rPr>
              <a:t>https://androidperformance.com/2024/03/27/Android-Perfetto-101/#/Perfetto-%E7%B3%BB%E5%88%97%E7%9B%AE%E5%BD%95</a:t>
            </a: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  <a:hlinkClick r:id="rId2" action="ppaction://hlinkfile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Android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自定义插桩：</a:t>
            </a: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3" action="ppaction://hlinkfile"/>
              </a:rPr>
              <a:t>https://github.com/FlyJingFish/AndroidAOP/tree/master</a:t>
            </a:r>
            <a:endParaRPr lang="en-US" altLang="zh-CN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图片监控：</a:t>
            </a: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4" action="ppaction://hlinkfile"/>
              </a:rPr>
              <a:t>https://github.com/shixinzhang/AndroidBitmapMonitor</a:t>
            </a: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  <a:p>
            <a:pPr marL="285750" indent="-285750">
              <a:buFont typeface="Arial" panose="020B0604020202090204" pitchFamily="34" charset="0"/>
              <a:buChar char="•"/>
            </a:pP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Glide </a:t>
            </a:r>
            <a:r>
              <a:rPr lang="zh-CN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</a:rPr>
              <a:t>分桶设计：</a:t>
            </a:r>
            <a:r>
              <a:rPr lang="en-US" altLang="en-US">
                <a:latin typeface="PingFang SC Regular" panose="020B0400000000000000" charset="-122"/>
                <a:ea typeface="PingFang SC Regular" panose="020B0400000000000000" charset="-122"/>
                <a:cs typeface="PingFang SC Regular" panose="020B0400000000000000" charset="-122"/>
                <a:hlinkClick r:id="rId5" action="ppaction://hlinkfile"/>
              </a:rPr>
              <a:t>https://doc.weixin.qq.com/doc/w3_APcAoAaxANICN041SWHGASXW1PlPM?scode=AAkAZQc9AAkAIUl5QWAPcAoAaxANI</a:t>
            </a:r>
            <a:endParaRPr lang="en-US" altLang="en-US">
              <a:latin typeface="PingFang SC Regular" panose="020B0400000000000000" charset="-122"/>
              <a:ea typeface="PingFang SC Regular" panose="020B0400000000000000" charset="-122"/>
              <a:cs typeface="PingFang SC Regular" panose="020B0400000000000000" charset="-122"/>
            </a:endParaRPr>
          </a:p>
        </p:txBody>
      </p:sp>
      <p:sp>
        <p:nvSpPr>
          <p:cNvPr id="5" name="top-rule"/>
          <p:cNvSpPr>
            <a:spLocks noGrp="1"/>
          </p:cNvSpPr>
          <p:nvPr/>
        </p:nvSpPr>
        <p:spPr>
          <a:xfrm>
            <a:off x="609600" y="679133"/>
            <a:ext cx="10972800" cy="13335"/>
          </a:xfrm>
          <a:prstGeom prst="rect">
            <a:avLst/>
          </a:prstGeom>
          <a:solidFill>
            <a:srgbClr val="D7DEE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ection"/>
          <p:cNvSpPr>
            <a:spLocks noGrp="1"/>
          </p:cNvSpPr>
          <p:nvPr/>
        </p:nvSpPr>
        <p:spPr>
          <a:xfrm>
            <a:off x="609600" y="323850"/>
            <a:ext cx="4381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F6875"/>
                </a:solidFill>
                <a:latin typeface="Aptos"/>
                <a:ea typeface="Aptos"/>
                <a:cs typeface="Aptos"/>
              </a:defRPr>
            </a:pPr>
            <a:r>
              <a:rPr lang="zh-CN" sz="112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结</a:t>
            </a:r>
            <a:r>
              <a:rPr lang="zh-CN" sz="1125" b="0">
                <a:solidFill>
                  <a:srgbClr val="5F6875"/>
                </a:solidFill>
                <a:latin typeface="Aptos"/>
                <a:ea typeface="Aptos"/>
                <a:cs typeface="Aptos"/>
              </a:rPr>
              <a:t>语</a:t>
            </a:r>
            <a:endParaRPr lang="zh-CN" sz="1125" b="0">
              <a:solidFill>
                <a:srgbClr val="5F6875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2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3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4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5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6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7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8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9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10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11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12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13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14.xml><?xml version="1.0" encoding="utf-8"?>
<p:tagLst xmlns:p="http://schemas.openxmlformats.org/presentationml/2006/main">
  <p:tag name="KSO_WM_DIAGRAM_VIRTUALLY_FRAME" val="{&quot;height&quot;:105,&quot;left&quot;:45,&quot;top&quot;:244.95,&quot;width&quot;:826.5}"/>
</p:tagLst>
</file>

<file path=ppt/tags/tag15.xml><?xml version="1.0" encoding="utf-8"?>
<p:tagLst xmlns:p="http://schemas.openxmlformats.org/presentationml/2006/main">
  <p:tag name="KSO_WM_UNIT_SUBTYPE" val="a"/>
  <p:tag name="KSO_WM_UNIT_TEXT_LAYER_COUNT" val="1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35630_1*f*1"/>
  <p:tag name="KSO_WM_TEMPLATE_CATEGORY" val="custom"/>
  <p:tag name="KSO_WM_TEMPLATE_INDEX" val="20235630"/>
  <p:tag name="KSO_WM_UNIT_LAYERLEVEL" val="1"/>
  <p:tag name="KSO_WM_TAG_VERSION" val="3.0"/>
  <p:tag name="KSO_WM_BEAUTIFY_FLAG" val="#wm#"/>
  <p:tag name="KSO_WM_UNIT_VALUE" val="414"/>
  <p:tag name="KSO_WM_UNIT_TEXT_TYPE" val="1"/>
  <p:tag name="KSO_WM_UNIT_PRESET_TEXT" val="单击此处添加小标题：&#10;单击此处输入你的正文，文字是您思想的提炼，为了最终演示发布的良好效果，请尽量言简意赅的阐述观点。根据需要可酌情增减文字，以便观者可以准确理解您所传达的信息。单击此处输入你的正文，文字是您思想的提炼，为了最终演示发布的良好效果，请尽量言简意赅的阐述观点。根据需要可酌情增减文字，以便观者可以准确理解您所传达的信息。&#10;单击此处添加正文具体内容，文字是您思想的重要提炼。&#10;单击此处添加小标题：&#10;点击此处添加正文，文字是您思想的提炼，为了最终演示发布的良好效果，请简单的阐述观点。"/>
</p:tagLst>
</file>

<file path=ppt/tags/tag16.xml><?xml version="1.0" encoding="utf-8"?>
<p:tagLst xmlns:p="http://schemas.openxmlformats.org/presentationml/2006/main">
  <p:tag name="KSO_WM_DIAGRAM_VIRTUALLY_FRAME" val="{&quot;height&quot;:180,&quot;left&quot;:643.5,&quot;top&quot;:227.25,&quot;width&quot;:246}"/>
</p:tagLst>
</file>

<file path=ppt/tags/tag17.xml><?xml version="1.0" encoding="utf-8"?>
<p:tagLst xmlns:p="http://schemas.openxmlformats.org/presentationml/2006/main">
  <p:tag name="KSO_WM_DIAGRAM_VIRTUALLY_FRAME" val="{&quot;height&quot;:180,&quot;left&quot;:643.5,&quot;top&quot;:227.25,&quot;width&quot;:246}"/>
</p:tagLst>
</file>

<file path=ppt/tags/tag18.xml><?xml version="1.0" encoding="utf-8"?>
<p:tagLst xmlns:p="http://schemas.openxmlformats.org/presentationml/2006/main">
  <p:tag name="KSO_WM_DIAGRAM_VIRTUALLY_FRAME" val="{&quot;height&quot;:180,&quot;left&quot;:643.5,&quot;top&quot;:227.25,&quot;width&quot;:246}"/>
</p:tagLst>
</file>

<file path=ppt/tags/tag19.xml><?xml version="1.0" encoding="utf-8"?>
<p:tagLst xmlns:p="http://schemas.openxmlformats.org/presentationml/2006/main">
  <p:tag name="KSO_WM_DIAGRAM_VIRTUALLY_FRAME" val="{&quot;height&quot;:180,&quot;left&quot;:643.5,&quot;top&quot;:227.25,&quot;width&quot;:246}"/>
</p:tagLst>
</file>

<file path=ppt/tags/tag20.xml><?xml version="1.0" encoding="utf-8"?>
<p:tagLst xmlns:p="http://schemas.openxmlformats.org/presentationml/2006/main">
  <p:tag name="KSO_WM_DIAGRAM_VIRTUALLY_FRAME" val="{&quot;height&quot;:180,&quot;left&quot;:643.5,&quot;top&quot;:227.25,&quot;width&quot;:246}"/>
</p:tagLst>
</file>

<file path=ppt/tags/tag21.xml><?xml version="1.0" encoding="utf-8"?>
<p:tagLst xmlns:p="http://schemas.openxmlformats.org/presentationml/2006/main">
  <p:tag name="KSO_WM_DIAGRAM_VIRTUALLY_FRAME" val="{&quot;height&quot;:180,&quot;left&quot;:643.5,&quot;top&quot;:227.25,&quot;width&quot;:246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9064</Words>
  <Application>WPS 文字</Application>
  <PresentationFormat>Converted Presentation</PresentationFormat>
  <Paragraphs>1038</Paragraphs>
  <Slides>51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  <vt:variant>
        <vt:lpstr>自定义放映</vt:lpstr>
      </vt:variant>
      <vt:variant>
        <vt:i4>1</vt:i4>
      </vt:variant>
    </vt:vector>
  </HeadingPairs>
  <TitlesOfParts>
    <vt:vector size="76" baseType="lpstr">
      <vt:lpstr>Arial</vt:lpstr>
      <vt:lpstr>宋体</vt:lpstr>
      <vt:lpstr>Wingdings</vt:lpstr>
      <vt:lpstr>Aptos</vt:lpstr>
      <vt:lpstr>Helvetica Neue</vt:lpstr>
      <vt:lpstr>Aptos Display</vt:lpstr>
      <vt:lpstr>宋体</vt:lpstr>
      <vt:lpstr>PingFang SC</vt:lpstr>
      <vt:lpstr>PingFang SC</vt:lpstr>
      <vt:lpstr>PingFang SC Regular</vt:lpstr>
      <vt:lpstr>汉仪书宋二KW</vt:lpstr>
      <vt:lpstr>微软雅黑</vt:lpstr>
      <vt:lpstr>汉仪旗黑</vt:lpstr>
      <vt:lpstr>Arial Unicode MS</vt:lpstr>
      <vt:lpstr>Aptos Mono</vt:lpstr>
      <vt:lpstr>PingFang SC Semibold</vt:lpstr>
      <vt:lpstr>Menlo</vt:lpstr>
      <vt:lpstr>Calibri</vt:lpstr>
      <vt:lpstr>Aptos</vt:lpstr>
      <vt:lpstr>Aptos Display</vt:lpstr>
      <vt:lpstr>Aptos Mono</vt:lpstr>
      <vt:lpstr>Menlo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没有VSync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xinshen</cp:lastModifiedBy>
  <cp:revision>269</cp:revision>
  <dcterms:created xsi:type="dcterms:W3CDTF">2026-06-04T01:42:43Z</dcterms:created>
  <dcterms:modified xsi:type="dcterms:W3CDTF">2026-06-04T01:42:43Z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66A4FFA47B8A1EAE13D8206A91B2906B_43</vt:lpwstr>
  </property>
  <property fmtid="{D5CDD505-2E9C-101B-9397-08002B2CF9AE}" pid="3" name="KSOProductBuildVer">
    <vt:lpwstr>2052-7.2.2.8955</vt:lpwstr>
  </property>
</Properties>
</file>